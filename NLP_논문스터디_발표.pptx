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rts/chart1.xml" ContentType="application/vnd.openxmlformats-officedocument.drawingml.chart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3"/>
  </p:notesMasterIdLst>
  <p:sldIdLst>
    <p:sldId id="256" r:id="rId2"/>
    <p:sldId id="258" r:id="rId3"/>
    <p:sldId id="261" r:id="rId4"/>
    <p:sldId id="265" r:id="rId5"/>
    <p:sldId id="266" r:id="rId6"/>
    <p:sldId id="267" r:id="rId7"/>
    <p:sldId id="264" r:id="rId8"/>
    <p:sldId id="262" r:id="rId9"/>
    <p:sldId id="263" r:id="rId10"/>
    <p:sldId id="259" r:id="rId11"/>
    <p:sldId id="260" r:id="rId12"/>
  </p:sldIdLst>
  <p:sldSz cx="9144000" cy="5143500" type="screen16x9"/>
  <p:notesSz cx="6858000" cy="9144000"/>
  <p:embeddedFontLst>
    <p:embeddedFont>
      <p:font typeface="Nanum Gothic" pitchFamily="2" charset="-127"/>
      <p:regular r:id="rId14"/>
      <p:bold r:id="rId15"/>
    </p:embeddedFont>
    <p:embeddedFont>
      <p:font typeface="NanumGothicExtraBold" pitchFamily="2" charset="-127"/>
      <p:bold r:id="rId16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511"/>
    <p:restoredTop sz="76826"/>
  </p:normalViewPr>
  <p:slideViewPr>
    <p:cSldViewPr snapToGrid="0">
      <p:cViewPr varScale="1">
        <p:scale>
          <a:sx n="117" d="100"/>
          <a:sy n="117" d="100"/>
        </p:scale>
        <p:origin x="1416" y="168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font" Target="fonts/font3.fntdata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2.fntdata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____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1"/>
  <c:style val="2"/>
  <c:chart>
    <c:title>
      <c:tx>
        <c:rich>
          <a:bodyPr/>
          <a:lstStyle/>
          <a:p>
            <a:r>
              <a:rPr lang="ko-KR" altLang="en-US" sz="1100" b="1">
                <a:solidFill>
                  <a:srgbClr val="19264B"/>
                </a:solidFill>
                <a:latin typeface="NanumGothicExtraBold"/>
                <a:ea typeface="NanumGothicExtraBold"/>
                <a:cs typeface="NanumGothicExtraBold"/>
              </a:rPr>
              <a:t>공격 성공률 </a:t>
            </a:r>
            <a:r>
              <a:rPr lang="en-US" altLang="ko-KR" sz="1100" b="1">
                <a:solidFill>
                  <a:srgbClr val="19264B"/>
                </a:solidFill>
                <a:latin typeface="NanumGothicExtraBold"/>
                <a:ea typeface="NanumGothicExtraBold"/>
                <a:cs typeface="NanumGothicExtraBold"/>
              </a:rPr>
              <a:t>(</a:t>
            </a:r>
            <a:r>
              <a:rPr lang="en" sz="1100" b="1">
                <a:solidFill>
                  <a:srgbClr val="19264B"/>
                </a:solidFill>
                <a:latin typeface="NanumGothicExtraBold"/>
                <a:ea typeface="NanumGothicExtraBold"/>
                <a:cs typeface="NanumGothicExtraBold"/>
              </a:rPr>
              <a:t>ASR, %)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ASR (%)</c:v>
                </c:pt>
              </c:strCache>
            </c:strRef>
          </c:tx>
          <c:spPr>
            <a:solidFill>
              <a:srgbClr val="19264B"/>
            </a:solidFill>
          </c:spPr>
          <c:invertIfNegative val="1"/>
          <c:dPt>
            <c:idx val="2"/>
            <c:invertIfNegative val="1"/>
            <c:bubble3D val="0"/>
            <c:spPr>
              <a:solidFill>
                <a:srgbClr val="D94F2B"/>
              </a:solidFill>
            </c:spPr>
            <c:extLst>
              <c:ext xmlns:c16="http://schemas.microsoft.com/office/drawing/2014/chart" uri="{C3380CC4-5D6E-409C-BE32-E72D297353CC}">
                <c16:uniqueId val="{00000001-C7F6-7D41-8642-F2EF701AEE2C}"/>
              </c:ext>
            </c:extLst>
          </c:dPt>
          <c:dPt>
            <c:idx val="3"/>
            <c:invertIfNegative val="1"/>
            <c:bubble3D val="0"/>
            <c:spPr>
              <a:solidFill>
                <a:srgbClr val="D94F2B"/>
              </a:solidFill>
            </c:spPr>
            <c:extLst>
              <c:ext xmlns:c16="http://schemas.microsoft.com/office/drawing/2014/chart" uri="{C3380CC4-5D6E-409C-BE32-E72D297353CC}">
                <c16:uniqueId val="{00000003-C7F6-7D41-8642-F2EF701AEE2C}"/>
              </c:ext>
            </c:extLst>
          </c:dPt>
          <c:dLbls>
            <c:numFmt formatCode="0&quot;%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1">
                    <a:solidFill>
                      <a:srgbClr val="19264B"/>
                    </a:solidFill>
                  </a:defRPr>
                </a:pPr>
                <a:endParaRPr lang="ko-K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Llama 2-chat 7B</c:v>
                </c:pt>
                <c:pt idx="1">
                  <c:v>Llama 3-Inst. 8B</c:v>
                </c:pt>
                <c:pt idx="2">
                  <c:v>Mistral 7B</c:v>
                </c:pt>
                <c:pt idx="3">
                  <c:v>Vicuna 7B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92</c:v>
                </c:pt>
                <c:pt idx="1">
                  <c:v>92</c:v>
                </c:pt>
                <c:pt idx="2">
                  <c:v>98</c:v>
                </c:pt>
                <c:pt idx="3">
                  <c:v>98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4-C7F6-7D41-8642-F2EF701AEE2C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7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spPr>
          <a:ln>
            <a:solidFill>
              <a:srgbClr val="C5CCDA"/>
            </a:solidFill>
          </a:ln>
        </c:spPr>
        <c:txPr>
          <a:bodyPr/>
          <a:lstStyle/>
          <a:p>
            <a:pPr>
              <a:defRPr sz="900">
                <a:solidFill>
                  <a:srgbClr val="19264B"/>
                </a:solidFill>
              </a:defRPr>
            </a:pPr>
            <a:endParaRPr lang="ko-KR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  <c:max val="100"/>
          <c:min val="0"/>
        </c:scaling>
        <c:delete val="0"/>
        <c:axPos val="l"/>
        <c:majorGridlines>
          <c:spPr>
            <a:ln>
              <a:solidFill>
                <a:srgbClr val="DDE3EE"/>
              </a:solidFill>
            </a:ln>
          </c:spPr>
        </c:majorGridlines>
        <c:numFmt formatCode="General" sourceLinked="1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900">
                <a:solidFill>
                  <a:srgbClr val="5B6275"/>
                </a:solidFill>
              </a:defRPr>
            </a:pPr>
            <a:endParaRPr lang="ko-KR"/>
          </a:p>
        </c:txPr>
        <c:crossAx val="-2068027336"/>
        <c:crosses val="autoZero"/>
        <c:crossBetween val="between"/>
        <c:majorUnit val="25"/>
      </c:valAx>
    </c:plotArea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g26accca8d11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" name="Google Shape;61;g26accca8d11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endParaRPr dirty="0"/>
          </a:p>
          <a:p>
            <a:r>
              <a:rPr dirty="0" err="1"/>
              <a:t>안녕하세요</a:t>
            </a:r>
            <a:r>
              <a:rPr dirty="0"/>
              <a:t>. </a:t>
            </a:r>
            <a:r>
              <a:rPr dirty="0" err="1"/>
              <a:t>저희는</a:t>
            </a:r>
            <a:r>
              <a:rPr dirty="0"/>
              <a:t> </a:t>
            </a:r>
            <a:r>
              <a:rPr dirty="0" err="1"/>
              <a:t>그동안</a:t>
            </a:r>
            <a:r>
              <a:rPr dirty="0"/>
              <a:t> NLP </a:t>
            </a:r>
            <a:r>
              <a:rPr dirty="0" err="1"/>
              <a:t>논문</a:t>
            </a:r>
            <a:r>
              <a:rPr dirty="0"/>
              <a:t> </a:t>
            </a:r>
            <a:r>
              <a:rPr dirty="0" err="1"/>
              <a:t>스터디를</a:t>
            </a:r>
            <a:r>
              <a:rPr dirty="0"/>
              <a:t> </a:t>
            </a:r>
            <a:r>
              <a:rPr dirty="0" err="1"/>
              <a:t>진행하면서</a:t>
            </a:r>
            <a:r>
              <a:rPr dirty="0"/>
              <a:t> </a:t>
            </a:r>
            <a:r>
              <a:rPr dirty="0" err="1"/>
              <a:t>여러</a:t>
            </a:r>
            <a:r>
              <a:rPr dirty="0"/>
              <a:t> </a:t>
            </a:r>
            <a:r>
              <a:rPr dirty="0" err="1"/>
              <a:t>논문을</a:t>
            </a:r>
            <a:r>
              <a:rPr dirty="0"/>
              <a:t> </a:t>
            </a:r>
            <a:r>
              <a:rPr dirty="0" err="1"/>
              <a:t>서로</a:t>
            </a:r>
            <a:r>
              <a:rPr dirty="0"/>
              <a:t> </a:t>
            </a:r>
            <a:r>
              <a:rPr dirty="0" err="1"/>
              <a:t>공유하고</a:t>
            </a:r>
            <a:r>
              <a:rPr dirty="0"/>
              <a:t> </a:t>
            </a:r>
            <a:r>
              <a:rPr dirty="0" err="1"/>
              <a:t>토론해</a:t>
            </a:r>
            <a:r>
              <a:rPr dirty="0"/>
              <a:t> </a:t>
            </a:r>
            <a:r>
              <a:rPr dirty="0" err="1"/>
              <a:t>왔습니다</a:t>
            </a:r>
            <a:r>
              <a:rPr dirty="0"/>
              <a:t>. </a:t>
            </a:r>
            <a:r>
              <a:rPr dirty="0" err="1"/>
              <a:t>오늘은</a:t>
            </a:r>
            <a:r>
              <a:rPr dirty="0"/>
              <a:t> </a:t>
            </a:r>
            <a:r>
              <a:rPr dirty="0" err="1"/>
              <a:t>그중</a:t>
            </a:r>
            <a:r>
              <a:rPr dirty="0"/>
              <a:t> </a:t>
            </a:r>
            <a:r>
              <a:rPr dirty="0" err="1"/>
              <a:t>대표적인</a:t>
            </a:r>
            <a:r>
              <a:rPr dirty="0"/>
              <a:t> </a:t>
            </a:r>
            <a:r>
              <a:rPr dirty="0" err="1"/>
              <a:t>논문</a:t>
            </a:r>
            <a:r>
              <a:rPr dirty="0"/>
              <a:t> </a:t>
            </a:r>
            <a:r>
              <a:rPr dirty="0" err="1"/>
              <a:t>두</a:t>
            </a:r>
            <a:r>
              <a:rPr dirty="0"/>
              <a:t> </a:t>
            </a:r>
            <a:r>
              <a:rPr dirty="0" err="1"/>
              <a:t>편을</a:t>
            </a:r>
            <a:r>
              <a:rPr dirty="0"/>
              <a:t> </a:t>
            </a:r>
            <a:r>
              <a:rPr dirty="0" err="1"/>
              <a:t>간단히</a:t>
            </a:r>
            <a:r>
              <a:rPr dirty="0"/>
              <a:t> </a:t>
            </a:r>
            <a:r>
              <a:rPr dirty="0" err="1"/>
              <a:t>소개해</a:t>
            </a:r>
            <a:r>
              <a:rPr dirty="0"/>
              <a:t> </a:t>
            </a:r>
            <a:r>
              <a:rPr dirty="0" err="1"/>
              <a:t>드리겠습니다</a:t>
            </a:r>
            <a:r>
              <a:rPr dirty="0"/>
              <a:t>.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g26accca8d11_0_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" name="Google Shape;79;g26accca8d11_0_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endParaRPr dirty="0"/>
          </a:p>
          <a:p>
            <a:r>
              <a:rPr dirty="0" err="1"/>
              <a:t>먼저</a:t>
            </a:r>
            <a:r>
              <a:rPr dirty="0"/>
              <a:t> LLM의 </a:t>
            </a:r>
            <a:r>
              <a:rPr dirty="0" err="1"/>
              <a:t>안전성</a:t>
            </a:r>
            <a:r>
              <a:rPr dirty="0"/>
              <a:t> </a:t>
            </a:r>
            <a:r>
              <a:rPr dirty="0" err="1"/>
              <a:t>취약점을</a:t>
            </a:r>
            <a:r>
              <a:rPr dirty="0"/>
              <a:t> </a:t>
            </a:r>
            <a:r>
              <a:rPr dirty="0" err="1"/>
              <a:t>자동으로</a:t>
            </a:r>
            <a:r>
              <a:rPr dirty="0"/>
              <a:t> </a:t>
            </a:r>
            <a:r>
              <a:rPr dirty="0" err="1"/>
              <a:t>찾아내는</a:t>
            </a:r>
            <a:r>
              <a:rPr dirty="0"/>
              <a:t> Rainbow </a:t>
            </a:r>
            <a:r>
              <a:rPr dirty="0" err="1"/>
              <a:t>Teaming을</a:t>
            </a:r>
            <a:r>
              <a:rPr dirty="0"/>
              <a:t> </a:t>
            </a:r>
            <a:r>
              <a:rPr dirty="0" err="1"/>
              <a:t>소개하고</a:t>
            </a:r>
            <a:r>
              <a:rPr dirty="0"/>
              <a:t>, </a:t>
            </a:r>
            <a:r>
              <a:rPr dirty="0" err="1"/>
              <a:t>이어서</a:t>
            </a:r>
            <a:r>
              <a:rPr dirty="0"/>
              <a:t> </a:t>
            </a:r>
            <a:r>
              <a:rPr dirty="0" err="1"/>
              <a:t>강화학습이</a:t>
            </a:r>
            <a:r>
              <a:rPr dirty="0"/>
              <a:t> LLM의 </a:t>
            </a:r>
            <a:r>
              <a:rPr dirty="0" err="1"/>
              <a:t>추론</a:t>
            </a:r>
            <a:r>
              <a:rPr dirty="0"/>
              <a:t> </a:t>
            </a:r>
            <a:r>
              <a:rPr dirty="0" err="1"/>
              <a:t>능력을</a:t>
            </a:r>
            <a:r>
              <a:rPr dirty="0"/>
              <a:t> </a:t>
            </a:r>
            <a:r>
              <a:rPr dirty="0" err="1"/>
              <a:t>정말로</a:t>
            </a:r>
            <a:r>
              <a:rPr dirty="0"/>
              <a:t> </a:t>
            </a:r>
            <a:r>
              <a:rPr dirty="0" err="1"/>
              <a:t>키우는지</a:t>
            </a:r>
            <a:r>
              <a:rPr dirty="0"/>
              <a:t> </a:t>
            </a:r>
            <a:r>
              <a:rPr dirty="0" err="1"/>
              <a:t>다룬</a:t>
            </a:r>
            <a:r>
              <a:rPr dirty="0"/>
              <a:t> </a:t>
            </a:r>
            <a:r>
              <a:rPr dirty="0" err="1"/>
              <a:t>논문을</a:t>
            </a:r>
            <a:r>
              <a:rPr dirty="0"/>
              <a:t> </a:t>
            </a:r>
            <a:r>
              <a:rPr dirty="0" err="1"/>
              <a:t>소개하겠습니다</a:t>
            </a:r>
            <a:r>
              <a:rPr dirty="0"/>
              <a:t>.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  <a:p>
            <a:r>
              <a:rPr dirty="0" err="1"/>
              <a:t>첫</a:t>
            </a:r>
            <a:r>
              <a:rPr dirty="0"/>
              <a:t> </a:t>
            </a:r>
            <a:r>
              <a:rPr dirty="0" err="1"/>
              <a:t>번째</a:t>
            </a:r>
            <a:r>
              <a:rPr dirty="0"/>
              <a:t> </a:t>
            </a:r>
            <a:r>
              <a:rPr dirty="0" err="1"/>
              <a:t>논문입니다</a:t>
            </a:r>
            <a:r>
              <a:rPr dirty="0"/>
              <a:t>.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  <a:p>
            <a:r>
              <a:rPr dirty="0" err="1"/>
              <a:t>첫</a:t>
            </a:r>
            <a:r>
              <a:rPr dirty="0"/>
              <a:t> </a:t>
            </a:r>
            <a:r>
              <a:rPr dirty="0" err="1"/>
              <a:t>번째</a:t>
            </a:r>
            <a:r>
              <a:rPr dirty="0"/>
              <a:t> </a:t>
            </a:r>
            <a:r>
              <a:rPr dirty="0" err="1"/>
              <a:t>논문은</a:t>
            </a:r>
            <a:r>
              <a:rPr dirty="0"/>
              <a:t> </a:t>
            </a:r>
            <a:r>
              <a:rPr dirty="0" err="1"/>
              <a:t>Meta에서</a:t>
            </a:r>
            <a:r>
              <a:rPr dirty="0"/>
              <a:t> </a:t>
            </a:r>
            <a:r>
              <a:rPr dirty="0" err="1"/>
              <a:t>발표한</a:t>
            </a:r>
            <a:r>
              <a:rPr dirty="0"/>
              <a:t> Rainbow </a:t>
            </a:r>
            <a:r>
              <a:rPr dirty="0" err="1"/>
              <a:t>Teaming입니다</a:t>
            </a:r>
            <a:r>
              <a:rPr dirty="0"/>
              <a:t>. </a:t>
            </a:r>
            <a:r>
              <a:rPr dirty="0" err="1"/>
              <a:t>LLM을</a:t>
            </a:r>
            <a:r>
              <a:rPr dirty="0"/>
              <a:t> </a:t>
            </a:r>
            <a:r>
              <a:rPr dirty="0" err="1"/>
              <a:t>안전하게</a:t>
            </a:r>
            <a:r>
              <a:rPr dirty="0"/>
              <a:t> </a:t>
            </a:r>
            <a:r>
              <a:rPr dirty="0" err="1"/>
              <a:t>배포하려면</a:t>
            </a:r>
            <a:r>
              <a:rPr dirty="0"/>
              <a:t>, </a:t>
            </a:r>
            <a:r>
              <a:rPr dirty="0" err="1"/>
              <a:t>모델을</a:t>
            </a:r>
            <a:r>
              <a:rPr dirty="0"/>
              <a:t> </a:t>
            </a:r>
            <a:r>
              <a:rPr dirty="0" err="1"/>
              <a:t>일부러</a:t>
            </a:r>
            <a:r>
              <a:rPr dirty="0"/>
              <a:t> </a:t>
            </a:r>
            <a:r>
              <a:rPr dirty="0" err="1"/>
              <a:t>공격해서</a:t>
            </a:r>
            <a:r>
              <a:rPr dirty="0"/>
              <a:t> </a:t>
            </a:r>
            <a:r>
              <a:rPr dirty="0" err="1"/>
              <a:t>취약점을</a:t>
            </a:r>
            <a:r>
              <a:rPr dirty="0"/>
              <a:t> </a:t>
            </a:r>
            <a:r>
              <a:rPr dirty="0" err="1"/>
              <a:t>미리</a:t>
            </a:r>
            <a:r>
              <a:rPr dirty="0"/>
              <a:t> </a:t>
            </a:r>
            <a:r>
              <a:rPr dirty="0" err="1"/>
              <a:t>찾는</a:t>
            </a:r>
            <a:r>
              <a:rPr dirty="0"/>
              <a:t> </a:t>
            </a:r>
            <a:r>
              <a:rPr dirty="0" err="1"/>
              <a:t>레드티밍이</a:t>
            </a:r>
            <a:r>
              <a:rPr dirty="0"/>
              <a:t> </a:t>
            </a:r>
            <a:r>
              <a:rPr dirty="0" err="1"/>
              <a:t>필요합니다</a:t>
            </a:r>
            <a:r>
              <a:rPr dirty="0"/>
              <a:t>. </a:t>
            </a:r>
            <a:r>
              <a:rPr dirty="0" err="1"/>
              <a:t>그런데</a:t>
            </a:r>
            <a:r>
              <a:rPr dirty="0"/>
              <a:t> </a:t>
            </a:r>
            <a:r>
              <a:rPr dirty="0" err="1"/>
              <a:t>기존</a:t>
            </a:r>
            <a:r>
              <a:rPr dirty="0"/>
              <a:t> </a:t>
            </a:r>
            <a:r>
              <a:rPr dirty="0" err="1"/>
              <a:t>자동</a:t>
            </a:r>
            <a:r>
              <a:rPr dirty="0"/>
              <a:t> </a:t>
            </a:r>
            <a:r>
              <a:rPr dirty="0" err="1"/>
              <a:t>레드티밍</a:t>
            </a:r>
            <a:r>
              <a:rPr dirty="0"/>
              <a:t> </a:t>
            </a:r>
            <a:r>
              <a:rPr dirty="0" err="1"/>
              <a:t>방법들은</a:t>
            </a:r>
            <a:r>
              <a:rPr dirty="0"/>
              <a:t> </a:t>
            </a:r>
            <a:r>
              <a:rPr dirty="0" err="1"/>
              <a:t>공격</a:t>
            </a:r>
            <a:r>
              <a:rPr dirty="0"/>
              <a:t> </a:t>
            </a:r>
            <a:r>
              <a:rPr dirty="0" err="1"/>
              <a:t>방식이</a:t>
            </a:r>
            <a:r>
              <a:rPr dirty="0"/>
              <a:t> </a:t>
            </a:r>
            <a:r>
              <a:rPr dirty="0" err="1"/>
              <a:t>한두</a:t>
            </a:r>
            <a:r>
              <a:rPr dirty="0"/>
              <a:t> </a:t>
            </a:r>
            <a:r>
              <a:rPr dirty="0" err="1"/>
              <a:t>가지로</a:t>
            </a:r>
            <a:r>
              <a:rPr dirty="0"/>
              <a:t> </a:t>
            </a:r>
            <a:r>
              <a:rPr dirty="0" err="1"/>
              <a:t>치우쳐</a:t>
            </a:r>
            <a:r>
              <a:rPr dirty="0"/>
              <a:t> </a:t>
            </a:r>
            <a:r>
              <a:rPr dirty="0" err="1"/>
              <a:t>다양성이</a:t>
            </a:r>
            <a:r>
              <a:rPr dirty="0"/>
              <a:t> </a:t>
            </a:r>
            <a:r>
              <a:rPr dirty="0" err="1"/>
              <a:t>부족하거나</a:t>
            </a:r>
            <a:r>
              <a:rPr dirty="0"/>
              <a:t>, </a:t>
            </a:r>
            <a:r>
              <a:rPr dirty="0" err="1"/>
              <a:t>사람이</a:t>
            </a:r>
            <a:r>
              <a:rPr dirty="0"/>
              <a:t> </a:t>
            </a:r>
            <a:r>
              <a:rPr dirty="0" err="1"/>
              <a:t>공격</a:t>
            </a:r>
            <a:r>
              <a:rPr dirty="0"/>
              <a:t> </a:t>
            </a:r>
            <a:r>
              <a:rPr dirty="0" err="1"/>
              <a:t>목표를</a:t>
            </a:r>
            <a:r>
              <a:rPr dirty="0"/>
              <a:t> </a:t>
            </a:r>
            <a:r>
              <a:rPr dirty="0" err="1"/>
              <a:t>일일이</a:t>
            </a:r>
            <a:r>
              <a:rPr dirty="0"/>
              <a:t> </a:t>
            </a:r>
            <a:r>
              <a:rPr dirty="0" err="1"/>
              <a:t>정해</a:t>
            </a:r>
            <a:r>
              <a:rPr dirty="0"/>
              <a:t> </a:t>
            </a:r>
            <a:r>
              <a:rPr dirty="0" err="1"/>
              <a:t>줘야</a:t>
            </a:r>
            <a:r>
              <a:rPr dirty="0"/>
              <a:t> </a:t>
            </a:r>
            <a:r>
              <a:rPr dirty="0" err="1"/>
              <a:t>했습니다</a:t>
            </a:r>
            <a:r>
              <a:rPr dirty="0"/>
              <a:t>. </a:t>
            </a:r>
            <a:r>
              <a:rPr dirty="0" err="1"/>
              <a:t>이</a:t>
            </a:r>
            <a:r>
              <a:rPr dirty="0"/>
              <a:t> </a:t>
            </a:r>
            <a:r>
              <a:rPr dirty="0" err="1"/>
              <a:t>논문은</a:t>
            </a:r>
            <a:r>
              <a:rPr dirty="0"/>
              <a:t> </a:t>
            </a:r>
            <a:r>
              <a:rPr dirty="0" err="1"/>
              <a:t>이</a:t>
            </a:r>
            <a:r>
              <a:rPr dirty="0"/>
              <a:t> </a:t>
            </a:r>
            <a:r>
              <a:rPr dirty="0" err="1"/>
              <a:t>문제를</a:t>
            </a:r>
            <a:r>
              <a:rPr dirty="0"/>
              <a:t> </a:t>
            </a:r>
            <a:r>
              <a:rPr dirty="0" err="1"/>
              <a:t>품질-다양성</a:t>
            </a:r>
            <a:r>
              <a:rPr dirty="0"/>
              <a:t> </a:t>
            </a:r>
            <a:r>
              <a:rPr dirty="0" err="1"/>
              <a:t>탐색</a:t>
            </a:r>
            <a:r>
              <a:rPr dirty="0"/>
              <a:t> </a:t>
            </a:r>
            <a:r>
              <a:rPr dirty="0" err="1"/>
              <a:t>문제로</a:t>
            </a:r>
            <a:r>
              <a:rPr dirty="0"/>
              <a:t> </a:t>
            </a:r>
            <a:r>
              <a:rPr dirty="0" err="1"/>
              <a:t>바꿉니다</a:t>
            </a:r>
            <a:r>
              <a:rPr dirty="0"/>
              <a:t>. </a:t>
            </a:r>
            <a:r>
              <a:rPr dirty="0" err="1"/>
              <a:t>위험</a:t>
            </a:r>
            <a:r>
              <a:rPr dirty="0"/>
              <a:t> </a:t>
            </a:r>
            <a:r>
              <a:rPr dirty="0" err="1"/>
              <a:t>유형과</a:t>
            </a:r>
            <a:r>
              <a:rPr dirty="0"/>
              <a:t> </a:t>
            </a:r>
            <a:r>
              <a:rPr dirty="0" err="1"/>
              <a:t>공격</a:t>
            </a:r>
            <a:r>
              <a:rPr dirty="0"/>
              <a:t> </a:t>
            </a:r>
            <a:r>
              <a:rPr dirty="0" err="1"/>
              <a:t>스타일을</a:t>
            </a:r>
            <a:r>
              <a:rPr dirty="0"/>
              <a:t> </a:t>
            </a:r>
            <a:r>
              <a:rPr dirty="0" err="1"/>
              <a:t>두</a:t>
            </a:r>
            <a:r>
              <a:rPr dirty="0"/>
              <a:t> </a:t>
            </a:r>
            <a:r>
              <a:rPr dirty="0" err="1"/>
              <a:t>축으로</a:t>
            </a:r>
            <a:r>
              <a:rPr dirty="0"/>
              <a:t> </a:t>
            </a:r>
            <a:r>
              <a:rPr dirty="0" err="1"/>
              <a:t>하는</a:t>
            </a:r>
            <a:r>
              <a:rPr dirty="0"/>
              <a:t> </a:t>
            </a:r>
            <a:r>
              <a:rPr dirty="0" err="1"/>
              <a:t>격자를</a:t>
            </a:r>
            <a:r>
              <a:rPr dirty="0"/>
              <a:t> </a:t>
            </a:r>
            <a:r>
              <a:rPr dirty="0" err="1"/>
              <a:t>만들고</a:t>
            </a:r>
            <a:r>
              <a:rPr dirty="0"/>
              <a:t>, </a:t>
            </a:r>
            <a:r>
              <a:rPr dirty="0" err="1"/>
              <a:t>칸마다</a:t>
            </a:r>
            <a:r>
              <a:rPr dirty="0"/>
              <a:t> </a:t>
            </a:r>
            <a:r>
              <a:rPr dirty="0" err="1"/>
              <a:t>가장</a:t>
            </a:r>
            <a:r>
              <a:rPr dirty="0"/>
              <a:t> </a:t>
            </a:r>
            <a:r>
              <a:rPr dirty="0" err="1"/>
              <a:t>강력한</a:t>
            </a:r>
            <a:r>
              <a:rPr dirty="0"/>
              <a:t> </a:t>
            </a:r>
            <a:r>
              <a:rPr dirty="0" err="1"/>
              <a:t>공격</a:t>
            </a:r>
            <a:r>
              <a:rPr dirty="0"/>
              <a:t> </a:t>
            </a:r>
            <a:r>
              <a:rPr dirty="0" err="1"/>
              <a:t>프롬프트를</a:t>
            </a:r>
            <a:r>
              <a:rPr dirty="0"/>
              <a:t> </a:t>
            </a:r>
            <a:r>
              <a:rPr dirty="0" err="1"/>
              <a:t>채워</a:t>
            </a:r>
            <a:r>
              <a:rPr dirty="0"/>
              <a:t> </a:t>
            </a:r>
            <a:r>
              <a:rPr dirty="0" err="1"/>
              <a:t>나가는</a:t>
            </a:r>
            <a:r>
              <a:rPr dirty="0"/>
              <a:t> </a:t>
            </a:r>
            <a:r>
              <a:rPr dirty="0" err="1"/>
              <a:t>방식입니다</a:t>
            </a:r>
            <a:r>
              <a:rPr dirty="0"/>
              <a:t>. </a:t>
            </a:r>
            <a:r>
              <a:rPr dirty="0" err="1"/>
              <a:t>축만</a:t>
            </a:r>
            <a:r>
              <a:rPr dirty="0"/>
              <a:t> </a:t>
            </a:r>
            <a:r>
              <a:rPr dirty="0" err="1"/>
              <a:t>바꾸면</a:t>
            </a:r>
            <a:r>
              <a:rPr dirty="0"/>
              <a:t> </a:t>
            </a:r>
            <a:r>
              <a:rPr dirty="0" err="1"/>
              <a:t>질의응답이나</a:t>
            </a:r>
            <a:r>
              <a:rPr dirty="0"/>
              <a:t> </a:t>
            </a:r>
            <a:r>
              <a:rPr dirty="0" err="1"/>
              <a:t>사이버보안</a:t>
            </a:r>
            <a:r>
              <a:rPr dirty="0"/>
              <a:t> </a:t>
            </a:r>
            <a:r>
              <a:rPr dirty="0" err="1"/>
              <a:t>같은</a:t>
            </a:r>
            <a:r>
              <a:rPr dirty="0"/>
              <a:t> </a:t>
            </a:r>
            <a:r>
              <a:rPr dirty="0" err="1"/>
              <a:t>다른</a:t>
            </a:r>
            <a:r>
              <a:rPr dirty="0"/>
              <a:t> </a:t>
            </a:r>
            <a:r>
              <a:rPr dirty="0" err="1"/>
              <a:t>도메인에도</a:t>
            </a:r>
            <a:r>
              <a:rPr dirty="0"/>
              <a:t> </a:t>
            </a:r>
            <a:r>
              <a:rPr dirty="0" err="1"/>
              <a:t>그대로</a:t>
            </a:r>
            <a:r>
              <a:rPr dirty="0"/>
              <a:t> </a:t>
            </a:r>
            <a:r>
              <a:rPr dirty="0" err="1"/>
              <a:t>적용할</a:t>
            </a:r>
            <a:r>
              <a:rPr dirty="0"/>
              <a:t> </a:t>
            </a:r>
            <a:r>
              <a:rPr dirty="0" err="1"/>
              <a:t>수</a:t>
            </a:r>
            <a:r>
              <a:rPr dirty="0"/>
              <a:t> </a:t>
            </a:r>
            <a:r>
              <a:rPr dirty="0" err="1"/>
              <a:t>있습니다</a:t>
            </a:r>
            <a:r>
              <a:rPr dirty="0"/>
              <a:t>.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  <a:p>
            <a:r>
              <a:rPr dirty="0" err="1"/>
              <a:t>탐색은</a:t>
            </a:r>
            <a:r>
              <a:rPr dirty="0"/>
              <a:t> </a:t>
            </a:r>
            <a:r>
              <a:rPr dirty="0" err="1"/>
              <a:t>진화</a:t>
            </a:r>
            <a:r>
              <a:rPr dirty="0"/>
              <a:t> </a:t>
            </a:r>
            <a:r>
              <a:rPr dirty="0" err="1"/>
              <a:t>알고리즘인</a:t>
            </a:r>
            <a:r>
              <a:rPr dirty="0"/>
              <a:t> MAP-</a:t>
            </a:r>
            <a:r>
              <a:rPr dirty="0" err="1"/>
              <a:t>Elites를</a:t>
            </a:r>
            <a:r>
              <a:rPr dirty="0"/>
              <a:t> </a:t>
            </a:r>
            <a:r>
              <a:rPr dirty="0" err="1"/>
              <a:t>기반으로</a:t>
            </a:r>
            <a:r>
              <a:rPr dirty="0"/>
              <a:t> </a:t>
            </a:r>
            <a:r>
              <a:rPr dirty="0" err="1"/>
              <a:t>네</a:t>
            </a:r>
            <a:r>
              <a:rPr dirty="0"/>
              <a:t> </a:t>
            </a:r>
            <a:r>
              <a:rPr dirty="0" err="1"/>
              <a:t>단계를</a:t>
            </a:r>
            <a:r>
              <a:rPr dirty="0"/>
              <a:t> </a:t>
            </a:r>
            <a:r>
              <a:rPr dirty="0" err="1"/>
              <a:t>반복합니다</a:t>
            </a:r>
            <a:r>
              <a:rPr dirty="0"/>
              <a:t>. </a:t>
            </a:r>
            <a:r>
              <a:rPr dirty="0" err="1"/>
              <a:t>먼저</a:t>
            </a:r>
            <a:r>
              <a:rPr dirty="0"/>
              <a:t> </a:t>
            </a:r>
            <a:r>
              <a:rPr dirty="0" err="1"/>
              <a:t>격자에서</a:t>
            </a:r>
            <a:r>
              <a:rPr dirty="0"/>
              <a:t> </a:t>
            </a:r>
            <a:r>
              <a:rPr dirty="0" err="1"/>
              <a:t>프롬프트</a:t>
            </a:r>
            <a:r>
              <a:rPr dirty="0"/>
              <a:t> </a:t>
            </a:r>
            <a:r>
              <a:rPr dirty="0" err="1"/>
              <a:t>하나를</a:t>
            </a:r>
            <a:r>
              <a:rPr dirty="0"/>
              <a:t> </a:t>
            </a:r>
            <a:r>
              <a:rPr dirty="0" err="1"/>
              <a:t>뽑고</a:t>
            </a:r>
            <a:r>
              <a:rPr dirty="0"/>
              <a:t>, </a:t>
            </a:r>
            <a:r>
              <a:rPr dirty="0" err="1"/>
              <a:t>새로</a:t>
            </a:r>
            <a:r>
              <a:rPr dirty="0"/>
              <a:t> </a:t>
            </a:r>
            <a:r>
              <a:rPr dirty="0" err="1"/>
              <a:t>채울</a:t>
            </a:r>
            <a:r>
              <a:rPr dirty="0"/>
              <a:t> </a:t>
            </a:r>
            <a:r>
              <a:rPr dirty="0" err="1"/>
              <a:t>목표</a:t>
            </a:r>
            <a:r>
              <a:rPr dirty="0"/>
              <a:t> </a:t>
            </a:r>
            <a:r>
              <a:rPr dirty="0" err="1"/>
              <a:t>칸을</a:t>
            </a:r>
            <a:r>
              <a:rPr dirty="0"/>
              <a:t> </a:t>
            </a:r>
            <a:r>
              <a:rPr dirty="0" err="1"/>
              <a:t>정합니다</a:t>
            </a:r>
            <a:r>
              <a:rPr dirty="0"/>
              <a:t>. </a:t>
            </a:r>
            <a:r>
              <a:rPr dirty="0" err="1"/>
              <a:t>그러면</a:t>
            </a:r>
            <a:r>
              <a:rPr dirty="0"/>
              <a:t> Mutator </a:t>
            </a:r>
            <a:r>
              <a:rPr dirty="0" err="1"/>
              <a:t>LLM이</a:t>
            </a:r>
            <a:r>
              <a:rPr dirty="0"/>
              <a:t> </a:t>
            </a:r>
            <a:r>
              <a:rPr dirty="0" err="1"/>
              <a:t>목표</a:t>
            </a:r>
            <a:r>
              <a:rPr dirty="0"/>
              <a:t> </a:t>
            </a:r>
            <a:r>
              <a:rPr dirty="0" err="1"/>
              <a:t>칸의</a:t>
            </a:r>
            <a:r>
              <a:rPr dirty="0"/>
              <a:t> </a:t>
            </a:r>
            <a:r>
              <a:rPr dirty="0" err="1"/>
              <a:t>위험</a:t>
            </a:r>
            <a:r>
              <a:rPr dirty="0"/>
              <a:t> </a:t>
            </a:r>
            <a:r>
              <a:rPr dirty="0" err="1"/>
              <a:t>유형과</a:t>
            </a:r>
            <a:r>
              <a:rPr dirty="0"/>
              <a:t> </a:t>
            </a:r>
            <a:r>
              <a:rPr dirty="0" err="1"/>
              <a:t>공격</a:t>
            </a:r>
            <a:r>
              <a:rPr dirty="0"/>
              <a:t> </a:t>
            </a:r>
            <a:r>
              <a:rPr dirty="0" err="1"/>
              <a:t>스타일에</a:t>
            </a:r>
            <a:r>
              <a:rPr dirty="0"/>
              <a:t> </a:t>
            </a:r>
            <a:r>
              <a:rPr dirty="0" err="1"/>
              <a:t>맞게</a:t>
            </a:r>
            <a:r>
              <a:rPr dirty="0"/>
              <a:t> </a:t>
            </a:r>
            <a:r>
              <a:rPr dirty="0" err="1"/>
              <a:t>프롬프트를</a:t>
            </a:r>
            <a:r>
              <a:rPr dirty="0"/>
              <a:t> </a:t>
            </a:r>
            <a:r>
              <a:rPr dirty="0" err="1"/>
              <a:t>변형하는데</a:t>
            </a:r>
            <a:r>
              <a:rPr dirty="0"/>
              <a:t>, </a:t>
            </a:r>
            <a:r>
              <a:rPr dirty="0" err="1"/>
              <a:t>원본과</a:t>
            </a:r>
            <a:r>
              <a:rPr dirty="0"/>
              <a:t> </a:t>
            </a:r>
            <a:r>
              <a:rPr dirty="0" err="1"/>
              <a:t>너무</a:t>
            </a:r>
            <a:r>
              <a:rPr dirty="0"/>
              <a:t> </a:t>
            </a:r>
            <a:r>
              <a:rPr dirty="0" err="1"/>
              <a:t>비슷한</a:t>
            </a:r>
            <a:r>
              <a:rPr dirty="0"/>
              <a:t> </a:t>
            </a:r>
            <a:r>
              <a:rPr dirty="0" err="1"/>
              <a:t>결과는</a:t>
            </a:r>
            <a:r>
              <a:rPr dirty="0"/>
              <a:t> BLEU </a:t>
            </a:r>
            <a:r>
              <a:rPr dirty="0" err="1"/>
              <a:t>필터로</a:t>
            </a:r>
            <a:r>
              <a:rPr dirty="0"/>
              <a:t> </a:t>
            </a:r>
            <a:r>
              <a:rPr dirty="0" err="1"/>
              <a:t>걸러</a:t>
            </a:r>
            <a:r>
              <a:rPr dirty="0"/>
              <a:t> </a:t>
            </a:r>
            <a:r>
              <a:rPr dirty="0" err="1"/>
              <a:t>다양성을</a:t>
            </a:r>
            <a:r>
              <a:rPr dirty="0"/>
              <a:t> </a:t>
            </a:r>
            <a:r>
              <a:rPr dirty="0" err="1"/>
              <a:t>지킵니다</a:t>
            </a:r>
            <a:r>
              <a:rPr dirty="0"/>
              <a:t>. </a:t>
            </a:r>
            <a:r>
              <a:rPr dirty="0" err="1"/>
              <a:t>변형된</a:t>
            </a:r>
            <a:r>
              <a:rPr dirty="0"/>
              <a:t> </a:t>
            </a:r>
            <a:r>
              <a:rPr dirty="0" err="1"/>
              <a:t>프롬프트를</a:t>
            </a:r>
            <a:r>
              <a:rPr dirty="0"/>
              <a:t> </a:t>
            </a:r>
            <a:r>
              <a:rPr dirty="0" err="1"/>
              <a:t>타깃</a:t>
            </a:r>
            <a:r>
              <a:rPr dirty="0"/>
              <a:t> </a:t>
            </a:r>
            <a:r>
              <a:rPr dirty="0" err="1"/>
              <a:t>모델에</a:t>
            </a:r>
            <a:r>
              <a:rPr dirty="0"/>
              <a:t> </a:t>
            </a:r>
            <a:r>
              <a:rPr dirty="0" err="1"/>
              <a:t>넣어</a:t>
            </a:r>
            <a:r>
              <a:rPr dirty="0"/>
              <a:t> </a:t>
            </a:r>
            <a:r>
              <a:rPr dirty="0" err="1"/>
              <a:t>응답을</a:t>
            </a:r>
            <a:r>
              <a:rPr dirty="0"/>
              <a:t> </a:t>
            </a:r>
            <a:r>
              <a:rPr dirty="0" err="1"/>
              <a:t>받고</a:t>
            </a:r>
            <a:r>
              <a:rPr dirty="0"/>
              <a:t>, </a:t>
            </a:r>
            <a:r>
              <a:rPr dirty="0" err="1"/>
              <a:t>마지막으로</a:t>
            </a:r>
            <a:r>
              <a:rPr dirty="0"/>
              <a:t> Judge </a:t>
            </a:r>
            <a:r>
              <a:rPr dirty="0" err="1"/>
              <a:t>LLM이</a:t>
            </a:r>
            <a:r>
              <a:rPr dirty="0"/>
              <a:t> </a:t>
            </a:r>
            <a:r>
              <a:rPr dirty="0" err="1"/>
              <a:t>기존</a:t>
            </a:r>
            <a:r>
              <a:rPr dirty="0"/>
              <a:t> </a:t>
            </a:r>
            <a:r>
              <a:rPr dirty="0" err="1"/>
              <a:t>칸의</a:t>
            </a:r>
            <a:r>
              <a:rPr dirty="0"/>
              <a:t> </a:t>
            </a:r>
            <a:r>
              <a:rPr dirty="0" err="1"/>
              <a:t>프롬프트와</a:t>
            </a:r>
            <a:r>
              <a:rPr dirty="0"/>
              <a:t> </a:t>
            </a:r>
            <a:r>
              <a:rPr dirty="0" err="1"/>
              <a:t>일대일로</a:t>
            </a:r>
            <a:r>
              <a:rPr dirty="0"/>
              <a:t> </a:t>
            </a:r>
            <a:r>
              <a:rPr dirty="0" err="1"/>
              <a:t>비교해서</a:t>
            </a:r>
            <a:r>
              <a:rPr dirty="0"/>
              <a:t> </a:t>
            </a:r>
            <a:r>
              <a:rPr dirty="0" err="1"/>
              <a:t>더</a:t>
            </a:r>
            <a:r>
              <a:rPr dirty="0"/>
              <a:t> </a:t>
            </a:r>
            <a:r>
              <a:rPr dirty="0" err="1"/>
              <a:t>위험한</a:t>
            </a:r>
            <a:r>
              <a:rPr dirty="0"/>
              <a:t> </a:t>
            </a:r>
            <a:r>
              <a:rPr dirty="0" err="1"/>
              <a:t>응답을</a:t>
            </a:r>
            <a:r>
              <a:rPr dirty="0"/>
              <a:t> </a:t>
            </a:r>
            <a:r>
              <a:rPr dirty="0" err="1"/>
              <a:t>이끌어</a:t>
            </a:r>
            <a:r>
              <a:rPr dirty="0"/>
              <a:t> </a:t>
            </a:r>
            <a:r>
              <a:rPr dirty="0" err="1"/>
              <a:t>낸</a:t>
            </a:r>
            <a:r>
              <a:rPr dirty="0"/>
              <a:t> </a:t>
            </a:r>
            <a:r>
              <a:rPr dirty="0" err="1"/>
              <a:t>쪽을</a:t>
            </a:r>
            <a:r>
              <a:rPr dirty="0"/>
              <a:t> </a:t>
            </a:r>
            <a:r>
              <a:rPr dirty="0" err="1"/>
              <a:t>남깁니다</a:t>
            </a:r>
            <a:r>
              <a:rPr dirty="0"/>
              <a:t>. </a:t>
            </a:r>
            <a:r>
              <a:rPr dirty="0" err="1"/>
              <a:t>점수</a:t>
            </a:r>
            <a:r>
              <a:rPr dirty="0"/>
              <a:t> </a:t>
            </a:r>
            <a:r>
              <a:rPr dirty="0" err="1"/>
              <a:t>대신</a:t>
            </a:r>
            <a:r>
              <a:rPr dirty="0"/>
              <a:t> </a:t>
            </a:r>
            <a:r>
              <a:rPr dirty="0" err="1"/>
              <a:t>쌍대</a:t>
            </a:r>
            <a:r>
              <a:rPr dirty="0"/>
              <a:t> </a:t>
            </a:r>
            <a:r>
              <a:rPr dirty="0" err="1"/>
              <a:t>비교를</a:t>
            </a:r>
            <a:r>
              <a:rPr dirty="0"/>
              <a:t> </a:t>
            </a:r>
            <a:r>
              <a:rPr dirty="0" err="1"/>
              <a:t>쓰기</a:t>
            </a:r>
            <a:r>
              <a:rPr dirty="0"/>
              <a:t> </a:t>
            </a:r>
            <a:r>
              <a:rPr dirty="0" err="1"/>
              <a:t>때문에</a:t>
            </a:r>
            <a:r>
              <a:rPr dirty="0"/>
              <a:t> </a:t>
            </a:r>
            <a:r>
              <a:rPr dirty="0" err="1"/>
              <a:t>평가자를</a:t>
            </a:r>
            <a:r>
              <a:rPr dirty="0"/>
              <a:t> </a:t>
            </a:r>
            <a:r>
              <a:rPr dirty="0" err="1"/>
              <a:t>속이는</a:t>
            </a:r>
            <a:r>
              <a:rPr dirty="0"/>
              <a:t> reward </a:t>
            </a:r>
            <a:r>
              <a:rPr dirty="0" err="1"/>
              <a:t>hacking에도</a:t>
            </a:r>
            <a:r>
              <a:rPr dirty="0"/>
              <a:t> </a:t>
            </a:r>
            <a:r>
              <a:rPr dirty="0" err="1"/>
              <a:t>강합니다</a:t>
            </a:r>
            <a:r>
              <a:rPr dirty="0"/>
              <a:t>.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  <a:p>
            <a:r>
              <a:rPr dirty="0" err="1"/>
              <a:t>결과를</a:t>
            </a:r>
            <a:r>
              <a:rPr dirty="0"/>
              <a:t> </a:t>
            </a:r>
            <a:r>
              <a:rPr dirty="0" err="1"/>
              <a:t>보면</a:t>
            </a:r>
            <a:r>
              <a:rPr dirty="0"/>
              <a:t>, </a:t>
            </a:r>
            <a:r>
              <a:rPr dirty="0" err="1"/>
              <a:t>안전하게</a:t>
            </a:r>
            <a:r>
              <a:rPr dirty="0"/>
              <a:t> </a:t>
            </a:r>
            <a:r>
              <a:rPr dirty="0" err="1"/>
              <a:t>정렬된</a:t>
            </a:r>
            <a:r>
              <a:rPr dirty="0"/>
              <a:t> Llama 2와 Llama 3 </a:t>
            </a:r>
            <a:r>
              <a:rPr dirty="0" err="1"/>
              <a:t>모델에서도</a:t>
            </a:r>
            <a:r>
              <a:rPr dirty="0"/>
              <a:t> </a:t>
            </a:r>
            <a:r>
              <a:rPr dirty="0" err="1"/>
              <a:t>공격</a:t>
            </a:r>
            <a:r>
              <a:rPr dirty="0"/>
              <a:t> </a:t>
            </a:r>
            <a:r>
              <a:rPr dirty="0" err="1"/>
              <a:t>성공률이</a:t>
            </a:r>
            <a:r>
              <a:rPr dirty="0"/>
              <a:t> </a:t>
            </a:r>
            <a:r>
              <a:rPr dirty="0" err="1"/>
              <a:t>약</a:t>
            </a:r>
            <a:r>
              <a:rPr dirty="0"/>
              <a:t> 92퍼센트, </a:t>
            </a:r>
            <a:r>
              <a:rPr dirty="0" err="1"/>
              <a:t>Mistral과</a:t>
            </a:r>
            <a:r>
              <a:rPr dirty="0"/>
              <a:t> </a:t>
            </a:r>
            <a:r>
              <a:rPr dirty="0" err="1"/>
              <a:t>Vicuna에서는</a:t>
            </a:r>
            <a:r>
              <a:rPr dirty="0"/>
              <a:t> 98퍼센트에 </a:t>
            </a:r>
            <a:r>
              <a:rPr dirty="0" err="1"/>
              <a:t>달했습니다</a:t>
            </a:r>
            <a:r>
              <a:rPr dirty="0"/>
              <a:t>. </a:t>
            </a:r>
            <a:r>
              <a:rPr dirty="0" err="1"/>
              <a:t>찾은</a:t>
            </a:r>
            <a:r>
              <a:rPr dirty="0"/>
              <a:t> </a:t>
            </a:r>
            <a:r>
              <a:rPr dirty="0" err="1"/>
              <a:t>프롬프트는</a:t>
            </a:r>
            <a:r>
              <a:rPr dirty="0"/>
              <a:t> </a:t>
            </a:r>
            <a:r>
              <a:rPr dirty="0" err="1"/>
              <a:t>다른</a:t>
            </a:r>
            <a:r>
              <a:rPr dirty="0"/>
              <a:t> </a:t>
            </a:r>
            <a:r>
              <a:rPr dirty="0" err="1"/>
              <a:t>모델에도</a:t>
            </a:r>
            <a:r>
              <a:rPr dirty="0"/>
              <a:t> </a:t>
            </a:r>
            <a:r>
              <a:rPr dirty="0" err="1"/>
              <a:t>평균</a:t>
            </a:r>
            <a:r>
              <a:rPr dirty="0"/>
              <a:t> 50퍼센트 </a:t>
            </a:r>
            <a:r>
              <a:rPr dirty="0" err="1"/>
              <a:t>정도</a:t>
            </a:r>
            <a:r>
              <a:rPr dirty="0"/>
              <a:t> </a:t>
            </a:r>
            <a:r>
              <a:rPr dirty="0" err="1"/>
              <a:t>전이됐습니다</a:t>
            </a:r>
            <a:r>
              <a:rPr dirty="0"/>
              <a:t>. </a:t>
            </a:r>
            <a:r>
              <a:rPr dirty="0" err="1"/>
              <a:t>더</a:t>
            </a:r>
            <a:r>
              <a:rPr dirty="0"/>
              <a:t> </a:t>
            </a:r>
            <a:r>
              <a:rPr dirty="0" err="1"/>
              <a:t>흥미로운</a:t>
            </a:r>
            <a:r>
              <a:rPr dirty="0"/>
              <a:t> </a:t>
            </a:r>
            <a:r>
              <a:rPr dirty="0" err="1"/>
              <a:t>점은</a:t>
            </a:r>
            <a:r>
              <a:rPr dirty="0"/>
              <a:t> </a:t>
            </a:r>
            <a:r>
              <a:rPr dirty="0" err="1"/>
              <a:t>방어에도</a:t>
            </a:r>
            <a:r>
              <a:rPr dirty="0"/>
              <a:t> </a:t>
            </a:r>
            <a:r>
              <a:rPr dirty="0" err="1"/>
              <a:t>쓸</a:t>
            </a:r>
            <a:r>
              <a:rPr dirty="0"/>
              <a:t> </a:t>
            </a:r>
            <a:r>
              <a:rPr dirty="0" err="1"/>
              <a:t>수</a:t>
            </a:r>
            <a:r>
              <a:rPr dirty="0"/>
              <a:t> </a:t>
            </a:r>
            <a:r>
              <a:rPr dirty="0" err="1"/>
              <a:t>있다는</a:t>
            </a:r>
            <a:r>
              <a:rPr dirty="0"/>
              <a:t> </a:t>
            </a:r>
            <a:r>
              <a:rPr dirty="0" err="1"/>
              <a:t>건데요</a:t>
            </a:r>
            <a:r>
              <a:rPr dirty="0"/>
              <a:t>, </a:t>
            </a:r>
            <a:r>
              <a:rPr dirty="0" err="1"/>
              <a:t>생성된</a:t>
            </a:r>
            <a:r>
              <a:rPr dirty="0"/>
              <a:t> </a:t>
            </a:r>
            <a:r>
              <a:rPr dirty="0" err="1"/>
              <a:t>프롬프트로</a:t>
            </a:r>
            <a:r>
              <a:rPr dirty="0"/>
              <a:t> Llama 2를 </a:t>
            </a:r>
            <a:r>
              <a:rPr dirty="0" err="1"/>
              <a:t>추가</a:t>
            </a:r>
            <a:r>
              <a:rPr dirty="0"/>
              <a:t> </a:t>
            </a:r>
            <a:r>
              <a:rPr dirty="0" err="1"/>
              <a:t>학습시키자</a:t>
            </a:r>
            <a:r>
              <a:rPr dirty="0"/>
              <a:t> </a:t>
            </a:r>
            <a:r>
              <a:rPr dirty="0" err="1"/>
              <a:t>공격</a:t>
            </a:r>
            <a:r>
              <a:rPr dirty="0"/>
              <a:t> </a:t>
            </a:r>
            <a:r>
              <a:rPr dirty="0" err="1"/>
              <a:t>성공률이</a:t>
            </a:r>
            <a:r>
              <a:rPr dirty="0"/>
              <a:t> 92퍼센트에서 0.3퍼센트로 </a:t>
            </a:r>
            <a:r>
              <a:rPr dirty="0" err="1"/>
              <a:t>떨어졌고</a:t>
            </a:r>
            <a:r>
              <a:rPr dirty="0"/>
              <a:t>, GSM8K나 MMLU </a:t>
            </a:r>
            <a:r>
              <a:rPr dirty="0" err="1"/>
              <a:t>같은</a:t>
            </a:r>
            <a:r>
              <a:rPr dirty="0"/>
              <a:t> </a:t>
            </a:r>
            <a:r>
              <a:rPr dirty="0" err="1"/>
              <a:t>일반</a:t>
            </a:r>
            <a:r>
              <a:rPr dirty="0"/>
              <a:t> </a:t>
            </a:r>
            <a:r>
              <a:rPr dirty="0" err="1"/>
              <a:t>성능은</a:t>
            </a:r>
            <a:r>
              <a:rPr dirty="0"/>
              <a:t> </a:t>
            </a:r>
            <a:r>
              <a:rPr dirty="0" err="1"/>
              <a:t>거의</a:t>
            </a:r>
            <a:r>
              <a:rPr dirty="0"/>
              <a:t> </a:t>
            </a:r>
            <a:r>
              <a:rPr dirty="0" err="1"/>
              <a:t>그대로</a:t>
            </a:r>
            <a:r>
              <a:rPr dirty="0"/>
              <a:t> </a:t>
            </a:r>
            <a:r>
              <a:rPr dirty="0" err="1"/>
              <a:t>유지됐습니다</a:t>
            </a:r>
            <a:r>
              <a:rPr dirty="0"/>
              <a:t>. </a:t>
            </a:r>
            <a:r>
              <a:rPr dirty="0" err="1"/>
              <a:t>추가</a:t>
            </a:r>
            <a:r>
              <a:rPr dirty="0"/>
              <a:t> </a:t>
            </a:r>
            <a:r>
              <a:rPr dirty="0" err="1"/>
              <a:t>학습된</a:t>
            </a:r>
            <a:r>
              <a:rPr dirty="0"/>
              <a:t> </a:t>
            </a:r>
            <a:r>
              <a:rPr dirty="0" err="1"/>
              <a:t>모델에</a:t>
            </a:r>
            <a:r>
              <a:rPr dirty="0"/>
              <a:t> Rainbow </a:t>
            </a:r>
            <a:r>
              <a:rPr dirty="0" err="1"/>
              <a:t>Teaming을</a:t>
            </a:r>
            <a:r>
              <a:rPr dirty="0"/>
              <a:t> </a:t>
            </a:r>
            <a:r>
              <a:rPr dirty="0" err="1"/>
              <a:t>다시</a:t>
            </a:r>
            <a:r>
              <a:rPr dirty="0"/>
              <a:t> </a:t>
            </a:r>
            <a:r>
              <a:rPr dirty="0" err="1"/>
              <a:t>돌려도</a:t>
            </a:r>
            <a:r>
              <a:rPr dirty="0"/>
              <a:t> </a:t>
            </a:r>
            <a:r>
              <a:rPr dirty="0" err="1"/>
              <a:t>성공률이</a:t>
            </a:r>
            <a:r>
              <a:rPr dirty="0"/>
              <a:t> 39퍼센트에 </a:t>
            </a:r>
            <a:r>
              <a:rPr dirty="0" err="1"/>
              <a:t>그쳐</a:t>
            </a:r>
            <a:r>
              <a:rPr dirty="0"/>
              <a:t>, </a:t>
            </a:r>
            <a:r>
              <a:rPr dirty="0" err="1"/>
              <a:t>공격과</a:t>
            </a:r>
            <a:r>
              <a:rPr dirty="0"/>
              <a:t> </a:t>
            </a:r>
            <a:r>
              <a:rPr dirty="0" err="1"/>
              <a:t>방어를</a:t>
            </a:r>
            <a:r>
              <a:rPr dirty="0"/>
              <a:t> </a:t>
            </a:r>
            <a:r>
              <a:rPr dirty="0" err="1"/>
              <a:t>반복할수록</a:t>
            </a:r>
            <a:r>
              <a:rPr dirty="0"/>
              <a:t> </a:t>
            </a:r>
            <a:r>
              <a:rPr dirty="0" err="1"/>
              <a:t>모델이</a:t>
            </a:r>
            <a:r>
              <a:rPr dirty="0"/>
              <a:t> </a:t>
            </a:r>
            <a:r>
              <a:rPr dirty="0" err="1"/>
              <a:t>더</a:t>
            </a:r>
            <a:r>
              <a:rPr dirty="0"/>
              <a:t> </a:t>
            </a:r>
            <a:r>
              <a:rPr dirty="0" err="1"/>
              <a:t>견고해질</a:t>
            </a:r>
            <a:r>
              <a:rPr dirty="0"/>
              <a:t> </a:t>
            </a:r>
            <a:r>
              <a:rPr dirty="0" err="1"/>
              <a:t>수</a:t>
            </a:r>
            <a:r>
              <a:rPr dirty="0"/>
              <a:t> </a:t>
            </a:r>
            <a:r>
              <a:rPr dirty="0" err="1"/>
              <a:t>있음을</a:t>
            </a:r>
            <a:r>
              <a:rPr dirty="0"/>
              <a:t> </a:t>
            </a:r>
            <a:r>
              <a:rPr dirty="0" err="1"/>
              <a:t>보여</a:t>
            </a:r>
            <a:r>
              <a:rPr dirty="0"/>
              <a:t> </a:t>
            </a:r>
            <a:r>
              <a:rPr dirty="0" err="1"/>
              <a:t>줍니다</a:t>
            </a:r>
            <a:r>
              <a:rPr dirty="0"/>
              <a:t>.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  <a:p>
            <a:r>
              <a:rPr dirty="0" err="1"/>
              <a:t>두</a:t>
            </a:r>
            <a:r>
              <a:rPr dirty="0"/>
              <a:t> </a:t>
            </a:r>
            <a:r>
              <a:rPr dirty="0" err="1"/>
              <a:t>번째</a:t>
            </a:r>
            <a:r>
              <a:rPr dirty="0"/>
              <a:t> </a:t>
            </a:r>
            <a:r>
              <a:rPr dirty="0" err="1"/>
              <a:t>논문으로</a:t>
            </a:r>
            <a:r>
              <a:rPr dirty="0"/>
              <a:t> </a:t>
            </a:r>
            <a:r>
              <a:rPr dirty="0" err="1"/>
              <a:t>넘어가겠습니다</a:t>
            </a:r>
            <a:r>
              <a:rPr dirty="0"/>
              <a:t>.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  <a:p>
            <a:r>
              <a:rPr dirty="0" err="1"/>
              <a:t>두</a:t>
            </a:r>
            <a:r>
              <a:rPr dirty="0"/>
              <a:t> </a:t>
            </a:r>
            <a:r>
              <a:rPr dirty="0" err="1"/>
              <a:t>번째입니다</a:t>
            </a:r>
            <a:r>
              <a:rPr dirty="0"/>
              <a:t>. DeepSeek-R1 </a:t>
            </a:r>
            <a:r>
              <a:rPr dirty="0" err="1"/>
              <a:t>이후</a:t>
            </a:r>
            <a:r>
              <a:rPr dirty="0"/>
              <a:t>, </a:t>
            </a:r>
            <a:r>
              <a:rPr dirty="0" err="1"/>
              <a:t>정답</a:t>
            </a:r>
            <a:r>
              <a:rPr dirty="0"/>
              <a:t> </a:t>
            </a:r>
            <a:r>
              <a:rPr dirty="0" err="1"/>
              <a:t>여부만으로</a:t>
            </a:r>
            <a:r>
              <a:rPr dirty="0"/>
              <a:t> </a:t>
            </a:r>
            <a:r>
              <a:rPr dirty="0" err="1"/>
              <a:t>보상을</a:t>
            </a:r>
            <a:r>
              <a:rPr dirty="0"/>
              <a:t> </a:t>
            </a:r>
            <a:r>
              <a:rPr dirty="0" err="1"/>
              <a:t>주는</a:t>
            </a:r>
            <a:r>
              <a:rPr dirty="0"/>
              <a:t> </a:t>
            </a:r>
            <a:r>
              <a:rPr dirty="0" err="1"/>
              <a:t>강화학습</a:t>
            </a:r>
            <a:r>
              <a:rPr dirty="0"/>
              <a:t>, </a:t>
            </a:r>
            <a:r>
              <a:rPr dirty="0" err="1"/>
              <a:t>즉</a:t>
            </a:r>
            <a:r>
              <a:rPr dirty="0"/>
              <a:t> </a:t>
            </a:r>
            <a:r>
              <a:rPr dirty="0" err="1"/>
              <a:t>RLVR이</a:t>
            </a:r>
            <a:r>
              <a:rPr dirty="0"/>
              <a:t> </a:t>
            </a:r>
            <a:r>
              <a:rPr dirty="0" err="1"/>
              <a:t>추론</a:t>
            </a:r>
            <a:r>
              <a:rPr dirty="0"/>
              <a:t> </a:t>
            </a:r>
            <a:r>
              <a:rPr dirty="0" err="1"/>
              <a:t>모델</a:t>
            </a:r>
            <a:r>
              <a:rPr dirty="0"/>
              <a:t> </a:t>
            </a:r>
            <a:r>
              <a:rPr dirty="0" err="1"/>
              <a:t>학습의</a:t>
            </a:r>
            <a:r>
              <a:rPr dirty="0"/>
              <a:t> </a:t>
            </a:r>
            <a:r>
              <a:rPr dirty="0" err="1"/>
              <a:t>표준처럼</a:t>
            </a:r>
            <a:r>
              <a:rPr dirty="0"/>
              <a:t> </a:t>
            </a:r>
            <a:r>
              <a:rPr dirty="0" err="1"/>
              <a:t>자리</a:t>
            </a:r>
            <a:r>
              <a:rPr dirty="0"/>
              <a:t> </a:t>
            </a:r>
            <a:r>
              <a:rPr dirty="0" err="1"/>
              <a:t>잡았습니다</a:t>
            </a:r>
            <a:r>
              <a:rPr dirty="0"/>
              <a:t>. </a:t>
            </a:r>
            <a:r>
              <a:rPr dirty="0" err="1"/>
              <a:t>그런데</a:t>
            </a:r>
            <a:r>
              <a:rPr dirty="0"/>
              <a:t> </a:t>
            </a:r>
            <a:r>
              <a:rPr dirty="0" err="1"/>
              <a:t>이상한</a:t>
            </a:r>
            <a:r>
              <a:rPr dirty="0"/>
              <a:t> </a:t>
            </a:r>
            <a:r>
              <a:rPr dirty="0" err="1"/>
              <a:t>관찰이</a:t>
            </a:r>
            <a:r>
              <a:rPr dirty="0"/>
              <a:t> </a:t>
            </a:r>
            <a:r>
              <a:rPr dirty="0" err="1"/>
              <a:t>있었습니다</a:t>
            </a:r>
            <a:r>
              <a:rPr dirty="0"/>
              <a:t>. </a:t>
            </a:r>
            <a:r>
              <a:rPr dirty="0" err="1"/>
              <a:t>RLVR을</a:t>
            </a:r>
            <a:r>
              <a:rPr dirty="0"/>
              <a:t> </a:t>
            </a:r>
            <a:r>
              <a:rPr dirty="0" err="1"/>
              <a:t>거친</a:t>
            </a:r>
            <a:r>
              <a:rPr dirty="0"/>
              <a:t> </a:t>
            </a:r>
            <a:r>
              <a:rPr dirty="0" err="1"/>
              <a:t>모델은</a:t>
            </a:r>
            <a:r>
              <a:rPr dirty="0"/>
              <a:t> </a:t>
            </a:r>
            <a:r>
              <a:rPr dirty="0" err="1"/>
              <a:t>한</a:t>
            </a:r>
            <a:r>
              <a:rPr dirty="0"/>
              <a:t> </a:t>
            </a:r>
            <a:r>
              <a:rPr dirty="0" err="1"/>
              <a:t>번에</a:t>
            </a:r>
            <a:r>
              <a:rPr dirty="0"/>
              <a:t> </a:t>
            </a:r>
            <a:r>
              <a:rPr dirty="0" err="1"/>
              <a:t>맞히는</a:t>
            </a:r>
            <a:r>
              <a:rPr dirty="0"/>
              <a:t> Pass@1은 </a:t>
            </a:r>
            <a:r>
              <a:rPr dirty="0" err="1"/>
              <a:t>높은데</a:t>
            </a:r>
            <a:r>
              <a:rPr dirty="0"/>
              <a:t>, </a:t>
            </a:r>
            <a:r>
              <a:rPr dirty="0" err="1"/>
              <a:t>여러</a:t>
            </a:r>
            <a:r>
              <a:rPr dirty="0"/>
              <a:t> </a:t>
            </a:r>
            <a:r>
              <a:rPr dirty="0" err="1"/>
              <a:t>번</a:t>
            </a:r>
            <a:r>
              <a:rPr dirty="0"/>
              <a:t> </a:t>
            </a:r>
            <a:r>
              <a:rPr dirty="0" err="1"/>
              <a:t>샘플링하는</a:t>
            </a:r>
            <a:r>
              <a:rPr dirty="0"/>
              <a:t> </a:t>
            </a:r>
            <a:r>
              <a:rPr dirty="0" err="1"/>
              <a:t>Pass@K에서</a:t>
            </a:r>
            <a:r>
              <a:rPr dirty="0"/>
              <a:t> </a:t>
            </a:r>
            <a:r>
              <a:rPr dirty="0" err="1"/>
              <a:t>K를</a:t>
            </a:r>
            <a:r>
              <a:rPr dirty="0"/>
              <a:t> </a:t>
            </a:r>
            <a:r>
              <a:rPr dirty="0" err="1"/>
              <a:t>키우면</a:t>
            </a:r>
            <a:r>
              <a:rPr dirty="0"/>
              <a:t> </a:t>
            </a:r>
            <a:r>
              <a:rPr dirty="0" err="1"/>
              <a:t>오히려</a:t>
            </a:r>
            <a:r>
              <a:rPr dirty="0"/>
              <a:t> </a:t>
            </a:r>
            <a:r>
              <a:rPr dirty="0" err="1"/>
              <a:t>베이스</a:t>
            </a:r>
            <a:r>
              <a:rPr dirty="0"/>
              <a:t> </a:t>
            </a:r>
            <a:r>
              <a:rPr dirty="0" err="1"/>
              <a:t>모델이</a:t>
            </a:r>
            <a:r>
              <a:rPr dirty="0"/>
              <a:t> </a:t>
            </a:r>
            <a:r>
              <a:rPr dirty="0" err="1"/>
              <a:t>따라잡거나</a:t>
            </a:r>
            <a:r>
              <a:rPr dirty="0"/>
              <a:t> </a:t>
            </a:r>
            <a:r>
              <a:rPr dirty="0" err="1"/>
              <a:t>앞서는</a:t>
            </a:r>
            <a:r>
              <a:rPr dirty="0"/>
              <a:t> </a:t>
            </a:r>
            <a:r>
              <a:rPr dirty="0" err="1"/>
              <a:t>겁니다</a:t>
            </a:r>
            <a:r>
              <a:rPr dirty="0"/>
              <a:t>. </a:t>
            </a:r>
            <a:r>
              <a:rPr dirty="0" err="1"/>
              <a:t>그래서</a:t>
            </a:r>
            <a:r>
              <a:rPr dirty="0"/>
              <a:t> </a:t>
            </a:r>
            <a:r>
              <a:rPr dirty="0" err="1"/>
              <a:t>RLVR은</a:t>
            </a:r>
            <a:r>
              <a:rPr dirty="0"/>
              <a:t> </a:t>
            </a:r>
            <a:r>
              <a:rPr dirty="0" err="1"/>
              <a:t>새로운</a:t>
            </a:r>
            <a:r>
              <a:rPr dirty="0"/>
              <a:t> </a:t>
            </a:r>
            <a:r>
              <a:rPr dirty="0" err="1"/>
              <a:t>추론을</a:t>
            </a:r>
            <a:r>
              <a:rPr dirty="0"/>
              <a:t> </a:t>
            </a:r>
            <a:r>
              <a:rPr dirty="0" err="1"/>
              <a:t>가르치는</a:t>
            </a:r>
            <a:r>
              <a:rPr dirty="0"/>
              <a:t> </a:t>
            </a:r>
            <a:r>
              <a:rPr dirty="0" err="1"/>
              <a:t>게</a:t>
            </a:r>
            <a:r>
              <a:rPr dirty="0"/>
              <a:t> </a:t>
            </a:r>
            <a:r>
              <a:rPr dirty="0" err="1"/>
              <a:t>아니라</a:t>
            </a:r>
            <a:r>
              <a:rPr dirty="0"/>
              <a:t>, </a:t>
            </a:r>
            <a:r>
              <a:rPr dirty="0" err="1"/>
              <a:t>베이스</a:t>
            </a:r>
            <a:r>
              <a:rPr dirty="0"/>
              <a:t> </a:t>
            </a:r>
            <a:r>
              <a:rPr dirty="0" err="1"/>
              <a:t>모델에</a:t>
            </a:r>
            <a:r>
              <a:rPr dirty="0"/>
              <a:t> </a:t>
            </a:r>
            <a:r>
              <a:rPr dirty="0" err="1"/>
              <a:t>이미</a:t>
            </a:r>
            <a:r>
              <a:rPr dirty="0"/>
              <a:t> </a:t>
            </a:r>
            <a:r>
              <a:rPr dirty="0" err="1"/>
              <a:t>있던</a:t>
            </a:r>
            <a:r>
              <a:rPr dirty="0"/>
              <a:t> </a:t>
            </a:r>
            <a:r>
              <a:rPr dirty="0" err="1"/>
              <a:t>경로의</a:t>
            </a:r>
            <a:r>
              <a:rPr dirty="0"/>
              <a:t> </a:t>
            </a:r>
            <a:r>
              <a:rPr dirty="0" err="1"/>
              <a:t>확률만</a:t>
            </a:r>
            <a:r>
              <a:rPr dirty="0"/>
              <a:t> </a:t>
            </a:r>
            <a:r>
              <a:rPr dirty="0" err="1"/>
              <a:t>재조정할</a:t>
            </a:r>
            <a:r>
              <a:rPr dirty="0"/>
              <a:t> </a:t>
            </a:r>
            <a:r>
              <a:rPr dirty="0" err="1"/>
              <a:t>뿐이라는</a:t>
            </a:r>
            <a:r>
              <a:rPr dirty="0"/>
              <a:t> </a:t>
            </a:r>
            <a:r>
              <a:rPr dirty="0" err="1"/>
              <a:t>가설이</a:t>
            </a:r>
            <a:r>
              <a:rPr dirty="0"/>
              <a:t> </a:t>
            </a:r>
            <a:r>
              <a:rPr dirty="0" err="1"/>
              <a:t>힘을</a:t>
            </a:r>
            <a:r>
              <a:rPr dirty="0"/>
              <a:t> </a:t>
            </a:r>
            <a:r>
              <a:rPr dirty="0" err="1"/>
              <a:t>얻었습니다</a:t>
            </a:r>
            <a:r>
              <a:rPr dirty="0"/>
              <a:t>. </a:t>
            </a:r>
            <a:r>
              <a:rPr dirty="0" err="1"/>
              <a:t>이</a:t>
            </a:r>
            <a:r>
              <a:rPr dirty="0"/>
              <a:t> </a:t>
            </a:r>
            <a:r>
              <a:rPr dirty="0" err="1"/>
              <a:t>논문은</a:t>
            </a:r>
            <a:r>
              <a:rPr dirty="0"/>
              <a:t> </a:t>
            </a:r>
            <a:r>
              <a:rPr dirty="0" err="1"/>
              <a:t>바로</a:t>
            </a:r>
            <a:r>
              <a:rPr dirty="0"/>
              <a:t> </a:t>
            </a:r>
            <a:r>
              <a:rPr dirty="0" err="1"/>
              <a:t>이</a:t>
            </a:r>
            <a:r>
              <a:rPr dirty="0"/>
              <a:t> </a:t>
            </a:r>
            <a:r>
              <a:rPr dirty="0" err="1"/>
              <a:t>가설에</a:t>
            </a:r>
            <a:r>
              <a:rPr dirty="0"/>
              <a:t> </a:t>
            </a:r>
            <a:r>
              <a:rPr dirty="0" err="1"/>
              <a:t>반론을</a:t>
            </a:r>
            <a:r>
              <a:rPr dirty="0"/>
              <a:t> </a:t>
            </a:r>
            <a:r>
              <a:rPr dirty="0" err="1"/>
              <a:t>제기합니다</a:t>
            </a:r>
            <a:r>
              <a:rPr dirty="0"/>
              <a:t>.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  <a:p>
            <a:r>
              <a:rPr dirty="0" err="1"/>
              <a:t>저자들은</a:t>
            </a:r>
            <a:r>
              <a:rPr dirty="0"/>
              <a:t> </a:t>
            </a:r>
            <a:r>
              <a:rPr dirty="0" err="1"/>
              <a:t>문제가</a:t>
            </a:r>
            <a:r>
              <a:rPr dirty="0"/>
              <a:t> </a:t>
            </a:r>
            <a:r>
              <a:rPr dirty="0" err="1"/>
              <a:t>RLVR이</a:t>
            </a:r>
            <a:r>
              <a:rPr dirty="0"/>
              <a:t> </a:t>
            </a:r>
            <a:r>
              <a:rPr dirty="0" err="1"/>
              <a:t>아니라</a:t>
            </a:r>
            <a:r>
              <a:rPr dirty="0"/>
              <a:t> </a:t>
            </a:r>
            <a:r>
              <a:rPr dirty="0" err="1"/>
              <a:t>Pass@K라는</a:t>
            </a:r>
            <a:r>
              <a:rPr dirty="0"/>
              <a:t> </a:t>
            </a:r>
            <a:r>
              <a:rPr dirty="0" err="1"/>
              <a:t>지표에</a:t>
            </a:r>
            <a:r>
              <a:rPr dirty="0"/>
              <a:t> </a:t>
            </a:r>
            <a:r>
              <a:rPr dirty="0" err="1"/>
              <a:t>있다고</a:t>
            </a:r>
            <a:r>
              <a:rPr dirty="0"/>
              <a:t> </a:t>
            </a:r>
            <a:r>
              <a:rPr dirty="0" err="1"/>
              <a:t>봅니다</a:t>
            </a:r>
            <a:r>
              <a:rPr dirty="0"/>
              <a:t>. </a:t>
            </a:r>
            <a:r>
              <a:rPr dirty="0" err="1"/>
              <a:t>베이스</a:t>
            </a:r>
            <a:r>
              <a:rPr dirty="0"/>
              <a:t> </a:t>
            </a:r>
            <a:r>
              <a:rPr dirty="0" err="1"/>
              <a:t>모델은</a:t>
            </a:r>
            <a:r>
              <a:rPr dirty="0"/>
              <a:t> </a:t>
            </a:r>
            <a:r>
              <a:rPr dirty="0" err="1"/>
              <a:t>틀린</a:t>
            </a:r>
            <a:r>
              <a:rPr dirty="0"/>
              <a:t> </a:t>
            </a:r>
            <a:r>
              <a:rPr dirty="0" err="1"/>
              <a:t>풀이로도</a:t>
            </a:r>
            <a:r>
              <a:rPr dirty="0"/>
              <a:t> </a:t>
            </a:r>
            <a:r>
              <a:rPr dirty="0" err="1"/>
              <a:t>우연히</a:t>
            </a:r>
            <a:r>
              <a:rPr dirty="0"/>
              <a:t> </a:t>
            </a:r>
            <a:r>
              <a:rPr dirty="0" err="1"/>
              <a:t>정답에</a:t>
            </a:r>
            <a:r>
              <a:rPr dirty="0"/>
              <a:t> </a:t>
            </a:r>
            <a:r>
              <a:rPr dirty="0" err="1"/>
              <a:t>도달하는</a:t>
            </a:r>
            <a:r>
              <a:rPr dirty="0"/>
              <a:t> </a:t>
            </a:r>
            <a:r>
              <a:rPr dirty="0" err="1"/>
              <a:t>경우가</a:t>
            </a:r>
            <a:r>
              <a:rPr dirty="0"/>
              <a:t> </a:t>
            </a:r>
            <a:r>
              <a:rPr dirty="0" err="1"/>
              <a:t>많은데</a:t>
            </a:r>
            <a:r>
              <a:rPr dirty="0"/>
              <a:t>, </a:t>
            </a:r>
            <a:r>
              <a:rPr dirty="0" err="1"/>
              <a:t>Pass@K는</a:t>
            </a:r>
            <a:r>
              <a:rPr dirty="0"/>
              <a:t> </a:t>
            </a:r>
            <a:r>
              <a:rPr dirty="0" err="1"/>
              <a:t>이것까지</a:t>
            </a:r>
            <a:r>
              <a:rPr dirty="0"/>
              <a:t> </a:t>
            </a:r>
            <a:r>
              <a:rPr dirty="0" err="1"/>
              <a:t>성공으로</a:t>
            </a:r>
            <a:r>
              <a:rPr dirty="0"/>
              <a:t> </a:t>
            </a:r>
            <a:r>
              <a:rPr dirty="0" err="1"/>
              <a:t>칩니다</a:t>
            </a:r>
            <a:r>
              <a:rPr dirty="0"/>
              <a:t>. </a:t>
            </a:r>
            <a:r>
              <a:rPr dirty="0" err="1"/>
              <a:t>그래서</a:t>
            </a:r>
            <a:r>
              <a:rPr dirty="0"/>
              <a:t> </a:t>
            </a:r>
            <a:r>
              <a:rPr dirty="0" err="1"/>
              <a:t>추론</a:t>
            </a:r>
            <a:r>
              <a:rPr dirty="0"/>
              <a:t> </a:t>
            </a:r>
            <a:r>
              <a:rPr dirty="0" err="1"/>
              <a:t>과정과</a:t>
            </a:r>
            <a:r>
              <a:rPr dirty="0"/>
              <a:t> </a:t>
            </a:r>
            <a:r>
              <a:rPr dirty="0" err="1"/>
              <a:t>최종</a:t>
            </a:r>
            <a:r>
              <a:rPr dirty="0"/>
              <a:t> </a:t>
            </a:r>
            <a:r>
              <a:rPr dirty="0" err="1"/>
              <a:t>답이</a:t>
            </a:r>
            <a:r>
              <a:rPr dirty="0"/>
              <a:t> </a:t>
            </a:r>
            <a:r>
              <a:rPr dirty="0" err="1"/>
              <a:t>모두</a:t>
            </a:r>
            <a:r>
              <a:rPr dirty="0"/>
              <a:t> </a:t>
            </a:r>
            <a:r>
              <a:rPr dirty="0" err="1"/>
              <a:t>맞아야</a:t>
            </a:r>
            <a:r>
              <a:rPr dirty="0"/>
              <a:t> </a:t>
            </a:r>
            <a:r>
              <a:rPr dirty="0" err="1"/>
              <a:t>성공으로</a:t>
            </a:r>
            <a:r>
              <a:rPr dirty="0"/>
              <a:t> </a:t>
            </a:r>
            <a:r>
              <a:rPr dirty="0" err="1"/>
              <a:t>인정하는</a:t>
            </a:r>
            <a:r>
              <a:rPr dirty="0"/>
              <a:t> </a:t>
            </a:r>
            <a:r>
              <a:rPr dirty="0" err="1"/>
              <a:t>CoT-Pass@K를</a:t>
            </a:r>
            <a:r>
              <a:rPr dirty="0"/>
              <a:t> </a:t>
            </a:r>
            <a:r>
              <a:rPr dirty="0" err="1"/>
              <a:t>제안합니다</a:t>
            </a:r>
            <a:r>
              <a:rPr dirty="0"/>
              <a:t>. </a:t>
            </a:r>
            <a:r>
              <a:rPr dirty="0" err="1"/>
              <a:t>추론이</a:t>
            </a:r>
            <a:r>
              <a:rPr dirty="0"/>
              <a:t> </a:t>
            </a:r>
            <a:r>
              <a:rPr dirty="0" err="1"/>
              <a:t>맞는지는</a:t>
            </a:r>
            <a:r>
              <a:rPr dirty="0"/>
              <a:t> DeepSeek-R1 </a:t>
            </a:r>
            <a:r>
              <a:rPr dirty="0" err="1"/>
              <a:t>기반</a:t>
            </a:r>
            <a:r>
              <a:rPr dirty="0"/>
              <a:t> 8B </a:t>
            </a:r>
            <a:r>
              <a:rPr dirty="0" err="1"/>
              <a:t>모델을</a:t>
            </a:r>
            <a:r>
              <a:rPr dirty="0"/>
              <a:t> </a:t>
            </a:r>
            <a:r>
              <a:rPr dirty="0" err="1"/>
              <a:t>판정자로</a:t>
            </a:r>
            <a:r>
              <a:rPr dirty="0"/>
              <a:t> </a:t>
            </a:r>
            <a:r>
              <a:rPr dirty="0" err="1"/>
              <a:t>써서</a:t>
            </a:r>
            <a:r>
              <a:rPr dirty="0"/>
              <a:t> </a:t>
            </a:r>
            <a:r>
              <a:rPr dirty="0" err="1"/>
              <a:t>세</a:t>
            </a:r>
            <a:r>
              <a:rPr dirty="0"/>
              <a:t> </a:t>
            </a:r>
            <a:r>
              <a:rPr dirty="0" err="1"/>
              <a:t>번씩</a:t>
            </a:r>
            <a:r>
              <a:rPr dirty="0"/>
              <a:t> </a:t>
            </a:r>
            <a:r>
              <a:rPr dirty="0" err="1"/>
              <a:t>검증했습니다</a:t>
            </a:r>
            <a:r>
              <a:rPr dirty="0"/>
              <a:t>. </a:t>
            </a:r>
            <a:r>
              <a:rPr dirty="0" err="1"/>
              <a:t>이론적으로도</a:t>
            </a:r>
            <a:r>
              <a:rPr dirty="0"/>
              <a:t>, </a:t>
            </a:r>
            <a:r>
              <a:rPr dirty="0" err="1"/>
              <a:t>올바른</a:t>
            </a:r>
            <a:r>
              <a:rPr dirty="0"/>
              <a:t> </a:t>
            </a:r>
            <a:r>
              <a:rPr dirty="0" err="1"/>
              <a:t>추론이</a:t>
            </a:r>
            <a:r>
              <a:rPr dirty="0"/>
              <a:t> </a:t>
            </a:r>
            <a:r>
              <a:rPr dirty="0" err="1"/>
              <a:t>틀린</a:t>
            </a:r>
            <a:r>
              <a:rPr dirty="0"/>
              <a:t> </a:t>
            </a:r>
            <a:r>
              <a:rPr dirty="0" err="1"/>
              <a:t>추론보다</a:t>
            </a:r>
            <a:r>
              <a:rPr dirty="0"/>
              <a:t> </a:t>
            </a:r>
            <a:r>
              <a:rPr dirty="0" err="1"/>
              <a:t>정답을</a:t>
            </a:r>
            <a:r>
              <a:rPr dirty="0"/>
              <a:t> </a:t>
            </a:r>
            <a:r>
              <a:rPr dirty="0" err="1"/>
              <a:t>낼</a:t>
            </a:r>
            <a:r>
              <a:rPr dirty="0"/>
              <a:t> </a:t>
            </a:r>
            <a:r>
              <a:rPr dirty="0" err="1"/>
              <a:t>확률이</a:t>
            </a:r>
            <a:r>
              <a:rPr dirty="0"/>
              <a:t> </a:t>
            </a:r>
            <a:r>
              <a:rPr dirty="0" err="1"/>
              <a:t>높다는</a:t>
            </a:r>
            <a:r>
              <a:rPr dirty="0"/>
              <a:t> </a:t>
            </a:r>
            <a:r>
              <a:rPr dirty="0" err="1"/>
              <a:t>가정만</a:t>
            </a:r>
            <a:r>
              <a:rPr dirty="0"/>
              <a:t> </a:t>
            </a:r>
            <a:r>
              <a:rPr dirty="0" err="1"/>
              <a:t>있으면</a:t>
            </a:r>
            <a:r>
              <a:rPr dirty="0"/>
              <a:t>, </a:t>
            </a:r>
            <a:r>
              <a:rPr dirty="0" err="1"/>
              <a:t>GRPO의</a:t>
            </a:r>
            <a:r>
              <a:rPr dirty="0"/>
              <a:t> advantage </a:t>
            </a:r>
            <a:r>
              <a:rPr dirty="0" err="1"/>
              <a:t>기댓값이</a:t>
            </a:r>
            <a:r>
              <a:rPr dirty="0"/>
              <a:t> </a:t>
            </a:r>
            <a:r>
              <a:rPr dirty="0" err="1"/>
              <a:t>올바른</a:t>
            </a:r>
            <a:r>
              <a:rPr dirty="0"/>
              <a:t> </a:t>
            </a:r>
            <a:r>
              <a:rPr dirty="0" err="1"/>
              <a:t>추론에서는</a:t>
            </a:r>
            <a:r>
              <a:rPr dirty="0"/>
              <a:t> </a:t>
            </a:r>
            <a:r>
              <a:rPr dirty="0" err="1"/>
              <a:t>양수</a:t>
            </a:r>
            <a:r>
              <a:rPr dirty="0"/>
              <a:t>, </a:t>
            </a:r>
            <a:r>
              <a:rPr dirty="0" err="1"/>
              <a:t>틀린</a:t>
            </a:r>
            <a:r>
              <a:rPr dirty="0"/>
              <a:t> </a:t>
            </a:r>
            <a:r>
              <a:rPr dirty="0" err="1"/>
              <a:t>추론에서는</a:t>
            </a:r>
            <a:r>
              <a:rPr dirty="0"/>
              <a:t> </a:t>
            </a:r>
            <a:r>
              <a:rPr dirty="0" err="1"/>
              <a:t>음수가</a:t>
            </a:r>
            <a:r>
              <a:rPr dirty="0"/>
              <a:t> </a:t>
            </a:r>
            <a:r>
              <a:rPr dirty="0" err="1"/>
              <a:t>된다는</a:t>
            </a:r>
            <a:r>
              <a:rPr dirty="0"/>
              <a:t> </a:t>
            </a:r>
            <a:r>
              <a:rPr dirty="0" err="1"/>
              <a:t>것을</a:t>
            </a:r>
            <a:r>
              <a:rPr dirty="0"/>
              <a:t> </a:t>
            </a:r>
            <a:r>
              <a:rPr dirty="0" err="1"/>
              <a:t>보였습니다</a:t>
            </a:r>
            <a:r>
              <a:rPr dirty="0"/>
              <a:t>. </a:t>
            </a:r>
            <a:r>
              <a:rPr dirty="0" err="1"/>
              <a:t>즉</a:t>
            </a:r>
            <a:r>
              <a:rPr dirty="0"/>
              <a:t>, </a:t>
            </a:r>
            <a:r>
              <a:rPr dirty="0" err="1"/>
              <a:t>답만</a:t>
            </a:r>
            <a:r>
              <a:rPr dirty="0"/>
              <a:t> </a:t>
            </a:r>
            <a:r>
              <a:rPr dirty="0" err="1"/>
              <a:t>보상해도</a:t>
            </a:r>
            <a:r>
              <a:rPr dirty="0"/>
              <a:t> </a:t>
            </a:r>
            <a:r>
              <a:rPr dirty="0" err="1"/>
              <a:t>올바른</a:t>
            </a:r>
            <a:r>
              <a:rPr dirty="0"/>
              <a:t> </a:t>
            </a:r>
            <a:r>
              <a:rPr dirty="0" err="1"/>
              <a:t>추론이</a:t>
            </a:r>
            <a:r>
              <a:rPr dirty="0"/>
              <a:t> </a:t>
            </a:r>
            <a:r>
              <a:rPr dirty="0" err="1"/>
              <a:t>암묵적으로</a:t>
            </a:r>
            <a:r>
              <a:rPr dirty="0"/>
              <a:t> </a:t>
            </a:r>
            <a:r>
              <a:rPr dirty="0" err="1"/>
              <a:t>강화된다는</a:t>
            </a:r>
            <a:r>
              <a:rPr dirty="0"/>
              <a:t> </a:t>
            </a:r>
            <a:r>
              <a:rPr dirty="0" err="1"/>
              <a:t>겁니다</a:t>
            </a:r>
            <a:r>
              <a:rPr dirty="0"/>
              <a:t>.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26accca8d11_0_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26accca8d11_0_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endParaRPr dirty="0"/>
          </a:p>
          <a:p>
            <a:r>
              <a:rPr dirty="0"/>
              <a:t>Qwen2.5-32B </a:t>
            </a:r>
            <a:r>
              <a:rPr dirty="0" err="1"/>
              <a:t>베이스</a:t>
            </a:r>
            <a:r>
              <a:rPr dirty="0"/>
              <a:t> </a:t>
            </a:r>
            <a:r>
              <a:rPr dirty="0" err="1"/>
              <a:t>모델과</a:t>
            </a:r>
            <a:r>
              <a:rPr dirty="0"/>
              <a:t> </a:t>
            </a:r>
            <a:r>
              <a:rPr dirty="0" err="1"/>
              <a:t>RLVR로</a:t>
            </a:r>
            <a:r>
              <a:rPr dirty="0"/>
              <a:t> </a:t>
            </a:r>
            <a:r>
              <a:rPr dirty="0" err="1"/>
              <a:t>학습한</a:t>
            </a:r>
            <a:r>
              <a:rPr dirty="0"/>
              <a:t> DAPO </a:t>
            </a:r>
            <a:r>
              <a:rPr dirty="0" err="1"/>
              <a:t>모델을</a:t>
            </a:r>
            <a:r>
              <a:rPr dirty="0"/>
              <a:t> </a:t>
            </a:r>
            <a:r>
              <a:rPr dirty="0" err="1"/>
              <a:t>비교했습니다</a:t>
            </a:r>
            <a:r>
              <a:rPr dirty="0"/>
              <a:t>. </a:t>
            </a:r>
            <a:r>
              <a:rPr dirty="0" err="1"/>
              <a:t>기존</a:t>
            </a:r>
            <a:r>
              <a:rPr dirty="0"/>
              <a:t> </a:t>
            </a:r>
            <a:r>
              <a:rPr dirty="0" err="1"/>
              <a:t>Pass@K로는</a:t>
            </a:r>
            <a:r>
              <a:rPr dirty="0"/>
              <a:t> </a:t>
            </a:r>
            <a:r>
              <a:rPr dirty="0" err="1"/>
              <a:t>K가</a:t>
            </a:r>
            <a:r>
              <a:rPr dirty="0"/>
              <a:t> </a:t>
            </a:r>
            <a:r>
              <a:rPr dirty="0" err="1"/>
              <a:t>커질수록</a:t>
            </a:r>
            <a:r>
              <a:rPr dirty="0"/>
              <a:t> </a:t>
            </a:r>
            <a:r>
              <a:rPr dirty="0" err="1"/>
              <a:t>격차가</a:t>
            </a:r>
            <a:r>
              <a:rPr dirty="0"/>
              <a:t> </a:t>
            </a:r>
            <a:r>
              <a:rPr dirty="0" err="1"/>
              <a:t>사라졌지만</a:t>
            </a:r>
            <a:r>
              <a:rPr dirty="0"/>
              <a:t>, </a:t>
            </a:r>
            <a:r>
              <a:rPr dirty="0" err="1"/>
              <a:t>CoT-Pass@K로</a:t>
            </a:r>
            <a:r>
              <a:rPr dirty="0"/>
              <a:t> </a:t>
            </a:r>
            <a:r>
              <a:rPr dirty="0" err="1"/>
              <a:t>보면</a:t>
            </a:r>
            <a:r>
              <a:rPr dirty="0"/>
              <a:t> AIME 2024와 2025에서 </a:t>
            </a:r>
            <a:r>
              <a:rPr dirty="0" err="1"/>
              <a:t>K가</a:t>
            </a:r>
            <a:r>
              <a:rPr dirty="0"/>
              <a:t> 1,024일 </a:t>
            </a:r>
            <a:r>
              <a:rPr dirty="0" err="1"/>
              <a:t>때까지도</a:t>
            </a:r>
            <a:r>
              <a:rPr dirty="0"/>
              <a:t> RLVR </a:t>
            </a:r>
            <a:r>
              <a:rPr dirty="0" err="1"/>
              <a:t>모델이</a:t>
            </a:r>
            <a:r>
              <a:rPr dirty="0"/>
              <a:t> </a:t>
            </a:r>
            <a:r>
              <a:rPr dirty="0" err="1"/>
              <a:t>확실히</a:t>
            </a:r>
            <a:r>
              <a:rPr dirty="0"/>
              <a:t> </a:t>
            </a:r>
            <a:r>
              <a:rPr dirty="0" err="1"/>
              <a:t>앞섰습니다</a:t>
            </a:r>
            <a:r>
              <a:rPr dirty="0"/>
              <a:t>. </a:t>
            </a:r>
            <a:r>
              <a:rPr dirty="0" err="1"/>
              <a:t>특히</a:t>
            </a:r>
            <a:r>
              <a:rPr dirty="0"/>
              <a:t> </a:t>
            </a:r>
            <a:r>
              <a:rPr dirty="0" err="1"/>
              <a:t>데이터</a:t>
            </a:r>
            <a:r>
              <a:rPr dirty="0"/>
              <a:t> </a:t>
            </a:r>
            <a:r>
              <a:rPr dirty="0" err="1"/>
              <a:t>오염이</a:t>
            </a:r>
            <a:r>
              <a:rPr dirty="0"/>
              <a:t> </a:t>
            </a:r>
            <a:r>
              <a:rPr dirty="0" err="1"/>
              <a:t>없는</a:t>
            </a:r>
            <a:r>
              <a:rPr dirty="0"/>
              <a:t> AIME 2025에서 </a:t>
            </a:r>
            <a:r>
              <a:rPr dirty="0" err="1"/>
              <a:t>차이가</a:t>
            </a:r>
            <a:r>
              <a:rPr dirty="0"/>
              <a:t> </a:t>
            </a:r>
            <a:r>
              <a:rPr dirty="0" err="1"/>
              <a:t>뚜렷했습니다</a:t>
            </a:r>
            <a:r>
              <a:rPr dirty="0"/>
              <a:t>. </a:t>
            </a:r>
            <a:r>
              <a:rPr dirty="0" err="1"/>
              <a:t>학습</a:t>
            </a:r>
            <a:r>
              <a:rPr dirty="0"/>
              <a:t> </a:t>
            </a:r>
            <a:r>
              <a:rPr dirty="0" err="1"/>
              <a:t>과정을</a:t>
            </a:r>
            <a:r>
              <a:rPr dirty="0"/>
              <a:t> </a:t>
            </a:r>
            <a:r>
              <a:rPr dirty="0" err="1"/>
              <a:t>보면</a:t>
            </a:r>
            <a:r>
              <a:rPr dirty="0"/>
              <a:t>, </a:t>
            </a:r>
            <a:r>
              <a:rPr dirty="0" err="1"/>
              <a:t>올바른</a:t>
            </a:r>
            <a:r>
              <a:rPr dirty="0"/>
              <a:t> </a:t>
            </a:r>
            <a:r>
              <a:rPr dirty="0" err="1"/>
              <a:t>추론의</a:t>
            </a:r>
            <a:r>
              <a:rPr dirty="0"/>
              <a:t> </a:t>
            </a:r>
            <a:r>
              <a:rPr dirty="0" err="1"/>
              <a:t>비율은</a:t>
            </a:r>
            <a:r>
              <a:rPr dirty="0"/>
              <a:t> </a:t>
            </a:r>
            <a:r>
              <a:rPr dirty="0" err="1"/>
              <a:t>학습</a:t>
            </a:r>
            <a:r>
              <a:rPr dirty="0"/>
              <a:t> </a:t>
            </a:r>
            <a:r>
              <a:rPr dirty="0" err="1"/>
              <a:t>초반부터</a:t>
            </a:r>
            <a:r>
              <a:rPr dirty="0"/>
              <a:t> </a:t>
            </a:r>
            <a:r>
              <a:rPr dirty="0" err="1"/>
              <a:t>올라가기</a:t>
            </a:r>
            <a:r>
              <a:rPr dirty="0"/>
              <a:t> </a:t>
            </a:r>
            <a:r>
              <a:rPr dirty="0" err="1"/>
              <a:t>시작해</a:t>
            </a:r>
            <a:r>
              <a:rPr dirty="0"/>
              <a:t> </a:t>
            </a:r>
            <a:r>
              <a:rPr dirty="0" err="1"/>
              <a:t>처음</a:t>
            </a:r>
            <a:r>
              <a:rPr dirty="0"/>
              <a:t> 20스텝 </a:t>
            </a:r>
            <a:r>
              <a:rPr dirty="0" err="1"/>
              <a:t>정도</a:t>
            </a:r>
            <a:r>
              <a:rPr dirty="0"/>
              <a:t> </a:t>
            </a:r>
            <a:r>
              <a:rPr dirty="0" err="1"/>
              <a:t>만에</a:t>
            </a:r>
            <a:r>
              <a:rPr dirty="0"/>
              <a:t> </a:t>
            </a:r>
            <a:r>
              <a:rPr dirty="0" err="1"/>
              <a:t>새로운</a:t>
            </a:r>
            <a:r>
              <a:rPr dirty="0"/>
              <a:t> </a:t>
            </a:r>
            <a:r>
              <a:rPr dirty="0" err="1"/>
              <a:t>문제로도</a:t>
            </a:r>
            <a:r>
              <a:rPr dirty="0"/>
              <a:t> </a:t>
            </a:r>
            <a:r>
              <a:rPr dirty="0" err="1"/>
              <a:t>일반화됐습니다</a:t>
            </a:r>
            <a:r>
              <a:rPr dirty="0"/>
              <a:t>. </a:t>
            </a:r>
            <a:r>
              <a:rPr dirty="0" err="1"/>
              <a:t>반대로</a:t>
            </a:r>
            <a:r>
              <a:rPr dirty="0"/>
              <a:t> </a:t>
            </a:r>
            <a:r>
              <a:rPr dirty="0" err="1"/>
              <a:t>정답률이</a:t>
            </a:r>
            <a:r>
              <a:rPr dirty="0"/>
              <a:t> </a:t>
            </a:r>
            <a:r>
              <a:rPr dirty="0" err="1"/>
              <a:t>거의</a:t>
            </a:r>
            <a:r>
              <a:rPr dirty="0"/>
              <a:t> 100퍼센트인 </a:t>
            </a:r>
            <a:r>
              <a:rPr dirty="0" err="1"/>
              <a:t>쉬운</a:t>
            </a:r>
            <a:r>
              <a:rPr dirty="0"/>
              <a:t> </a:t>
            </a:r>
            <a:r>
              <a:rPr dirty="0" err="1"/>
              <a:t>문제에서도</a:t>
            </a:r>
            <a:r>
              <a:rPr dirty="0"/>
              <a:t> </a:t>
            </a:r>
            <a:r>
              <a:rPr dirty="0" err="1"/>
              <a:t>풀이</a:t>
            </a:r>
            <a:r>
              <a:rPr dirty="0"/>
              <a:t> </a:t>
            </a:r>
            <a:r>
              <a:rPr dirty="0" err="1"/>
              <a:t>과정에는</a:t>
            </a:r>
            <a:r>
              <a:rPr dirty="0"/>
              <a:t> </a:t>
            </a:r>
            <a:r>
              <a:rPr dirty="0" err="1"/>
              <a:t>여전히</a:t>
            </a:r>
            <a:r>
              <a:rPr dirty="0"/>
              <a:t> </a:t>
            </a:r>
            <a:r>
              <a:rPr dirty="0" err="1"/>
              <a:t>오류가</a:t>
            </a:r>
            <a:r>
              <a:rPr dirty="0"/>
              <a:t> </a:t>
            </a:r>
            <a:r>
              <a:rPr dirty="0" err="1"/>
              <a:t>많아서</a:t>
            </a:r>
            <a:r>
              <a:rPr dirty="0"/>
              <a:t>, </a:t>
            </a:r>
            <a:r>
              <a:rPr dirty="0" err="1"/>
              <a:t>정답률만</a:t>
            </a:r>
            <a:r>
              <a:rPr dirty="0"/>
              <a:t> </a:t>
            </a:r>
            <a:r>
              <a:rPr dirty="0" err="1"/>
              <a:t>보면</a:t>
            </a:r>
            <a:r>
              <a:rPr dirty="0"/>
              <a:t> </a:t>
            </a:r>
            <a:r>
              <a:rPr dirty="0" err="1"/>
              <a:t>학습</a:t>
            </a:r>
            <a:r>
              <a:rPr dirty="0"/>
              <a:t> </a:t>
            </a:r>
            <a:r>
              <a:rPr dirty="0" err="1"/>
              <a:t>상태를</a:t>
            </a:r>
            <a:r>
              <a:rPr dirty="0"/>
              <a:t> </a:t>
            </a:r>
            <a:r>
              <a:rPr dirty="0" err="1"/>
              <a:t>착각할</a:t>
            </a:r>
            <a:r>
              <a:rPr dirty="0"/>
              <a:t> </a:t>
            </a:r>
            <a:r>
              <a:rPr dirty="0" err="1"/>
              <a:t>수</a:t>
            </a:r>
            <a:r>
              <a:rPr dirty="0"/>
              <a:t> </a:t>
            </a:r>
            <a:r>
              <a:rPr dirty="0" err="1"/>
              <a:t>있다는</a:t>
            </a:r>
            <a:r>
              <a:rPr dirty="0"/>
              <a:t> </a:t>
            </a:r>
            <a:r>
              <a:rPr dirty="0" err="1"/>
              <a:t>점도</a:t>
            </a:r>
            <a:r>
              <a:rPr dirty="0"/>
              <a:t> </a:t>
            </a:r>
            <a:r>
              <a:rPr dirty="0" err="1"/>
              <a:t>보여</a:t>
            </a:r>
            <a:r>
              <a:rPr dirty="0"/>
              <a:t> </a:t>
            </a:r>
            <a:r>
              <a:rPr dirty="0" err="1"/>
              <a:t>줍니다</a:t>
            </a:r>
            <a:r>
              <a:rPr dirty="0"/>
              <a:t>. </a:t>
            </a:r>
            <a:r>
              <a:rPr dirty="0" err="1"/>
              <a:t>다만</a:t>
            </a:r>
            <a:r>
              <a:rPr dirty="0"/>
              <a:t> </a:t>
            </a:r>
            <a:r>
              <a:rPr dirty="0" err="1"/>
              <a:t>판정을</a:t>
            </a:r>
            <a:r>
              <a:rPr dirty="0"/>
              <a:t> </a:t>
            </a:r>
            <a:r>
              <a:rPr dirty="0" err="1"/>
              <a:t>LLM에</a:t>
            </a:r>
            <a:r>
              <a:rPr dirty="0"/>
              <a:t> </a:t>
            </a:r>
            <a:r>
              <a:rPr dirty="0" err="1"/>
              <a:t>의존하고</a:t>
            </a:r>
            <a:r>
              <a:rPr dirty="0"/>
              <a:t>, </a:t>
            </a:r>
            <a:r>
              <a:rPr dirty="0" err="1"/>
              <a:t>수학</a:t>
            </a:r>
            <a:r>
              <a:rPr dirty="0"/>
              <a:t> </a:t>
            </a:r>
            <a:r>
              <a:rPr dirty="0" err="1"/>
              <a:t>도메인에</a:t>
            </a:r>
            <a:r>
              <a:rPr dirty="0"/>
              <a:t> </a:t>
            </a:r>
            <a:r>
              <a:rPr dirty="0" err="1"/>
              <a:t>한정됐다는</a:t>
            </a:r>
            <a:r>
              <a:rPr dirty="0"/>
              <a:t> </a:t>
            </a:r>
            <a:r>
              <a:rPr dirty="0" err="1"/>
              <a:t>한계는</a:t>
            </a:r>
            <a:r>
              <a:rPr dirty="0"/>
              <a:t> </a:t>
            </a:r>
            <a:r>
              <a:rPr dirty="0" err="1"/>
              <a:t>있습니다</a:t>
            </a:r>
            <a:r>
              <a:rPr dirty="0"/>
              <a:t>.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1176d744966_0_7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" name="Google Shape;95;g1176d744966_0_7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endParaRPr dirty="0"/>
          </a:p>
          <a:p>
            <a:r>
              <a:rPr dirty="0" err="1"/>
              <a:t>이상으로</a:t>
            </a:r>
            <a:r>
              <a:rPr dirty="0"/>
              <a:t> </a:t>
            </a:r>
            <a:r>
              <a:rPr dirty="0" err="1"/>
              <a:t>두</a:t>
            </a:r>
            <a:r>
              <a:rPr dirty="0"/>
              <a:t> </a:t>
            </a:r>
            <a:r>
              <a:rPr dirty="0" err="1"/>
              <a:t>논문</a:t>
            </a:r>
            <a:r>
              <a:rPr dirty="0"/>
              <a:t> </a:t>
            </a:r>
            <a:r>
              <a:rPr dirty="0" err="1"/>
              <a:t>소개를</a:t>
            </a:r>
            <a:r>
              <a:rPr dirty="0"/>
              <a:t> </a:t>
            </a:r>
            <a:r>
              <a:rPr dirty="0" err="1"/>
              <a:t>마치겠습니다</a:t>
            </a:r>
            <a:r>
              <a:rPr dirty="0"/>
              <a:t>. </a:t>
            </a:r>
            <a:r>
              <a:rPr dirty="0" err="1"/>
              <a:t>들어</a:t>
            </a:r>
            <a:r>
              <a:rPr dirty="0"/>
              <a:t> </a:t>
            </a:r>
            <a:r>
              <a:rPr dirty="0" err="1"/>
              <a:t>주셔서</a:t>
            </a:r>
            <a:r>
              <a:rPr dirty="0"/>
              <a:t> </a:t>
            </a:r>
            <a:r>
              <a:rPr dirty="0" err="1"/>
              <a:t>감사합니다</a:t>
            </a:r>
            <a:r>
              <a:rPr dirty="0"/>
              <a:t>. </a:t>
            </a:r>
            <a:r>
              <a:rPr dirty="0" err="1"/>
              <a:t>질문</a:t>
            </a:r>
            <a:r>
              <a:rPr dirty="0"/>
              <a:t> </a:t>
            </a:r>
            <a:r>
              <a:rPr dirty="0" err="1"/>
              <a:t>있으시면</a:t>
            </a:r>
            <a:r>
              <a:rPr dirty="0"/>
              <a:t> </a:t>
            </a:r>
            <a:r>
              <a:rPr dirty="0" err="1"/>
              <a:t>편하게</a:t>
            </a:r>
            <a:r>
              <a:rPr dirty="0"/>
              <a:t> </a:t>
            </a:r>
            <a:r>
              <a:rPr dirty="0" err="1"/>
              <a:t>해</a:t>
            </a:r>
            <a:r>
              <a:rPr dirty="0"/>
              <a:t> </a:t>
            </a:r>
            <a:r>
              <a:rPr dirty="0" err="1"/>
              <a:t>주세요</a:t>
            </a:r>
            <a:r>
              <a:rPr dirty="0"/>
              <a:t>.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  <p:sp>
        <p:nvSpPr>
          <p:cNvPr id="44" name="Google Shape;44;p10"/>
          <p:cNvSpPr/>
          <p:nvPr/>
        </p:nvSpPr>
        <p:spPr>
          <a:xfrm>
            <a:off x="-8275" y="-84750"/>
            <a:ext cx="9254700" cy="5231400"/>
          </a:xfrm>
          <a:prstGeom prst="rect">
            <a:avLst/>
          </a:prstGeom>
          <a:solidFill>
            <a:srgbClr val="19264B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45" name="Google Shape;45;p1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5400000">
            <a:off x="-1049750" y="3137425"/>
            <a:ext cx="3038475" cy="1181100"/>
          </a:xfrm>
          <a:prstGeom prst="rect">
            <a:avLst/>
          </a:prstGeom>
          <a:noFill/>
          <a:ln>
            <a:noFill/>
          </a:ln>
        </p:spPr>
      </p:pic>
      <p:sp>
        <p:nvSpPr>
          <p:cNvPr id="46" name="Google Shape;46;p10"/>
          <p:cNvSpPr/>
          <p:nvPr/>
        </p:nvSpPr>
        <p:spPr>
          <a:xfrm>
            <a:off x="8685225" y="135475"/>
            <a:ext cx="335700" cy="335700"/>
          </a:xfrm>
          <a:prstGeom prst="rect">
            <a:avLst/>
          </a:prstGeom>
          <a:noFill/>
          <a:ln w="3810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" name="Google Shape;47;p10"/>
          <p:cNvSpPr/>
          <p:nvPr/>
        </p:nvSpPr>
        <p:spPr>
          <a:xfrm>
            <a:off x="8685225" y="616375"/>
            <a:ext cx="335700" cy="335700"/>
          </a:xfrm>
          <a:prstGeom prst="rect">
            <a:avLst/>
          </a:prstGeom>
          <a:solidFill>
            <a:schemeClr val="lt1"/>
          </a:solidFill>
          <a:ln w="3810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" name="Google Shape;48;p10"/>
          <p:cNvSpPr/>
          <p:nvPr/>
        </p:nvSpPr>
        <p:spPr>
          <a:xfrm>
            <a:off x="8685225" y="1097275"/>
            <a:ext cx="335700" cy="335700"/>
          </a:xfrm>
          <a:prstGeom prst="rect">
            <a:avLst/>
          </a:prstGeom>
          <a:noFill/>
          <a:ln w="3810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49" name="Google Shape;49;p10"/>
          <p:cNvCxnSpPr/>
          <p:nvPr/>
        </p:nvCxnSpPr>
        <p:spPr>
          <a:xfrm rot="10800000">
            <a:off x="146900" y="0"/>
            <a:ext cx="0" cy="2152500"/>
          </a:xfrm>
          <a:prstGeom prst="straightConnector1">
            <a:avLst/>
          </a:prstGeom>
          <a:noFill/>
          <a:ln w="28575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50" name="Google Shape;50;p10"/>
          <p:cNvSpPr/>
          <p:nvPr/>
        </p:nvSpPr>
        <p:spPr>
          <a:xfrm>
            <a:off x="1060050" y="211800"/>
            <a:ext cx="7420500" cy="4719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" name="Google Shape;51;p10"/>
          <p:cNvSpPr txBox="1"/>
          <p:nvPr/>
        </p:nvSpPr>
        <p:spPr>
          <a:xfrm>
            <a:off x="1469575" y="510025"/>
            <a:ext cx="147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" name="Google Shape;52;p10"/>
          <p:cNvSpPr txBox="1"/>
          <p:nvPr/>
        </p:nvSpPr>
        <p:spPr>
          <a:xfrm>
            <a:off x="146888" y="59400"/>
            <a:ext cx="1129500" cy="178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 sz="800">
                <a:solidFill>
                  <a:srgbClr val="9E9E9E"/>
                </a:solidFill>
                <a:latin typeface="Nanum Gothic"/>
                <a:ea typeface="Nanum Gothic"/>
                <a:cs typeface="Nanum Gothic"/>
                <a:sym typeface="Nanum Gothic"/>
              </a:rPr>
              <a:t>8기 활동 소개</a:t>
            </a:r>
            <a:endParaRPr sz="800">
              <a:solidFill>
                <a:srgbClr val="9E9E9E"/>
              </a:solidFill>
              <a:latin typeface="Nanum Gothic"/>
              <a:ea typeface="Nanum Gothic"/>
              <a:cs typeface="Nanum Gothic"/>
              <a:sym typeface="Nanum Gothic"/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 sz="800" b="1">
                <a:solidFill>
                  <a:srgbClr val="777777"/>
                </a:solidFill>
                <a:latin typeface="Nanum Gothic"/>
                <a:ea typeface="Nanum Gothic"/>
                <a:cs typeface="Nanum Gothic"/>
                <a:sym typeface="Nanum Gothic"/>
              </a:rPr>
              <a:t>9기 활동 안내</a:t>
            </a:r>
            <a:endParaRPr sz="800">
              <a:solidFill>
                <a:srgbClr val="9E9E9E"/>
              </a:solidFill>
              <a:latin typeface="Nanum Gothic"/>
              <a:ea typeface="Nanum Gothic"/>
              <a:cs typeface="Nanum Gothic"/>
              <a:sym typeface="Nanum Gothic"/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 sz="800">
                <a:solidFill>
                  <a:srgbClr val="9E9E9E"/>
                </a:solidFill>
                <a:latin typeface="Nanum Gothic"/>
                <a:ea typeface="Nanum Gothic"/>
                <a:cs typeface="Nanum Gothic"/>
                <a:sym typeface="Nanum Gothic"/>
              </a:rPr>
              <a:t>정기세션</a:t>
            </a:r>
            <a:endParaRPr sz="800">
              <a:solidFill>
                <a:srgbClr val="9E9E9E"/>
              </a:solidFill>
              <a:latin typeface="Nanum Gothic"/>
              <a:ea typeface="Nanum Gothic"/>
              <a:cs typeface="Nanum Gothic"/>
              <a:sym typeface="Nanum Gothic"/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800">
                <a:solidFill>
                  <a:srgbClr val="999999"/>
                </a:solidFill>
                <a:latin typeface="Nanum Gothic"/>
                <a:ea typeface="Nanum Gothic"/>
                <a:cs typeface="Nanum Gothic"/>
                <a:sym typeface="Nanum Gothic"/>
              </a:rPr>
              <a:t>CUAI Github</a:t>
            </a:r>
            <a:endParaRPr sz="800">
              <a:solidFill>
                <a:srgbClr val="999999"/>
              </a:solidFill>
              <a:latin typeface="Nanum Gothic"/>
              <a:ea typeface="Nanum Gothic"/>
              <a:cs typeface="Nanum Gothic"/>
              <a:sym typeface="Nanum Gothic"/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800">
                <a:solidFill>
                  <a:srgbClr val="9E9E9E"/>
                </a:solidFill>
                <a:latin typeface="Nanum Gothic"/>
                <a:ea typeface="Nanum Gothic"/>
                <a:cs typeface="Nanum Gothic"/>
                <a:sym typeface="Nanum Gothic"/>
              </a:rPr>
              <a:t>Basic Track</a:t>
            </a:r>
            <a:endParaRPr sz="800">
              <a:solidFill>
                <a:srgbClr val="9E9E9E"/>
              </a:solidFill>
              <a:latin typeface="Nanum Gothic"/>
              <a:ea typeface="Nanum Gothic"/>
              <a:cs typeface="Nanum Gothic"/>
              <a:sym typeface="Nanum Gothic"/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800">
                <a:solidFill>
                  <a:srgbClr val="9E9E9E"/>
                </a:solidFill>
                <a:latin typeface="Nanum Gothic"/>
                <a:ea typeface="Nanum Gothic"/>
                <a:cs typeface="Nanum Gothic"/>
                <a:sym typeface="Nanum Gothic"/>
              </a:rPr>
              <a:t>Advanced Track</a:t>
            </a:r>
            <a:endParaRPr sz="800">
              <a:solidFill>
                <a:srgbClr val="9E9E9E"/>
              </a:solidFill>
              <a:latin typeface="Nanum Gothic"/>
              <a:ea typeface="Nanum Gothic"/>
              <a:cs typeface="Nanum Gothic"/>
              <a:sym typeface="Nanum Gothic"/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800" b="1">
                <a:solidFill>
                  <a:srgbClr val="9E9E9E"/>
                </a:solidFill>
                <a:latin typeface="Nanum Gothic"/>
                <a:ea typeface="Nanum Gothic"/>
                <a:cs typeface="Nanum Gothic"/>
                <a:sym typeface="Nanum Gothic"/>
              </a:rPr>
              <a:t>스터디 소개</a:t>
            </a:r>
            <a:endParaRPr sz="800" b="1">
              <a:solidFill>
                <a:srgbClr val="9E9E9E"/>
              </a:solidFill>
              <a:latin typeface="Nanum Gothic"/>
              <a:ea typeface="Nanum Gothic"/>
              <a:cs typeface="Nanum Gothic"/>
              <a:sym typeface="Nanum Gothic"/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800" b="1">
                <a:solidFill>
                  <a:srgbClr val="9E9E9E"/>
                </a:solidFill>
                <a:latin typeface="Nanum Gothic"/>
                <a:ea typeface="Nanum Gothic"/>
                <a:cs typeface="Nanum Gothic"/>
                <a:sym typeface="Nanum Gothic"/>
              </a:rPr>
              <a:t>AI 세미나 소개</a:t>
            </a:r>
            <a:endParaRPr sz="800">
              <a:solidFill>
                <a:srgbClr val="999999"/>
              </a:solidFill>
              <a:latin typeface="Nanum Gothic"/>
              <a:ea typeface="Nanum Gothic"/>
              <a:cs typeface="Nanum Gothic"/>
              <a:sym typeface="Nanum Gothic"/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800">
                <a:solidFill>
                  <a:srgbClr val="999999"/>
                </a:solidFill>
                <a:latin typeface="Nanum Gothic"/>
                <a:ea typeface="Nanum Gothic"/>
                <a:cs typeface="Nanum Gothic"/>
                <a:sym typeface="Nanum Gothic"/>
              </a:rPr>
              <a:t>CUAI 장학금</a:t>
            </a:r>
            <a:endParaRPr sz="800">
              <a:solidFill>
                <a:srgbClr val="999999"/>
              </a:solidFill>
              <a:latin typeface="Nanum Gothic"/>
              <a:ea typeface="Nanum Gothic"/>
              <a:cs typeface="Nanum Gothic"/>
              <a:sym typeface="Nanum Gothic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55" name="Google Shape;55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56" name="Google Shape;56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1.xml"/><Relationship Id="rId4" Type="http://schemas.openxmlformats.org/officeDocument/2006/relationships/chart" Target="../charts/char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3"/>
          <p:cNvSpPr/>
          <p:nvPr/>
        </p:nvSpPr>
        <p:spPr>
          <a:xfrm>
            <a:off x="0" y="-37950"/>
            <a:ext cx="1181100" cy="5219400"/>
          </a:xfrm>
          <a:prstGeom prst="rect">
            <a:avLst/>
          </a:prstGeom>
          <a:solidFill>
            <a:srgbClr val="19264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4" name="Google Shape;64;p13"/>
          <p:cNvSpPr txBox="1"/>
          <p:nvPr/>
        </p:nvSpPr>
        <p:spPr>
          <a:xfrm>
            <a:off x="1339750" y="2710050"/>
            <a:ext cx="7223760" cy="15650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2500" b="1" dirty="0">
                <a:solidFill>
                  <a:srgbClr val="19264B"/>
                </a:solidFill>
              </a:rPr>
              <a:t>NLP 논문 스터디 발표</a:t>
            </a:r>
            <a:endParaRPr sz="2500" b="1" dirty="0">
              <a:solidFill>
                <a:srgbClr val="19264B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00" dirty="0" err="1">
                <a:solidFill>
                  <a:srgbClr val="5B6275"/>
                </a:solidFill>
                <a:latin typeface="Nanum Gothic"/>
                <a:ea typeface="Nanum Gothic"/>
                <a:cs typeface="Nanum Gothic"/>
              </a:rPr>
              <a:t>대표</a:t>
            </a:r>
            <a:r>
              <a:rPr sz="1300" dirty="0">
                <a:solidFill>
                  <a:srgbClr val="5B6275"/>
                </a:solidFill>
                <a:latin typeface="Nanum Gothic"/>
                <a:ea typeface="Nanum Gothic"/>
                <a:cs typeface="Nanum Gothic"/>
              </a:rPr>
              <a:t> </a:t>
            </a:r>
            <a:r>
              <a:rPr sz="1300" dirty="0" err="1">
                <a:solidFill>
                  <a:srgbClr val="5B6275"/>
                </a:solidFill>
                <a:latin typeface="Nanum Gothic"/>
                <a:ea typeface="Nanum Gothic"/>
                <a:cs typeface="Nanum Gothic"/>
              </a:rPr>
              <a:t>논문</a:t>
            </a:r>
            <a:r>
              <a:rPr sz="1300" dirty="0">
                <a:solidFill>
                  <a:srgbClr val="5B6275"/>
                </a:solidFill>
                <a:latin typeface="Nanum Gothic"/>
                <a:ea typeface="Nanum Gothic"/>
                <a:cs typeface="Nanum Gothic"/>
              </a:rPr>
              <a:t> 2편 </a:t>
            </a:r>
            <a:r>
              <a:rPr sz="1300" dirty="0" err="1">
                <a:solidFill>
                  <a:srgbClr val="5B6275"/>
                </a:solidFill>
                <a:latin typeface="Nanum Gothic"/>
                <a:ea typeface="Nanum Gothic"/>
                <a:cs typeface="Nanum Gothic"/>
              </a:rPr>
              <a:t>소개</a:t>
            </a:r>
            <a:r>
              <a:rPr sz="1300" dirty="0">
                <a:solidFill>
                  <a:srgbClr val="5B6275"/>
                </a:solidFill>
                <a:latin typeface="Nanum Gothic"/>
                <a:ea typeface="Nanum Gothic"/>
                <a:cs typeface="Nanum Gothic"/>
              </a:rPr>
              <a:t>  |  Rainbow Teaming · RLVR &amp; </a:t>
            </a:r>
            <a:r>
              <a:rPr sz="1300" dirty="0" err="1">
                <a:solidFill>
                  <a:srgbClr val="5B6275"/>
                </a:solidFill>
                <a:latin typeface="Nanum Gothic"/>
                <a:ea typeface="Nanum Gothic"/>
                <a:cs typeface="Nanum Gothic"/>
              </a:rPr>
              <a:t>CoT-Pass@K</a:t>
            </a:r>
            <a:endParaRPr dirty="0">
              <a:solidFill>
                <a:srgbClr val="19264B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dirty="0">
                <a:solidFill>
                  <a:srgbClr val="19264B"/>
                </a:solidFill>
              </a:rPr>
              <a:t>2026.09.29</a:t>
            </a:r>
            <a:endParaRPr dirty="0">
              <a:solidFill>
                <a:srgbClr val="19264B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dirty="0">
              <a:solidFill>
                <a:srgbClr val="19264B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100" dirty="0">
                <a:solidFill>
                  <a:srgbClr val="19264B"/>
                </a:solidFill>
              </a:rPr>
              <a:t>발표자 : </a:t>
            </a:r>
            <a:r>
              <a:rPr lang="ko-KR" altLang="en-US" sz="1100" dirty="0">
                <a:solidFill>
                  <a:srgbClr val="19264B"/>
                </a:solidFill>
              </a:rPr>
              <a:t>엄지용</a:t>
            </a:r>
            <a:endParaRPr sz="1100" dirty="0">
              <a:solidFill>
                <a:srgbClr val="19264B"/>
              </a:solidFill>
            </a:endParaRPr>
          </a:p>
        </p:txBody>
      </p:sp>
      <p:cxnSp>
        <p:nvCxnSpPr>
          <p:cNvPr id="65" name="Google Shape;65;p13"/>
          <p:cNvCxnSpPr/>
          <p:nvPr/>
        </p:nvCxnSpPr>
        <p:spPr>
          <a:xfrm>
            <a:off x="172875" y="-37950"/>
            <a:ext cx="0" cy="2187000"/>
          </a:xfrm>
          <a:prstGeom prst="straightConnector1">
            <a:avLst/>
          </a:prstGeom>
          <a:noFill/>
          <a:ln w="38100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66" name="Google Shape;66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5400000">
            <a:off x="-928700" y="3071650"/>
            <a:ext cx="3038475" cy="1181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5"/>
          <p:cNvSpPr/>
          <p:nvPr/>
        </p:nvSpPr>
        <p:spPr>
          <a:xfrm>
            <a:off x="0" y="-37950"/>
            <a:ext cx="1181100" cy="5219400"/>
          </a:xfrm>
          <a:prstGeom prst="rect">
            <a:avLst/>
          </a:prstGeom>
          <a:solidFill>
            <a:srgbClr val="19264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82" name="Google Shape;82;p15"/>
          <p:cNvCxnSpPr/>
          <p:nvPr/>
        </p:nvCxnSpPr>
        <p:spPr>
          <a:xfrm>
            <a:off x="172875" y="-37950"/>
            <a:ext cx="0" cy="2187000"/>
          </a:xfrm>
          <a:prstGeom prst="straightConnector1">
            <a:avLst/>
          </a:prstGeom>
          <a:noFill/>
          <a:ln w="38100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83" name="Google Shape;83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5400000">
            <a:off x="-928700" y="3071650"/>
            <a:ext cx="3038475" cy="1181100"/>
          </a:xfrm>
          <a:prstGeom prst="rect">
            <a:avLst/>
          </a:prstGeom>
          <a:noFill/>
          <a:ln>
            <a:noFill/>
          </a:ln>
        </p:spPr>
      </p:pic>
      <p:sp>
        <p:nvSpPr>
          <p:cNvPr id="84" name="Google Shape;84;p15"/>
          <p:cNvSpPr txBox="1"/>
          <p:nvPr/>
        </p:nvSpPr>
        <p:spPr>
          <a:xfrm>
            <a:off x="1408975" y="306875"/>
            <a:ext cx="49794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2000">
                <a:solidFill>
                  <a:srgbClr val="19264B"/>
                </a:solidFill>
                <a:latin typeface="NanumGothicExtraBold"/>
                <a:ea typeface="NanumGothicExtraBold"/>
                <a:cs typeface="NanumGothicExtraBold"/>
                <a:sym typeface="NanumGothicExtraBold"/>
              </a:rPr>
              <a:t>목차</a:t>
            </a:r>
            <a:endParaRPr sz="2000">
              <a:solidFill>
                <a:srgbClr val="19264B"/>
              </a:solidFill>
              <a:latin typeface="NanumGothicExtraBold"/>
              <a:ea typeface="NanumGothicExtraBold"/>
              <a:cs typeface="NanumGothicExtraBold"/>
              <a:sym typeface="NanumGothicExtraBold"/>
            </a:endParaRPr>
          </a:p>
        </p:txBody>
      </p:sp>
      <p:sp>
        <p:nvSpPr>
          <p:cNvPr id="85" name="Rounded Rectangle 84"/>
          <p:cNvSpPr/>
          <p:nvPr/>
        </p:nvSpPr>
        <p:spPr>
          <a:xfrm>
            <a:off x="1499616" y="1611092"/>
            <a:ext cx="7187184" cy="914400"/>
          </a:xfrm>
          <a:prstGeom prst="roundRect">
            <a:avLst>
              <a:gd name="adj" fmla="val 6000"/>
            </a:avLst>
          </a:prstGeom>
          <a:solidFill>
            <a:srgbClr val="ED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86" name="TextBox 85"/>
          <p:cNvSpPr txBox="1"/>
          <p:nvPr/>
        </p:nvSpPr>
        <p:spPr>
          <a:xfrm>
            <a:off x="1773936" y="1611092"/>
            <a:ext cx="822960" cy="9144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2800" b="1" i="0">
                <a:solidFill>
                  <a:srgbClr val="D94F2B"/>
                </a:solidFill>
                <a:latin typeface="NanumGothicExtraBold"/>
                <a:ea typeface="NanumGothicExtraBold"/>
                <a:cs typeface="NanumGothicExtraBold"/>
              </a:rPr>
              <a:t>01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2688336" y="1793972"/>
            <a:ext cx="5724144" cy="54864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600" b="1" i="0">
                <a:solidFill>
                  <a:srgbClr val="19264B"/>
                </a:solidFill>
                <a:latin typeface="NanumGothicExtraBold"/>
                <a:ea typeface="NanumGothicExtraBold"/>
                <a:cs typeface="NanumGothicExtraBold"/>
              </a:rPr>
              <a:t>Rainbow Teaming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00" b="0" i="0">
                <a:solidFill>
                  <a:srgbClr val="5B6275"/>
                </a:solidFill>
                <a:latin typeface="Nanum Gothic"/>
                <a:ea typeface="Nanum Gothic"/>
                <a:cs typeface="Nanum Gothic"/>
              </a:rPr>
              <a:t>Samvelyan et al., 2024 — 품질-다양성 탐색 기반 자동 레드티밍</a:t>
            </a:r>
          </a:p>
        </p:txBody>
      </p:sp>
      <p:sp>
        <p:nvSpPr>
          <p:cNvPr id="88" name="Rounded Rectangle 87"/>
          <p:cNvSpPr/>
          <p:nvPr/>
        </p:nvSpPr>
        <p:spPr>
          <a:xfrm>
            <a:off x="1499616" y="2891252"/>
            <a:ext cx="7187184" cy="914400"/>
          </a:xfrm>
          <a:prstGeom prst="roundRect">
            <a:avLst>
              <a:gd name="adj" fmla="val 6000"/>
            </a:avLst>
          </a:prstGeom>
          <a:solidFill>
            <a:srgbClr val="ED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89" name="TextBox 88"/>
          <p:cNvSpPr txBox="1"/>
          <p:nvPr/>
        </p:nvSpPr>
        <p:spPr>
          <a:xfrm>
            <a:off x="1773936" y="2891252"/>
            <a:ext cx="822960" cy="9144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2800" b="1" i="0">
                <a:solidFill>
                  <a:srgbClr val="D94F2B"/>
                </a:solidFill>
                <a:latin typeface="NanumGothicExtraBold"/>
                <a:ea typeface="NanumGothicExtraBold"/>
                <a:cs typeface="NanumGothicExtraBold"/>
              </a:rPr>
              <a:t>02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2688336" y="3074132"/>
            <a:ext cx="5724144" cy="54864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600" b="1" i="0">
                <a:solidFill>
                  <a:srgbClr val="19264B"/>
                </a:solidFill>
                <a:latin typeface="NanumGothicExtraBold"/>
                <a:ea typeface="NanumGothicExtraBold"/>
                <a:cs typeface="NanumGothicExtraBold"/>
              </a:rPr>
              <a:t>RLVR은 올바른 추론을 유도하는가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00" b="0" i="0">
                <a:solidFill>
                  <a:srgbClr val="5B6275"/>
                </a:solidFill>
                <a:latin typeface="Nanum Gothic"/>
                <a:ea typeface="Nanum Gothic"/>
                <a:cs typeface="Nanum Gothic"/>
              </a:rPr>
              <a:t>Wen et al., 2025 — CoT-Pass@K로 다시 본 강화학습의 효과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9264B"/>
        </a:solidFill>
        <a:effectLst/>
      </p:bgPr>
    </p:bg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7" name="Google Shape;97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5400000">
            <a:off x="-1049750" y="3137425"/>
            <a:ext cx="3038475" cy="1181100"/>
          </a:xfrm>
          <a:prstGeom prst="rect">
            <a:avLst/>
          </a:prstGeom>
          <a:noFill/>
          <a:ln>
            <a:noFill/>
          </a:ln>
        </p:spPr>
      </p:pic>
      <p:sp>
        <p:nvSpPr>
          <p:cNvPr id="98" name="Google Shape;98;p17"/>
          <p:cNvSpPr/>
          <p:nvPr/>
        </p:nvSpPr>
        <p:spPr>
          <a:xfrm>
            <a:off x="8685225" y="135475"/>
            <a:ext cx="335700" cy="335700"/>
          </a:xfrm>
          <a:prstGeom prst="rect">
            <a:avLst/>
          </a:prstGeom>
          <a:solidFill>
            <a:srgbClr val="FFFFFF"/>
          </a:solidFill>
          <a:ln w="3810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9" name="Google Shape;99;p17"/>
          <p:cNvSpPr/>
          <p:nvPr/>
        </p:nvSpPr>
        <p:spPr>
          <a:xfrm>
            <a:off x="8685225" y="616375"/>
            <a:ext cx="335700" cy="335700"/>
          </a:xfrm>
          <a:prstGeom prst="rect">
            <a:avLst/>
          </a:prstGeom>
          <a:noFill/>
          <a:ln w="3810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0" name="Google Shape;100;p17"/>
          <p:cNvSpPr/>
          <p:nvPr/>
        </p:nvSpPr>
        <p:spPr>
          <a:xfrm>
            <a:off x="8685225" y="1097275"/>
            <a:ext cx="335700" cy="335700"/>
          </a:xfrm>
          <a:prstGeom prst="rect">
            <a:avLst/>
          </a:prstGeom>
          <a:noFill/>
          <a:ln w="3810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101" name="Google Shape;101;p17"/>
          <p:cNvCxnSpPr/>
          <p:nvPr/>
        </p:nvCxnSpPr>
        <p:spPr>
          <a:xfrm rot="10800000">
            <a:off x="146900" y="0"/>
            <a:ext cx="0" cy="2152500"/>
          </a:xfrm>
          <a:prstGeom prst="straightConnector1">
            <a:avLst/>
          </a:prstGeom>
          <a:noFill/>
          <a:ln w="28575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02" name="Google Shape;102;p17"/>
          <p:cNvSpPr txBox="1"/>
          <p:nvPr/>
        </p:nvSpPr>
        <p:spPr>
          <a:xfrm>
            <a:off x="1469575" y="510025"/>
            <a:ext cx="147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3" name="Google Shape;103;p17"/>
          <p:cNvSpPr txBox="1"/>
          <p:nvPr/>
        </p:nvSpPr>
        <p:spPr>
          <a:xfrm>
            <a:off x="1600200" y="1900652"/>
            <a:ext cx="6858000" cy="92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800"/>
              </a:spcAft>
              <a:buNone/>
            </a:pPr>
            <a:r>
              <a:rPr sz="1400" b="0" i="0" dirty="0">
                <a:solidFill>
                  <a:srgbClr val="F2A07B"/>
                </a:solidFill>
                <a:latin typeface="NanumGothicExtraBold"/>
                <a:ea typeface="NanumGothicExtraBold"/>
                <a:cs typeface="NanumGothicExtraBold"/>
              </a:rPr>
              <a:t>PAPER 01</a:t>
            </a:r>
            <a:endParaRPr sz="4800" dirty="0">
              <a:solidFill>
                <a:schemeClr val="lt1"/>
              </a:solidFill>
              <a:latin typeface="NanumGothicExtraBold"/>
              <a:ea typeface="NanumGothicExtraBold"/>
              <a:cs typeface="NanumGothicExtraBold"/>
              <a:sym typeface="NanumGothicExtraBold"/>
            </a:endParaRPr>
          </a:p>
          <a:p>
            <a:pPr algn="ctr">
              <a:spcAft>
                <a:spcPts val="800"/>
              </a:spcAft>
            </a:pPr>
            <a:r>
              <a:rPr sz="3200" b="1" i="0" dirty="0">
                <a:solidFill>
                  <a:srgbClr val="FFFFFF"/>
                </a:solidFill>
                <a:latin typeface="NanumGothicExtraBold"/>
                <a:ea typeface="NanumGothicExtraBold"/>
                <a:cs typeface="NanumGothicExtraBold"/>
              </a:rPr>
              <a:t>Rainbow Teaming</a:t>
            </a:r>
          </a:p>
          <a:p>
            <a:pPr algn="ctr">
              <a:spcAft>
                <a:spcPts val="800"/>
              </a:spcAft>
            </a:pPr>
            <a:r>
              <a:rPr sz="1200" b="0" i="0" dirty="0">
                <a:solidFill>
                  <a:srgbClr val="C9D1E6"/>
                </a:solidFill>
                <a:latin typeface="Nanum Gothic"/>
                <a:ea typeface="Nanum Gothic"/>
                <a:cs typeface="Nanum Gothic"/>
              </a:rPr>
              <a:t>Open-Ended Generation of Diverse Adversarial Prompts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6"/>
          <p:cNvSpPr/>
          <p:nvPr/>
        </p:nvSpPr>
        <p:spPr>
          <a:xfrm>
            <a:off x="0" y="-37950"/>
            <a:ext cx="1181100" cy="5219400"/>
          </a:xfrm>
          <a:prstGeom prst="rect">
            <a:avLst/>
          </a:prstGeom>
          <a:solidFill>
            <a:srgbClr val="19264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90" name="Google Shape;90;p16"/>
          <p:cNvCxnSpPr/>
          <p:nvPr/>
        </p:nvCxnSpPr>
        <p:spPr>
          <a:xfrm>
            <a:off x="172875" y="-37950"/>
            <a:ext cx="0" cy="2187000"/>
          </a:xfrm>
          <a:prstGeom prst="straightConnector1">
            <a:avLst/>
          </a:prstGeom>
          <a:noFill/>
          <a:ln w="38100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91" name="Google Shape;91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5400000">
            <a:off x="-928700" y="3071650"/>
            <a:ext cx="3038475" cy="1181100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16"/>
          <p:cNvSpPr txBox="1"/>
          <p:nvPr/>
        </p:nvSpPr>
        <p:spPr>
          <a:xfrm>
            <a:off x="1408975" y="306875"/>
            <a:ext cx="7498079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2000">
                <a:solidFill>
                  <a:srgbClr val="19264B"/>
                </a:solidFill>
                <a:latin typeface="NanumGothicExtraBold"/>
                <a:ea typeface="NanumGothicExtraBold"/>
                <a:cs typeface="NanumGothicExtraBold"/>
                <a:sym typeface="NanumGothicExtraBold"/>
              </a:rPr>
              <a:t>배경: 효과적이면서 ‘다양한’ 공격 프롬프트를 자동으로</a:t>
            </a:r>
            <a:endParaRPr sz="2000">
              <a:solidFill>
                <a:srgbClr val="19264B"/>
              </a:solidFill>
              <a:latin typeface="NanumGothicExtraBold"/>
              <a:ea typeface="NanumGothicExtraBold"/>
              <a:cs typeface="NanumGothicExtraBold"/>
              <a:sym typeface="NanumGothicExtraBold"/>
            </a:endParaRPr>
          </a:p>
        </p:txBody>
      </p:sp>
      <p:sp>
        <p:nvSpPr>
          <p:cNvPr id="93" name="TextBox 92"/>
          <p:cNvSpPr txBox="1"/>
          <p:nvPr/>
        </p:nvSpPr>
        <p:spPr>
          <a:xfrm>
            <a:off x="1499616" y="786384"/>
            <a:ext cx="7187184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000" b="0" i="0" dirty="0">
                <a:solidFill>
                  <a:srgbClr val="5B6275"/>
                </a:solidFill>
                <a:latin typeface="Nanum Gothic"/>
                <a:ea typeface="Nanum Gothic"/>
                <a:cs typeface="Nanum Gothic"/>
              </a:rPr>
              <a:t>PAPER 01  |  </a:t>
            </a:r>
            <a:r>
              <a:rPr sz="1000" b="0" i="0" dirty="0" err="1">
                <a:solidFill>
                  <a:srgbClr val="5B6275"/>
                </a:solidFill>
                <a:latin typeface="Nanum Gothic"/>
                <a:ea typeface="Nanum Gothic"/>
                <a:cs typeface="Nanum Gothic"/>
              </a:rPr>
              <a:t>Samvelyan</a:t>
            </a:r>
            <a:r>
              <a:rPr sz="1000" b="0" i="0" dirty="0">
                <a:solidFill>
                  <a:srgbClr val="5B6275"/>
                </a:solidFill>
                <a:latin typeface="Nanum Gothic"/>
                <a:ea typeface="Nanum Gothic"/>
                <a:cs typeface="Nanum Gothic"/>
              </a:rPr>
              <a:t> et al., 2024 · Meta, UCL, University of Oxford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1499616" y="1293227"/>
            <a:ext cx="384048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 b="1" i="0">
                <a:solidFill>
                  <a:srgbClr val="19264B"/>
                </a:solidFill>
                <a:latin typeface="NanumGothicExtraBold"/>
                <a:ea typeface="NanumGothicExtraBold"/>
                <a:cs typeface="NanumGothicExtraBold"/>
              </a:rPr>
              <a:t>기존 자동 레드티밍의 한계</a:t>
            </a:r>
          </a:p>
        </p:txBody>
      </p:sp>
      <p:sp>
        <p:nvSpPr>
          <p:cNvPr id="95" name="Oval 94"/>
          <p:cNvSpPr/>
          <p:nvPr/>
        </p:nvSpPr>
        <p:spPr>
          <a:xfrm>
            <a:off x="1499616" y="1704707"/>
            <a:ext cx="347472" cy="347472"/>
          </a:xfrm>
          <a:prstGeom prst="ellipse">
            <a:avLst/>
          </a:prstGeom>
          <a:solidFill>
            <a:srgbClr val="1926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200" b="1" i="0">
                <a:solidFill>
                  <a:srgbClr val="FFFFFF"/>
                </a:solidFill>
                <a:latin typeface="NanumGothicExtraBold"/>
                <a:ea typeface="NanumGothicExtraBold"/>
                <a:cs typeface="NanumGothicExtraBold"/>
              </a:rPr>
              <a:t>1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2002536" y="1658987"/>
            <a:ext cx="3291840" cy="6400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200" b="1" i="0">
                <a:solidFill>
                  <a:srgbClr val="19264B"/>
                </a:solidFill>
                <a:latin typeface="NanumGothicExtraBold"/>
                <a:ea typeface="NanumGothicExtraBold"/>
                <a:cs typeface="NanumGothicExtraBold"/>
              </a:rPr>
              <a:t>다양성 부족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050" b="0" i="0">
                <a:solidFill>
                  <a:srgbClr val="5B6275"/>
                </a:solidFill>
                <a:latin typeface="Nanum Gothic"/>
                <a:ea typeface="Nanum Gothic"/>
                <a:cs typeface="Nanum Gothic"/>
              </a:rPr>
              <a:t>단일 공격 전략에 치우치거나, 최적화 과정에서 다양성이 붕괴</a:t>
            </a:r>
          </a:p>
        </p:txBody>
      </p:sp>
      <p:sp>
        <p:nvSpPr>
          <p:cNvPr id="97" name="Oval 96"/>
          <p:cNvSpPr/>
          <p:nvPr/>
        </p:nvSpPr>
        <p:spPr>
          <a:xfrm>
            <a:off x="1499616" y="2417939"/>
            <a:ext cx="347472" cy="347472"/>
          </a:xfrm>
          <a:prstGeom prst="ellipse">
            <a:avLst/>
          </a:prstGeom>
          <a:solidFill>
            <a:srgbClr val="1926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200" b="1" i="0">
                <a:solidFill>
                  <a:srgbClr val="FFFFFF"/>
                </a:solidFill>
                <a:latin typeface="NanumGothicExtraBold"/>
                <a:ea typeface="NanumGothicExtraBold"/>
                <a:cs typeface="NanumGothicExtraBold"/>
              </a:rPr>
              <a:t>2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2002536" y="2372219"/>
            <a:ext cx="3291840" cy="6400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200" b="1" i="0">
                <a:solidFill>
                  <a:srgbClr val="19264B"/>
                </a:solidFill>
                <a:latin typeface="NanumGothicExtraBold"/>
                <a:ea typeface="NanumGothicExtraBold"/>
                <a:cs typeface="NanumGothicExtraBold"/>
              </a:rPr>
              <a:t>사람 의존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050" b="0" i="0">
                <a:solidFill>
                  <a:srgbClr val="5B6275"/>
                </a:solidFill>
                <a:latin typeface="Nanum Gothic"/>
                <a:ea typeface="Nanum Gothic"/>
                <a:cs typeface="Nanum Gothic"/>
              </a:rPr>
              <a:t>PAIR·TAP 등은 공격할 유해 행동을 사람이 하나씩 지정</a:t>
            </a:r>
          </a:p>
        </p:txBody>
      </p:sp>
      <p:sp>
        <p:nvSpPr>
          <p:cNvPr id="99" name="Oval 98"/>
          <p:cNvSpPr/>
          <p:nvPr/>
        </p:nvSpPr>
        <p:spPr>
          <a:xfrm>
            <a:off x="1499616" y="3131170"/>
            <a:ext cx="347472" cy="347472"/>
          </a:xfrm>
          <a:prstGeom prst="ellipse">
            <a:avLst/>
          </a:prstGeom>
          <a:solidFill>
            <a:srgbClr val="1926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200" b="1" i="0">
                <a:solidFill>
                  <a:srgbClr val="FFFFFF"/>
                </a:solidFill>
                <a:latin typeface="NanumGothicExtraBold"/>
                <a:ea typeface="NanumGothicExtraBold"/>
                <a:cs typeface="NanumGothicExtraBold"/>
              </a:rPr>
              <a:t>3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2002536" y="3085451"/>
            <a:ext cx="3291840" cy="6400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200" b="1" i="0">
                <a:solidFill>
                  <a:srgbClr val="19264B"/>
                </a:solidFill>
                <a:latin typeface="NanumGothicExtraBold"/>
                <a:ea typeface="NanumGothicExtraBold"/>
                <a:cs typeface="NanumGothicExtraBold"/>
              </a:rPr>
              <a:t>접근 제약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050" b="0" i="0">
                <a:solidFill>
                  <a:srgbClr val="5B6275"/>
                </a:solidFill>
                <a:latin typeface="Nanum Gothic"/>
                <a:ea typeface="Nanum Gothic"/>
                <a:cs typeface="Nanum Gothic"/>
              </a:rPr>
              <a:t>화이트박스 접근이나 공격 모델 fine-tuning이 필요</a:t>
            </a:r>
          </a:p>
        </p:txBody>
      </p:sp>
      <p:sp>
        <p:nvSpPr>
          <p:cNvPr id="101" name="Rounded Rectangle 100"/>
          <p:cNvSpPr/>
          <p:nvPr/>
        </p:nvSpPr>
        <p:spPr>
          <a:xfrm>
            <a:off x="1499616" y="3899267"/>
            <a:ext cx="3840480" cy="685800"/>
          </a:xfrm>
          <a:prstGeom prst="roundRect">
            <a:avLst>
              <a:gd name="adj" fmla="val 6000"/>
            </a:avLst>
          </a:prstGeom>
          <a:solidFill>
            <a:srgbClr val="1926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02" name="TextBox 101"/>
          <p:cNvSpPr txBox="1"/>
          <p:nvPr/>
        </p:nvSpPr>
        <p:spPr>
          <a:xfrm>
            <a:off x="1728216" y="3899267"/>
            <a:ext cx="3383280" cy="6858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200" b="1" i="0">
                <a:solidFill>
                  <a:srgbClr val="F2A07B"/>
                </a:solidFill>
                <a:latin typeface="NanumGothicExtraBold"/>
                <a:ea typeface="NanumGothicExtraBold"/>
                <a:cs typeface="NanumGothicExtraBold"/>
              </a:rPr>
              <a:t>해결  </a:t>
            </a:r>
            <a:r>
              <a:rPr sz="1200" b="1" i="0">
                <a:solidFill>
                  <a:srgbClr val="FFFFFF"/>
                </a:solidFill>
                <a:latin typeface="NanumGothicExtraBold"/>
                <a:ea typeface="NanumGothicExtraBold"/>
                <a:cs typeface="NanumGothicExtraBold"/>
              </a:rPr>
              <a:t>품질-다양성(QD) 탐색으로 재정의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000" b="0" i="0">
                <a:solidFill>
                  <a:srgbClr val="C9D1E6"/>
                </a:solidFill>
                <a:latin typeface="Nanum Gothic"/>
                <a:ea typeface="Nanum Gothic"/>
                <a:cs typeface="Nanum Gothic"/>
              </a:rPr>
              <a:t>진화 알고리즘 MAP-Elites 기반, 블랙박스 방식</a:t>
            </a:r>
          </a:p>
        </p:txBody>
      </p:sp>
      <p:sp>
        <p:nvSpPr>
          <p:cNvPr id="103" name="Rectangle 102"/>
          <p:cNvSpPr/>
          <p:nvPr/>
        </p:nvSpPr>
        <p:spPr>
          <a:xfrm>
            <a:off x="5989320" y="1521827"/>
            <a:ext cx="219456" cy="219456"/>
          </a:xfrm>
          <a:prstGeom prst="rect">
            <a:avLst/>
          </a:prstGeom>
          <a:solidFill>
            <a:srgbClr val="1926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04" name="Rectangle 103"/>
          <p:cNvSpPr/>
          <p:nvPr/>
        </p:nvSpPr>
        <p:spPr>
          <a:xfrm>
            <a:off x="6236208" y="1521827"/>
            <a:ext cx="219456" cy="219456"/>
          </a:xfrm>
          <a:prstGeom prst="rect">
            <a:avLst/>
          </a:prstGeom>
          <a:solidFill>
            <a:srgbClr val="1926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05" name="Rectangle 104"/>
          <p:cNvSpPr/>
          <p:nvPr/>
        </p:nvSpPr>
        <p:spPr>
          <a:xfrm>
            <a:off x="6483096" y="1521827"/>
            <a:ext cx="219456" cy="219456"/>
          </a:xfrm>
          <a:prstGeom prst="rect">
            <a:avLst/>
          </a:prstGeom>
          <a:solidFill>
            <a:srgbClr val="3A4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06" name="Rectangle 105"/>
          <p:cNvSpPr/>
          <p:nvPr/>
        </p:nvSpPr>
        <p:spPr>
          <a:xfrm>
            <a:off x="6729983" y="1521827"/>
            <a:ext cx="219456" cy="219456"/>
          </a:xfrm>
          <a:prstGeom prst="rect">
            <a:avLst/>
          </a:prstGeom>
          <a:solidFill>
            <a:srgbClr val="1926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07" name="Rectangle 106"/>
          <p:cNvSpPr/>
          <p:nvPr/>
        </p:nvSpPr>
        <p:spPr>
          <a:xfrm>
            <a:off x="6976872" y="1521827"/>
            <a:ext cx="219456" cy="219456"/>
          </a:xfrm>
          <a:prstGeom prst="rect">
            <a:avLst/>
          </a:prstGeom>
          <a:solidFill>
            <a:srgbClr val="3A4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08" name="Rectangle 107"/>
          <p:cNvSpPr/>
          <p:nvPr/>
        </p:nvSpPr>
        <p:spPr>
          <a:xfrm>
            <a:off x="7223760" y="1521827"/>
            <a:ext cx="219456" cy="219456"/>
          </a:xfrm>
          <a:prstGeom prst="rect">
            <a:avLst/>
          </a:prstGeom>
          <a:solidFill>
            <a:srgbClr val="1926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09" name="Rectangle 108"/>
          <p:cNvSpPr/>
          <p:nvPr/>
        </p:nvSpPr>
        <p:spPr>
          <a:xfrm>
            <a:off x="7470648" y="1521827"/>
            <a:ext cx="219456" cy="219456"/>
          </a:xfrm>
          <a:prstGeom prst="rect">
            <a:avLst/>
          </a:prstGeom>
          <a:solidFill>
            <a:srgbClr val="1926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10" name="Rectangle 109"/>
          <p:cNvSpPr/>
          <p:nvPr/>
        </p:nvSpPr>
        <p:spPr>
          <a:xfrm>
            <a:off x="7717536" y="1521827"/>
            <a:ext cx="219456" cy="219456"/>
          </a:xfrm>
          <a:prstGeom prst="rect">
            <a:avLst/>
          </a:prstGeom>
          <a:solidFill>
            <a:srgbClr val="3A4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11" name="Rectangle 110"/>
          <p:cNvSpPr/>
          <p:nvPr/>
        </p:nvSpPr>
        <p:spPr>
          <a:xfrm>
            <a:off x="7964424" y="1521827"/>
            <a:ext cx="219456" cy="219456"/>
          </a:xfrm>
          <a:prstGeom prst="rect">
            <a:avLst/>
          </a:prstGeom>
          <a:solidFill>
            <a:srgbClr val="1926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12" name="Rectangle 111"/>
          <p:cNvSpPr/>
          <p:nvPr/>
        </p:nvSpPr>
        <p:spPr>
          <a:xfrm>
            <a:off x="8211312" y="1521827"/>
            <a:ext cx="219456" cy="219456"/>
          </a:xfrm>
          <a:prstGeom prst="rect">
            <a:avLst/>
          </a:prstGeom>
          <a:solidFill>
            <a:srgbClr val="3A4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13" name="Rectangle 112"/>
          <p:cNvSpPr/>
          <p:nvPr/>
        </p:nvSpPr>
        <p:spPr>
          <a:xfrm>
            <a:off x="5989320" y="1768715"/>
            <a:ext cx="219456" cy="219456"/>
          </a:xfrm>
          <a:prstGeom prst="rect">
            <a:avLst/>
          </a:prstGeom>
          <a:solidFill>
            <a:srgbClr val="1926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14" name="Rectangle 113"/>
          <p:cNvSpPr/>
          <p:nvPr/>
        </p:nvSpPr>
        <p:spPr>
          <a:xfrm>
            <a:off x="6236208" y="1768715"/>
            <a:ext cx="219456" cy="219456"/>
          </a:xfrm>
          <a:prstGeom prst="rect">
            <a:avLst/>
          </a:prstGeom>
          <a:solidFill>
            <a:srgbClr val="1926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15" name="Rectangle 114"/>
          <p:cNvSpPr/>
          <p:nvPr/>
        </p:nvSpPr>
        <p:spPr>
          <a:xfrm>
            <a:off x="6483096" y="1768715"/>
            <a:ext cx="219456" cy="219456"/>
          </a:xfrm>
          <a:prstGeom prst="rect">
            <a:avLst/>
          </a:prstGeom>
          <a:solidFill>
            <a:srgbClr val="3A4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16" name="Rectangle 115"/>
          <p:cNvSpPr/>
          <p:nvPr/>
        </p:nvSpPr>
        <p:spPr>
          <a:xfrm>
            <a:off x="6729983" y="1768715"/>
            <a:ext cx="219456" cy="219456"/>
          </a:xfrm>
          <a:prstGeom prst="rect">
            <a:avLst/>
          </a:prstGeom>
          <a:solidFill>
            <a:srgbClr val="6E7D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17" name="Rectangle 116"/>
          <p:cNvSpPr/>
          <p:nvPr/>
        </p:nvSpPr>
        <p:spPr>
          <a:xfrm>
            <a:off x="6976872" y="1768715"/>
            <a:ext cx="219456" cy="219456"/>
          </a:xfrm>
          <a:prstGeom prst="rect">
            <a:avLst/>
          </a:prstGeom>
          <a:solidFill>
            <a:srgbClr val="1926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18" name="Rectangle 117"/>
          <p:cNvSpPr/>
          <p:nvPr/>
        </p:nvSpPr>
        <p:spPr>
          <a:xfrm>
            <a:off x="7223760" y="1768715"/>
            <a:ext cx="219456" cy="219456"/>
          </a:xfrm>
          <a:prstGeom prst="rect">
            <a:avLst/>
          </a:prstGeom>
          <a:solidFill>
            <a:srgbClr val="1926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19" name="Rectangle 118"/>
          <p:cNvSpPr/>
          <p:nvPr/>
        </p:nvSpPr>
        <p:spPr>
          <a:xfrm>
            <a:off x="7470648" y="1768715"/>
            <a:ext cx="219456" cy="219456"/>
          </a:xfrm>
          <a:prstGeom prst="rect">
            <a:avLst/>
          </a:prstGeom>
          <a:solidFill>
            <a:srgbClr val="3A4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20" name="Rectangle 119"/>
          <p:cNvSpPr/>
          <p:nvPr/>
        </p:nvSpPr>
        <p:spPr>
          <a:xfrm>
            <a:off x="7717536" y="1768715"/>
            <a:ext cx="219456" cy="219456"/>
          </a:xfrm>
          <a:prstGeom prst="rect">
            <a:avLst/>
          </a:prstGeom>
          <a:solidFill>
            <a:srgbClr val="D94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21" name="Rectangle 120"/>
          <p:cNvSpPr/>
          <p:nvPr/>
        </p:nvSpPr>
        <p:spPr>
          <a:xfrm>
            <a:off x="7964424" y="1768715"/>
            <a:ext cx="219456" cy="219456"/>
          </a:xfrm>
          <a:prstGeom prst="rect">
            <a:avLst/>
          </a:prstGeom>
          <a:solidFill>
            <a:srgbClr val="3A4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22" name="Rectangle 121"/>
          <p:cNvSpPr/>
          <p:nvPr/>
        </p:nvSpPr>
        <p:spPr>
          <a:xfrm>
            <a:off x="8211312" y="1768715"/>
            <a:ext cx="219456" cy="219456"/>
          </a:xfrm>
          <a:prstGeom prst="rect">
            <a:avLst/>
          </a:prstGeom>
          <a:solidFill>
            <a:srgbClr val="3A4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23" name="Rectangle 122"/>
          <p:cNvSpPr/>
          <p:nvPr/>
        </p:nvSpPr>
        <p:spPr>
          <a:xfrm>
            <a:off x="5989320" y="2015602"/>
            <a:ext cx="219456" cy="219456"/>
          </a:xfrm>
          <a:prstGeom prst="rect">
            <a:avLst/>
          </a:prstGeom>
          <a:solidFill>
            <a:srgbClr val="D94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24" name="Rectangle 123"/>
          <p:cNvSpPr/>
          <p:nvPr/>
        </p:nvSpPr>
        <p:spPr>
          <a:xfrm>
            <a:off x="6236208" y="2015602"/>
            <a:ext cx="219456" cy="219456"/>
          </a:xfrm>
          <a:prstGeom prst="rect">
            <a:avLst/>
          </a:prstGeom>
          <a:solidFill>
            <a:srgbClr val="1926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25" name="Rectangle 124"/>
          <p:cNvSpPr/>
          <p:nvPr/>
        </p:nvSpPr>
        <p:spPr>
          <a:xfrm>
            <a:off x="6483096" y="2015602"/>
            <a:ext cx="219456" cy="219456"/>
          </a:xfrm>
          <a:prstGeom prst="rect">
            <a:avLst/>
          </a:prstGeom>
          <a:solidFill>
            <a:srgbClr val="A9B4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26" name="Rectangle 125"/>
          <p:cNvSpPr/>
          <p:nvPr/>
        </p:nvSpPr>
        <p:spPr>
          <a:xfrm>
            <a:off x="6729983" y="2015602"/>
            <a:ext cx="219456" cy="219456"/>
          </a:xfrm>
          <a:prstGeom prst="rect">
            <a:avLst/>
          </a:prstGeom>
          <a:solidFill>
            <a:srgbClr val="1926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27" name="Rectangle 126"/>
          <p:cNvSpPr/>
          <p:nvPr/>
        </p:nvSpPr>
        <p:spPr>
          <a:xfrm>
            <a:off x="6976872" y="2015602"/>
            <a:ext cx="219456" cy="219456"/>
          </a:xfrm>
          <a:prstGeom prst="rect">
            <a:avLst/>
          </a:prstGeom>
          <a:solidFill>
            <a:srgbClr val="1926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28" name="Rectangle 127"/>
          <p:cNvSpPr/>
          <p:nvPr/>
        </p:nvSpPr>
        <p:spPr>
          <a:xfrm>
            <a:off x="7223760" y="2015602"/>
            <a:ext cx="219456" cy="219456"/>
          </a:xfrm>
          <a:prstGeom prst="rect">
            <a:avLst/>
          </a:prstGeom>
          <a:solidFill>
            <a:srgbClr val="1926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29" name="Rectangle 128"/>
          <p:cNvSpPr/>
          <p:nvPr/>
        </p:nvSpPr>
        <p:spPr>
          <a:xfrm>
            <a:off x="7470648" y="2015602"/>
            <a:ext cx="219456" cy="219456"/>
          </a:xfrm>
          <a:prstGeom prst="rect">
            <a:avLst/>
          </a:prstGeom>
          <a:solidFill>
            <a:srgbClr val="1926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30" name="Rectangle 129"/>
          <p:cNvSpPr/>
          <p:nvPr/>
        </p:nvSpPr>
        <p:spPr>
          <a:xfrm>
            <a:off x="7717536" y="2015602"/>
            <a:ext cx="219456" cy="219456"/>
          </a:xfrm>
          <a:prstGeom prst="rect">
            <a:avLst/>
          </a:prstGeom>
          <a:solidFill>
            <a:srgbClr val="6E7D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31" name="Rectangle 130"/>
          <p:cNvSpPr/>
          <p:nvPr/>
        </p:nvSpPr>
        <p:spPr>
          <a:xfrm>
            <a:off x="7964424" y="2015602"/>
            <a:ext cx="219456" cy="219456"/>
          </a:xfrm>
          <a:prstGeom prst="rect">
            <a:avLst/>
          </a:prstGeom>
          <a:solidFill>
            <a:srgbClr val="1926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32" name="Rectangle 131"/>
          <p:cNvSpPr/>
          <p:nvPr/>
        </p:nvSpPr>
        <p:spPr>
          <a:xfrm>
            <a:off x="8211312" y="2015602"/>
            <a:ext cx="219456" cy="219456"/>
          </a:xfrm>
          <a:prstGeom prst="rect">
            <a:avLst/>
          </a:prstGeom>
          <a:solidFill>
            <a:srgbClr val="3A4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33" name="Rectangle 132"/>
          <p:cNvSpPr/>
          <p:nvPr/>
        </p:nvSpPr>
        <p:spPr>
          <a:xfrm>
            <a:off x="5989320" y="2262491"/>
            <a:ext cx="219456" cy="219456"/>
          </a:xfrm>
          <a:prstGeom prst="rect">
            <a:avLst/>
          </a:prstGeom>
          <a:solidFill>
            <a:srgbClr val="3A4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34" name="Rectangle 133"/>
          <p:cNvSpPr/>
          <p:nvPr/>
        </p:nvSpPr>
        <p:spPr>
          <a:xfrm>
            <a:off x="6236208" y="2262491"/>
            <a:ext cx="219456" cy="219456"/>
          </a:xfrm>
          <a:prstGeom prst="rect">
            <a:avLst/>
          </a:prstGeom>
          <a:solidFill>
            <a:srgbClr val="1926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35" name="Rectangle 134"/>
          <p:cNvSpPr/>
          <p:nvPr/>
        </p:nvSpPr>
        <p:spPr>
          <a:xfrm>
            <a:off x="6483096" y="2262491"/>
            <a:ext cx="219456" cy="219456"/>
          </a:xfrm>
          <a:prstGeom prst="rect">
            <a:avLst/>
          </a:prstGeom>
          <a:solidFill>
            <a:srgbClr val="3A4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36" name="Rectangle 135"/>
          <p:cNvSpPr/>
          <p:nvPr/>
        </p:nvSpPr>
        <p:spPr>
          <a:xfrm>
            <a:off x="6729983" y="2262491"/>
            <a:ext cx="219456" cy="219456"/>
          </a:xfrm>
          <a:prstGeom prst="rect">
            <a:avLst/>
          </a:prstGeom>
          <a:solidFill>
            <a:srgbClr val="1926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37" name="Rectangle 136"/>
          <p:cNvSpPr/>
          <p:nvPr/>
        </p:nvSpPr>
        <p:spPr>
          <a:xfrm>
            <a:off x="6976872" y="2262491"/>
            <a:ext cx="219456" cy="219456"/>
          </a:xfrm>
          <a:prstGeom prst="rect">
            <a:avLst/>
          </a:prstGeom>
          <a:solidFill>
            <a:srgbClr val="1926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38" name="Rectangle 137"/>
          <p:cNvSpPr/>
          <p:nvPr/>
        </p:nvSpPr>
        <p:spPr>
          <a:xfrm>
            <a:off x="7223760" y="2262491"/>
            <a:ext cx="219456" cy="219456"/>
          </a:xfrm>
          <a:prstGeom prst="rect">
            <a:avLst/>
          </a:prstGeom>
          <a:solidFill>
            <a:srgbClr val="1926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39" name="Rectangle 138"/>
          <p:cNvSpPr/>
          <p:nvPr/>
        </p:nvSpPr>
        <p:spPr>
          <a:xfrm>
            <a:off x="7470648" y="2262491"/>
            <a:ext cx="219456" cy="219456"/>
          </a:xfrm>
          <a:prstGeom prst="rect">
            <a:avLst/>
          </a:prstGeom>
          <a:solidFill>
            <a:srgbClr val="3A4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40" name="Rectangle 139"/>
          <p:cNvSpPr/>
          <p:nvPr/>
        </p:nvSpPr>
        <p:spPr>
          <a:xfrm>
            <a:off x="7717536" y="2262491"/>
            <a:ext cx="219456" cy="219456"/>
          </a:xfrm>
          <a:prstGeom prst="rect">
            <a:avLst/>
          </a:prstGeom>
          <a:solidFill>
            <a:srgbClr val="3A4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41" name="Rectangle 140"/>
          <p:cNvSpPr/>
          <p:nvPr/>
        </p:nvSpPr>
        <p:spPr>
          <a:xfrm>
            <a:off x="7964424" y="2262491"/>
            <a:ext cx="219456" cy="219456"/>
          </a:xfrm>
          <a:prstGeom prst="rect">
            <a:avLst/>
          </a:prstGeom>
          <a:solidFill>
            <a:srgbClr val="1926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42" name="Rectangle 141"/>
          <p:cNvSpPr/>
          <p:nvPr/>
        </p:nvSpPr>
        <p:spPr>
          <a:xfrm>
            <a:off x="8211312" y="2262491"/>
            <a:ext cx="219456" cy="219456"/>
          </a:xfrm>
          <a:prstGeom prst="rect">
            <a:avLst/>
          </a:prstGeom>
          <a:solidFill>
            <a:srgbClr val="3A4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43" name="Rectangle 142"/>
          <p:cNvSpPr/>
          <p:nvPr/>
        </p:nvSpPr>
        <p:spPr>
          <a:xfrm>
            <a:off x="5989320" y="2509379"/>
            <a:ext cx="219456" cy="219456"/>
          </a:xfrm>
          <a:prstGeom prst="rect">
            <a:avLst/>
          </a:prstGeom>
          <a:solidFill>
            <a:srgbClr val="3A4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44" name="Rectangle 143"/>
          <p:cNvSpPr/>
          <p:nvPr/>
        </p:nvSpPr>
        <p:spPr>
          <a:xfrm>
            <a:off x="6236208" y="2509379"/>
            <a:ext cx="219456" cy="219456"/>
          </a:xfrm>
          <a:prstGeom prst="rect">
            <a:avLst/>
          </a:prstGeom>
          <a:solidFill>
            <a:srgbClr val="1926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45" name="Rectangle 144"/>
          <p:cNvSpPr/>
          <p:nvPr/>
        </p:nvSpPr>
        <p:spPr>
          <a:xfrm>
            <a:off x="6483096" y="2509379"/>
            <a:ext cx="219456" cy="219456"/>
          </a:xfrm>
          <a:prstGeom prst="rect">
            <a:avLst/>
          </a:prstGeom>
          <a:solidFill>
            <a:srgbClr val="6E7D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46" name="Rectangle 145"/>
          <p:cNvSpPr/>
          <p:nvPr/>
        </p:nvSpPr>
        <p:spPr>
          <a:xfrm>
            <a:off x="6729983" y="2509379"/>
            <a:ext cx="219456" cy="219456"/>
          </a:xfrm>
          <a:prstGeom prst="rect">
            <a:avLst/>
          </a:prstGeom>
          <a:solidFill>
            <a:srgbClr val="6E7D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47" name="Rectangle 146"/>
          <p:cNvSpPr/>
          <p:nvPr/>
        </p:nvSpPr>
        <p:spPr>
          <a:xfrm>
            <a:off x="6976872" y="2509379"/>
            <a:ext cx="219456" cy="219456"/>
          </a:xfrm>
          <a:prstGeom prst="rect">
            <a:avLst/>
          </a:prstGeom>
          <a:solidFill>
            <a:srgbClr val="1926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48" name="Rectangle 147"/>
          <p:cNvSpPr/>
          <p:nvPr/>
        </p:nvSpPr>
        <p:spPr>
          <a:xfrm>
            <a:off x="7223760" y="2509379"/>
            <a:ext cx="219456" cy="219456"/>
          </a:xfrm>
          <a:prstGeom prst="rect">
            <a:avLst/>
          </a:prstGeom>
          <a:solidFill>
            <a:srgbClr val="3A4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49" name="Rectangle 148"/>
          <p:cNvSpPr/>
          <p:nvPr/>
        </p:nvSpPr>
        <p:spPr>
          <a:xfrm>
            <a:off x="7470648" y="2509379"/>
            <a:ext cx="219456" cy="219456"/>
          </a:xfrm>
          <a:prstGeom prst="rect">
            <a:avLst/>
          </a:prstGeom>
          <a:solidFill>
            <a:srgbClr val="3A4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50" name="Rectangle 149"/>
          <p:cNvSpPr/>
          <p:nvPr/>
        </p:nvSpPr>
        <p:spPr>
          <a:xfrm>
            <a:off x="7717536" y="2509379"/>
            <a:ext cx="219456" cy="219456"/>
          </a:xfrm>
          <a:prstGeom prst="rect">
            <a:avLst/>
          </a:prstGeom>
          <a:solidFill>
            <a:srgbClr val="A9B4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51" name="Rectangle 150"/>
          <p:cNvSpPr/>
          <p:nvPr/>
        </p:nvSpPr>
        <p:spPr>
          <a:xfrm>
            <a:off x="7964424" y="2509379"/>
            <a:ext cx="219456" cy="219456"/>
          </a:xfrm>
          <a:prstGeom prst="rect">
            <a:avLst/>
          </a:prstGeom>
          <a:solidFill>
            <a:srgbClr val="6E7D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52" name="Rectangle 151"/>
          <p:cNvSpPr/>
          <p:nvPr/>
        </p:nvSpPr>
        <p:spPr>
          <a:xfrm>
            <a:off x="8211312" y="2509379"/>
            <a:ext cx="219456" cy="219456"/>
          </a:xfrm>
          <a:prstGeom prst="rect">
            <a:avLst/>
          </a:prstGeom>
          <a:solidFill>
            <a:srgbClr val="1926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53" name="Rectangle 152"/>
          <p:cNvSpPr/>
          <p:nvPr/>
        </p:nvSpPr>
        <p:spPr>
          <a:xfrm>
            <a:off x="5989320" y="2756267"/>
            <a:ext cx="219456" cy="219456"/>
          </a:xfrm>
          <a:prstGeom prst="rect">
            <a:avLst/>
          </a:prstGeom>
          <a:solidFill>
            <a:srgbClr val="D94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54" name="Rectangle 153"/>
          <p:cNvSpPr/>
          <p:nvPr/>
        </p:nvSpPr>
        <p:spPr>
          <a:xfrm>
            <a:off x="6236208" y="2756267"/>
            <a:ext cx="219456" cy="219456"/>
          </a:xfrm>
          <a:prstGeom prst="rect">
            <a:avLst/>
          </a:prstGeom>
          <a:solidFill>
            <a:srgbClr val="1926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55" name="Rectangle 154"/>
          <p:cNvSpPr/>
          <p:nvPr/>
        </p:nvSpPr>
        <p:spPr>
          <a:xfrm>
            <a:off x="6483096" y="2756267"/>
            <a:ext cx="219456" cy="219456"/>
          </a:xfrm>
          <a:prstGeom prst="rect">
            <a:avLst/>
          </a:prstGeom>
          <a:solidFill>
            <a:srgbClr val="3A4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56" name="Rectangle 155"/>
          <p:cNvSpPr/>
          <p:nvPr/>
        </p:nvSpPr>
        <p:spPr>
          <a:xfrm>
            <a:off x="6729983" y="2756267"/>
            <a:ext cx="219456" cy="219456"/>
          </a:xfrm>
          <a:prstGeom prst="rect">
            <a:avLst/>
          </a:prstGeom>
          <a:solidFill>
            <a:srgbClr val="6E7D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57" name="Rectangle 156"/>
          <p:cNvSpPr/>
          <p:nvPr/>
        </p:nvSpPr>
        <p:spPr>
          <a:xfrm>
            <a:off x="6976872" y="2756267"/>
            <a:ext cx="219456" cy="219456"/>
          </a:xfrm>
          <a:prstGeom prst="rect">
            <a:avLst/>
          </a:prstGeom>
          <a:solidFill>
            <a:srgbClr val="1926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58" name="Rectangle 157"/>
          <p:cNvSpPr/>
          <p:nvPr/>
        </p:nvSpPr>
        <p:spPr>
          <a:xfrm>
            <a:off x="7223760" y="2756267"/>
            <a:ext cx="219456" cy="219456"/>
          </a:xfrm>
          <a:prstGeom prst="rect">
            <a:avLst/>
          </a:prstGeom>
          <a:solidFill>
            <a:srgbClr val="3A4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59" name="Rectangle 158"/>
          <p:cNvSpPr/>
          <p:nvPr/>
        </p:nvSpPr>
        <p:spPr>
          <a:xfrm>
            <a:off x="7470648" y="2756267"/>
            <a:ext cx="219456" cy="219456"/>
          </a:xfrm>
          <a:prstGeom prst="rect">
            <a:avLst/>
          </a:prstGeom>
          <a:solidFill>
            <a:srgbClr val="1926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60" name="Rectangle 159"/>
          <p:cNvSpPr/>
          <p:nvPr/>
        </p:nvSpPr>
        <p:spPr>
          <a:xfrm>
            <a:off x="7717536" y="2756267"/>
            <a:ext cx="219456" cy="219456"/>
          </a:xfrm>
          <a:prstGeom prst="rect">
            <a:avLst/>
          </a:prstGeom>
          <a:solidFill>
            <a:srgbClr val="3A4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61" name="Rectangle 160"/>
          <p:cNvSpPr/>
          <p:nvPr/>
        </p:nvSpPr>
        <p:spPr>
          <a:xfrm>
            <a:off x="7964424" y="2756267"/>
            <a:ext cx="219456" cy="219456"/>
          </a:xfrm>
          <a:prstGeom prst="rect">
            <a:avLst/>
          </a:prstGeom>
          <a:solidFill>
            <a:srgbClr val="6E7D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62" name="Rectangle 161"/>
          <p:cNvSpPr/>
          <p:nvPr/>
        </p:nvSpPr>
        <p:spPr>
          <a:xfrm>
            <a:off x="8211312" y="2756267"/>
            <a:ext cx="219456" cy="219456"/>
          </a:xfrm>
          <a:prstGeom prst="rect">
            <a:avLst/>
          </a:prstGeom>
          <a:solidFill>
            <a:srgbClr val="3A4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63" name="Rectangle 162"/>
          <p:cNvSpPr/>
          <p:nvPr/>
        </p:nvSpPr>
        <p:spPr>
          <a:xfrm>
            <a:off x="5989320" y="3003155"/>
            <a:ext cx="219456" cy="219456"/>
          </a:xfrm>
          <a:prstGeom prst="rect">
            <a:avLst/>
          </a:prstGeom>
          <a:solidFill>
            <a:srgbClr val="A9B4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64" name="Rectangle 163"/>
          <p:cNvSpPr/>
          <p:nvPr/>
        </p:nvSpPr>
        <p:spPr>
          <a:xfrm>
            <a:off x="6236208" y="3003155"/>
            <a:ext cx="219456" cy="219456"/>
          </a:xfrm>
          <a:prstGeom prst="rect">
            <a:avLst/>
          </a:prstGeom>
          <a:solidFill>
            <a:srgbClr val="1926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65" name="Rectangle 164"/>
          <p:cNvSpPr/>
          <p:nvPr/>
        </p:nvSpPr>
        <p:spPr>
          <a:xfrm>
            <a:off x="6483096" y="3003155"/>
            <a:ext cx="219456" cy="219456"/>
          </a:xfrm>
          <a:prstGeom prst="rect">
            <a:avLst/>
          </a:prstGeom>
          <a:solidFill>
            <a:srgbClr val="6E7D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66" name="Rectangle 165"/>
          <p:cNvSpPr/>
          <p:nvPr/>
        </p:nvSpPr>
        <p:spPr>
          <a:xfrm>
            <a:off x="6729983" y="3003155"/>
            <a:ext cx="219456" cy="219456"/>
          </a:xfrm>
          <a:prstGeom prst="rect">
            <a:avLst/>
          </a:prstGeom>
          <a:solidFill>
            <a:srgbClr val="3A4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67" name="Rectangle 166"/>
          <p:cNvSpPr/>
          <p:nvPr/>
        </p:nvSpPr>
        <p:spPr>
          <a:xfrm>
            <a:off x="6976872" y="3003155"/>
            <a:ext cx="219456" cy="219456"/>
          </a:xfrm>
          <a:prstGeom prst="rect">
            <a:avLst/>
          </a:prstGeom>
          <a:solidFill>
            <a:srgbClr val="3A4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68" name="Rectangle 167"/>
          <p:cNvSpPr/>
          <p:nvPr/>
        </p:nvSpPr>
        <p:spPr>
          <a:xfrm>
            <a:off x="7223760" y="3003155"/>
            <a:ext cx="219456" cy="219456"/>
          </a:xfrm>
          <a:prstGeom prst="rect">
            <a:avLst/>
          </a:prstGeom>
          <a:solidFill>
            <a:srgbClr val="3A4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69" name="Rectangle 168"/>
          <p:cNvSpPr/>
          <p:nvPr/>
        </p:nvSpPr>
        <p:spPr>
          <a:xfrm>
            <a:off x="7470648" y="3003155"/>
            <a:ext cx="219456" cy="219456"/>
          </a:xfrm>
          <a:prstGeom prst="rect">
            <a:avLst/>
          </a:prstGeom>
          <a:solidFill>
            <a:srgbClr val="6E7D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70" name="Rectangle 169"/>
          <p:cNvSpPr/>
          <p:nvPr/>
        </p:nvSpPr>
        <p:spPr>
          <a:xfrm>
            <a:off x="7717536" y="3003155"/>
            <a:ext cx="219456" cy="219456"/>
          </a:xfrm>
          <a:prstGeom prst="rect">
            <a:avLst/>
          </a:prstGeom>
          <a:solidFill>
            <a:srgbClr val="D94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71" name="Rectangle 170"/>
          <p:cNvSpPr/>
          <p:nvPr/>
        </p:nvSpPr>
        <p:spPr>
          <a:xfrm>
            <a:off x="7964424" y="3003155"/>
            <a:ext cx="219456" cy="219456"/>
          </a:xfrm>
          <a:prstGeom prst="rect">
            <a:avLst/>
          </a:prstGeom>
          <a:solidFill>
            <a:srgbClr val="3A4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72" name="Rectangle 171"/>
          <p:cNvSpPr/>
          <p:nvPr/>
        </p:nvSpPr>
        <p:spPr>
          <a:xfrm>
            <a:off x="8211312" y="3003155"/>
            <a:ext cx="219456" cy="219456"/>
          </a:xfrm>
          <a:prstGeom prst="rect">
            <a:avLst/>
          </a:prstGeom>
          <a:solidFill>
            <a:srgbClr val="3A4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73" name="Rectangle 172"/>
          <p:cNvSpPr/>
          <p:nvPr/>
        </p:nvSpPr>
        <p:spPr>
          <a:xfrm>
            <a:off x="5989320" y="3250043"/>
            <a:ext cx="219456" cy="219456"/>
          </a:xfrm>
          <a:prstGeom prst="rect">
            <a:avLst/>
          </a:prstGeom>
          <a:solidFill>
            <a:srgbClr val="1926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74" name="Rectangle 173"/>
          <p:cNvSpPr/>
          <p:nvPr/>
        </p:nvSpPr>
        <p:spPr>
          <a:xfrm>
            <a:off x="6236208" y="3250043"/>
            <a:ext cx="219456" cy="219456"/>
          </a:xfrm>
          <a:prstGeom prst="rect">
            <a:avLst/>
          </a:prstGeom>
          <a:solidFill>
            <a:srgbClr val="6E7D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75" name="Rectangle 174"/>
          <p:cNvSpPr/>
          <p:nvPr/>
        </p:nvSpPr>
        <p:spPr>
          <a:xfrm>
            <a:off x="6483096" y="3250043"/>
            <a:ext cx="219456" cy="219456"/>
          </a:xfrm>
          <a:prstGeom prst="rect">
            <a:avLst/>
          </a:prstGeom>
          <a:solidFill>
            <a:srgbClr val="3A4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76" name="Rectangle 175"/>
          <p:cNvSpPr/>
          <p:nvPr/>
        </p:nvSpPr>
        <p:spPr>
          <a:xfrm>
            <a:off x="6729983" y="3250043"/>
            <a:ext cx="219456" cy="219456"/>
          </a:xfrm>
          <a:prstGeom prst="rect">
            <a:avLst/>
          </a:prstGeom>
          <a:solidFill>
            <a:srgbClr val="D94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77" name="Rectangle 176"/>
          <p:cNvSpPr/>
          <p:nvPr/>
        </p:nvSpPr>
        <p:spPr>
          <a:xfrm>
            <a:off x="6976872" y="3250043"/>
            <a:ext cx="219456" cy="219456"/>
          </a:xfrm>
          <a:prstGeom prst="rect">
            <a:avLst/>
          </a:prstGeom>
          <a:solidFill>
            <a:srgbClr val="6E7D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78" name="Rectangle 177"/>
          <p:cNvSpPr/>
          <p:nvPr/>
        </p:nvSpPr>
        <p:spPr>
          <a:xfrm>
            <a:off x="7223760" y="3250043"/>
            <a:ext cx="219456" cy="219456"/>
          </a:xfrm>
          <a:prstGeom prst="rect">
            <a:avLst/>
          </a:prstGeom>
          <a:solidFill>
            <a:srgbClr val="1926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79" name="Rectangle 178"/>
          <p:cNvSpPr/>
          <p:nvPr/>
        </p:nvSpPr>
        <p:spPr>
          <a:xfrm>
            <a:off x="7470648" y="3250043"/>
            <a:ext cx="219456" cy="219456"/>
          </a:xfrm>
          <a:prstGeom prst="rect">
            <a:avLst/>
          </a:prstGeom>
          <a:solidFill>
            <a:srgbClr val="3A4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80" name="Rectangle 179"/>
          <p:cNvSpPr/>
          <p:nvPr/>
        </p:nvSpPr>
        <p:spPr>
          <a:xfrm>
            <a:off x="7717536" y="3250043"/>
            <a:ext cx="219456" cy="219456"/>
          </a:xfrm>
          <a:prstGeom prst="rect">
            <a:avLst/>
          </a:prstGeom>
          <a:solidFill>
            <a:srgbClr val="3A4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81" name="Rectangle 180"/>
          <p:cNvSpPr/>
          <p:nvPr/>
        </p:nvSpPr>
        <p:spPr>
          <a:xfrm>
            <a:off x="7964424" y="3250043"/>
            <a:ext cx="219456" cy="219456"/>
          </a:xfrm>
          <a:prstGeom prst="rect">
            <a:avLst/>
          </a:prstGeom>
          <a:solidFill>
            <a:srgbClr val="1926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82" name="Rectangle 181"/>
          <p:cNvSpPr/>
          <p:nvPr/>
        </p:nvSpPr>
        <p:spPr>
          <a:xfrm>
            <a:off x="8211312" y="3250043"/>
            <a:ext cx="219456" cy="219456"/>
          </a:xfrm>
          <a:prstGeom prst="rect">
            <a:avLst/>
          </a:prstGeom>
          <a:solidFill>
            <a:srgbClr val="3A4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83" name="Rectangle 182"/>
          <p:cNvSpPr/>
          <p:nvPr/>
        </p:nvSpPr>
        <p:spPr>
          <a:xfrm>
            <a:off x="5989320" y="3496931"/>
            <a:ext cx="219456" cy="219456"/>
          </a:xfrm>
          <a:prstGeom prst="rect">
            <a:avLst/>
          </a:prstGeom>
          <a:solidFill>
            <a:srgbClr val="1926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84" name="Rectangle 183"/>
          <p:cNvSpPr/>
          <p:nvPr/>
        </p:nvSpPr>
        <p:spPr>
          <a:xfrm>
            <a:off x="6236208" y="3496931"/>
            <a:ext cx="219456" cy="219456"/>
          </a:xfrm>
          <a:prstGeom prst="rect">
            <a:avLst/>
          </a:prstGeom>
          <a:solidFill>
            <a:srgbClr val="1926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85" name="Rectangle 184"/>
          <p:cNvSpPr/>
          <p:nvPr/>
        </p:nvSpPr>
        <p:spPr>
          <a:xfrm>
            <a:off x="6483096" y="3496931"/>
            <a:ext cx="219456" cy="219456"/>
          </a:xfrm>
          <a:prstGeom prst="rect">
            <a:avLst/>
          </a:prstGeom>
          <a:solidFill>
            <a:srgbClr val="1926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86" name="Rectangle 185"/>
          <p:cNvSpPr/>
          <p:nvPr/>
        </p:nvSpPr>
        <p:spPr>
          <a:xfrm>
            <a:off x="6729983" y="3496931"/>
            <a:ext cx="219456" cy="219456"/>
          </a:xfrm>
          <a:prstGeom prst="rect">
            <a:avLst/>
          </a:prstGeom>
          <a:solidFill>
            <a:srgbClr val="6E7D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87" name="Rectangle 186"/>
          <p:cNvSpPr/>
          <p:nvPr/>
        </p:nvSpPr>
        <p:spPr>
          <a:xfrm>
            <a:off x="6976872" y="3496931"/>
            <a:ext cx="219456" cy="219456"/>
          </a:xfrm>
          <a:prstGeom prst="rect">
            <a:avLst/>
          </a:prstGeom>
          <a:solidFill>
            <a:srgbClr val="1926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88" name="Rectangle 187"/>
          <p:cNvSpPr/>
          <p:nvPr/>
        </p:nvSpPr>
        <p:spPr>
          <a:xfrm>
            <a:off x="7223760" y="3496931"/>
            <a:ext cx="219456" cy="219456"/>
          </a:xfrm>
          <a:prstGeom prst="rect">
            <a:avLst/>
          </a:prstGeom>
          <a:solidFill>
            <a:srgbClr val="1926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89" name="Rectangle 188"/>
          <p:cNvSpPr/>
          <p:nvPr/>
        </p:nvSpPr>
        <p:spPr>
          <a:xfrm>
            <a:off x="7470648" y="3496931"/>
            <a:ext cx="219456" cy="219456"/>
          </a:xfrm>
          <a:prstGeom prst="rect">
            <a:avLst/>
          </a:prstGeom>
          <a:solidFill>
            <a:srgbClr val="3A4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90" name="Rectangle 189"/>
          <p:cNvSpPr/>
          <p:nvPr/>
        </p:nvSpPr>
        <p:spPr>
          <a:xfrm>
            <a:off x="7717536" y="3496931"/>
            <a:ext cx="219456" cy="219456"/>
          </a:xfrm>
          <a:prstGeom prst="rect">
            <a:avLst/>
          </a:prstGeom>
          <a:solidFill>
            <a:srgbClr val="A9B4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91" name="Rectangle 190"/>
          <p:cNvSpPr/>
          <p:nvPr/>
        </p:nvSpPr>
        <p:spPr>
          <a:xfrm>
            <a:off x="7964424" y="3496931"/>
            <a:ext cx="219456" cy="219456"/>
          </a:xfrm>
          <a:prstGeom prst="rect">
            <a:avLst/>
          </a:prstGeom>
          <a:solidFill>
            <a:srgbClr val="1926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92" name="Rectangle 191"/>
          <p:cNvSpPr/>
          <p:nvPr/>
        </p:nvSpPr>
        <p:spPr>
          <a:xfrm>
            <a:off x="8211312" y="3496931"/>
            <a:ext cx="219456" cy="219456"/>
          </a:xfrm>
          <a:prstGeom prst="rect">
            <a:avLst/>
          </a:prstGeom>
          <a:solidFill>
            <a:srgbClr val="3A4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93" name="Rectangle 192"/>
          <p:cNvSpPr/>
          <p:nvPr/>
        </p:nvSpPr>
        <p:spPr>
          <a:xfrm>
            <a:off x="5989320" y="3743819"/>
            <a:ext cx="219456" cy="219456"/>
          </a:xfrm>
          <a:prstGeom prst="rect">
            <a:avLst/>
          </a:prstGeom>
          <a:solidFill>
            <a:srgbClr val="3A4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94" name="Rectangle 193"/>
          <p:cNvSpPr/>
          <p:nvPr/>
        </p:nvSpPr>
        <p:spPr>
          <a:xfrm>
            <a:off x="6236208" y="3743819"/>
            <a:ext cx="219456" cy="219456"/>
          </a:xfrm>
          <a:prstGeom prst="rect">
            <a:avLst/>
          </a:prstGeom>
          <a:solidFill>
            <a:srgbClr val="A9B4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95" name="Rectangle 194"/>
          <p:cNvSpPr/>
          <p:nvPr/>
        </p:nvSpPr>
        <p:spPr>
          <a:xfrm>
            <a:off x="6483096" y="3743819"/>
            <a:ext cx="219456" cy="219456"/>
          </a:xfrm>
          <a:prstGeom prst="rect">
            <a:avLst/>
          </a:prstGeom>
          <a:solidFill>
            <a:srgbClr val="6E7D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96" name="Rectangle 195"/>
          <p:cNvSpPr/>
          <p:nvPr/>
        </p:nvSpPr>
        <p:spPr>
          <a:xfrm>
            <a:off x="6729983" y="3743819"/>
            <a:ext cx="219456" cy="219456"/>
          </a:xfrm>
          <a:prstGeom prst="rect">
            <a:avLst/>
          </a:prstGeom>
          <a:solidFill>
            <a:srgbClr val="A9B4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97" name="Rectangle 196"/>
          <p:cNvSpPr/>
          <p:nvPr/>
        </p:nvSpPr>
        <p:spPr>
          <a:xfrm>
            <a:off x="6976872" y="3743819"/>
            <a:ext cx="219456" cy="219456"/>
          </a:xfrm>
          <a:prstGeom prst="rect">
            <a:avLst/>
          </a:prstGeom>
          <a:solidFill>
            <a:srgbClr val="1926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98" name="Rectangle 197"/>
          <p:cNvSpPr/>
          <p:nvPr/>
        </p:nvSpPr>
        <p:spPr>
          <a:xfrm>
            <a:off x="7223760" y="3743819"/>
            <a:ext cx="219456" cy="219456"/>
          </a:xfrm>
          <a:prstGeom prst="rect">
            <a:avLst/>
          </a:prstGeom>
          <a:solidFill>
            <a:srgbClr val="3A4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99" name="Rectangle 198"/>
          <p:cNvSpPr/>
          <p:nvPr/>
        </p:nvSpPr>
        <p:spPr>
          <a:xfrm>
            <a:off x="7470648" y="3743819"/>
            <a:ext cx="219456" cy="219456"/>
          </a:xfrm>
          <a:prstGeom prst="rect">
            <a:avLst/>
          </a:prstGeom>
          <a:solidFill>
            <a:srgbClr val="1926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00" name="Rectangle 199"/>
          <p:cNvSpPr/>
          <p:nvPr/>
        </p:nvSpPr>
        <p:spPr>
          <a:xfrm>
            <a:off x="7717536" y="3743819"/>
            <a:ext cx="219456" cy="219456"/>
          </a:xfrm>
          <a:prstGeom prst="rect">
            <a:avLst/>
          </a:prstGeom>
          <a:solidFill>
            <a:srgbClr val="A9B4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01" name="Rectangle 200"/>
          <p:cNvSpPr/>
          <p:nvPr/>
        </p:nvSpPr>
        <p:spPr>
          <a:xfrm>
            <a:off x="7964424" y="3743819"/>
            <a:ext cx="219456" cy="219456"/>
          </a:xfrm>
          <a:prstGeom prst="rect">
            <a:avLst/>
          </a:prstGeom>
          <a:solidFill>
            <a:srgbClr val="D94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02" name="Rectangle 201"/>
          <p:cNvSpPr/>
          <p:nvPr/>
        </p:nvSpPr>
        <p:spPr>
          <a:xfrm>
            <a:off x="8211312" y="3743819"/>
            <a:ext cx="219456" cy="219456"/>
          </a:xfrm>
          <a:prstGeom prst="rect">
            <a:avLst/>
          </a:prstGeom>
          <a:solidFill>
            <a:srgbClr val="1926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03" name="TextBox 202"/>
          <p:cNvSpPr txBox="1"/>
          <p:nvPr/>
        </p:nvSpPr>
        <p:spPr>
          <a:xfrm>
            <a:off x="5989320" y="4036427"/>
            <a:ext cx="246888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900" b="0" i="0">
                <a:solidFill>
                  <a:srgbClr val="5B6275"/>
                </a:solidFill>
                <a:latin typeface="Nanum Gothic"/>
                <a:ea typeface="Nanum Gothic"/>
                <a:cs typeface="Nanum Gothic"/>
              </a:rPr>
              <a:t>공격 스타일 (Attack Style) →</a:t>
            </a:r>
          </a:p>
        </p:txBody>
      </p:sp>
      <p:sp>
        <p:nvSpPr>
          <p:cNvPr id="204" name="TextBox 203"/>
          <p:cNvSpPr txBox="1"/>
          <p:nvPr/>
        </p:nvSpPr>
        <p:spPr>
          <a:xfrm rot="16200000">
            <a:off x="4590288" y="2641967"/>
            <a:ext cx="246888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900" b="0" i="0">
                <a:solidFill>
                  <a:srgbClr val="5B6275"/>
                </a:solidFill>
                <a:latin typeface="Nanum Gothic"/>
                <a:ea typeface="Nanum Gothic"/>
                <a:cs typeface="Nanum Gothic"/>
              </a:rPr>
              <a:t>← 위험 유형 (Risk Category)</a:t>
            </a:r>
          </a:p>
        </p:txBody>
      </p:sp>
      <p:sp>
        <p:nvSpPr>
          <p:cNvPr id="205" name="TextBox 204"/>
          <p:cNvSpPr txBox="1"/>
          <p:nvPr/>
        </p:nvSpPr>
        <p:spPr>
          <a:xfrm>
            <a:off x="5440680" y="4310747"/>
            <a:ext cx="3291840" cy="3657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900" b="0" i="0">
                <a:solidFill>
                  <a:srgbClr val="5B6275"/>
                </a:solidFill>
                <a:latin typeface="Nanum Gothic"/>
                <a:ea typeface="Nanum Gothic"/>
                <a:cs typeface="Nanum Gothic"/>
              </a:rPr>
              <a:t>개념도: 10×10 칸마다 가장 강한 프롬프트 1개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6"/>
          <p:cNvSpPr/>
          <p:nvPr/>
        </p:nvSpPr>
        <p:spPr>
          <a:xfrm>
            <a:off x="0" y="-37950"/>
            <a:ext cx="1181100" cy="5219400"/>
          </a:xfrm>
          <a:prstGeom prst="rect">
            <a:avLst/>
          </a:prstGeom>
          <a:solidFill>
            <a:srgbClr val="19264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90" name="Google Shape;90;p16"/>
          <p:cNvCxnSpPr/>
          <p:nvPr/>
        </p:nvCxnSpPr>
        <p:spPr>
          <a:xfrm>
            <a:off x="172875" y="-37950"/>
            <a:ext cx="0" cy="2187000"/>
          </a:xfrm>
          <a:prstGeom prst="straightConnector1">
            <a:avLst/>
          </a:prstGeom>
          <a:noFill/>
          <a:ln w="38100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91" name="Google Shape;91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5400000">
            <a:off x="-928700" y="3071650"/>
            <a:ext cx="3038475" cy="1181100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16"/>
          <p:cNvSpPr txBox="1"/>
          <p:nvPr/>
        </p:nvSpPr>
        <p:spPr>
          <a:xfrm>
            <a:off x="1408975" y="306875"/>
            <a:ext cx="7498079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2000">
                <a:solidFill>
                  <a:srgbClr val="19264B"/>
                </a:solidFill>
                <a:latin typeface="NanumGothicExtraBold"/>
                <a:ea typeface="NanumGothicExtraBold"/>
                <a:cs typeface="NanumGothicExtraBold"/>
                <a:sym typeface="NanumGothicExtraBold"/>
              </a:rPr>
              <a:t>방법: 선택 → 변형 → 평가 → 비교·갱신 루프</a:t>
            </a:r>
            <a:endParaRPr sz="2000">
              <a:solidFill>
                <a:srgbClr val="19264B"/>
              </a:solidFill>
              <a:latin typeface="NanumGothicExtraBold"/>
              <a:ea typeface="NanumGothicExtraBold"/>
              <a:cs typeface="NanumGothicExtraBold"/>
              <a:sym typeface="NanumGothicExtraBold"/>
            </a:endParaRPr>
          </a:p>
        </p:txBody>
      </p:sp>
      <p:sp>
        <p:nvSpPr>
          <p:cNvPr id="93" name="TextBox 92"/>
          <p:cNvSpPr txBox="1"/>
          <p:nvPr/>
        </p:nvSpPr>
        <p:spPr>
          <a:xfrm>
            <a:off x="1499616" y="786384"/>
            <a:ext cx="7187184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000" b="0" i="0" dirty="0">
                <a:solidFill>
                  <a:srgbClr val="5B6275"/>
                </a:solidFill>
                <a:latin typeface="Nanum Gothic"/>
                <a:ea typeface="Nanum Gothic"/>
                <a:cs typeface="Nanum Gothic"/>
              </a:rPr>
              <a:t>PAPER 01  |  </a:t>
            </a:r>
            <a:r>
              <a:rPr sz="1000" b="0" i="0" dirty="0" err="1">
                <a:solidFill>
                  <a:srgbClr val="5B6275"/>
                </a:solidFill>
                <a:latin typeface="Nanum Gothic"/>
                <a:ea typeface="Nanum Gothic"/>
                <a:cs typeface="Nanum Gothic"/>
              </a:rPr>
              <a:t>모든</a:t>
            </a:r>
            <a:r>
              <a:rPr sz="1000" b="0" i="0" dirty="0">
                <a:solidFill>
                  <a:srgbClr val="5B6275"/>
                </a:solidFill>
                <a:latin typeface="Nanum Gothic"/>
                <a:ea typeface="Nanum Gothic"/>
                <a:cs typeface="Nanum Gothic"/>
              </a:rPr>
              <a:t> </a:t>
            </a:r>
            <a:r>
              <a:rPr sz="1000" b="0" i="0" dirty="0" err="1">
                <a:solidFill>
                  <a:srgbClr val="5B6275"/>
                </a:solidFill>
                <a:latin typeface="Nanum Gothic"/>
                <a:ea typeface="Nanum Gothic"/>
                <a:cs typeface="Nanum Gothic"/>
              </a:rPr>
              <a:t>핵심</a:t>
            </a:r>
            <a:r>
              <a:rPr sz="1000" b="0" i="0" dirty="0">
                <a:solidFill>
                  <a:srgbClr val="5B6275"/>
                </a:solidFill>
                <a:latin typeface="Nanum Gothic"/>
                <a:ea typeface="Nanum Gothic"/>
                <a:cs typeface="Nanum Gothic"/>
              </a:rPr>
              <a:t> </a:t>
            </a:r>
            <a:r>
              <a:rPr sz="1000" b="0" i="0" dirty="0" err="1">
                <a:solidFill>
                  <a:srgbClr val="5B6275"/>
                </a:solidFill>
                <a:latin typeface="Nanum Gothic"/>
                <a:ea typeface="Nanum Gothic"/>
                <a:cs typeface="Nanum Gothic"/>
              </a:rPr>
              <a:t>단계를</a:t>
            </a:r>
            <a:r>
              <a:rPr sz="1000" b="0" i="0" dirty="0">
                <a:solidFill>
                  <a:srgbClr val="5B6275"/>
                </a:solidFill>
                <a:latin typeface="Nanum Gothic"/>
                <a:ea typeface="Nanum Gothic"/>
                <a:cs typeface="Nanum Gothic"/>
              </a:rPr>
              <a:t> </a:t>
            </a:r>
            <a:r>
              <a:rPr sz="1000" b="0" i="0" dirty="0" err="1">
                <a:solidFill>
                  <a:srgbClr val="5B6275"/>
                </a:solidFill>
                <a:latin typeface="Nanum Gothic"/>
                <a:ea typeface="Nanum Gothic"/>
                <a:cs typeface="Nanum Gothic"/>
              </a:rPr>
              <a:t>LLM이</a:t>
            </a:r>
            <a:r>
              <a:rPr sz="1000" b="0" i="0" dirty="0">
                <a:solidFill>
                  <a:srgbClr val="5B6275"/>
                </a:solidFill>
                <a:latin typeface="Nanum Gothic"/>
                <a:ea typeface="Nanum Gothic"/>
                <a:cs typeface="Nanum Gothic"/>
              </a:rPr>
              <a:t> </a:t>
            </a:r>
            <a:r>
              <a:rPr sz="1000" b="0" i="0" dirty="0" err="1">
                <a:solidFill>
                  <a:srgbClr val="5B6275"/>
                </a:solidFill>
                <a:latin typeface="Nanum Gothic"/>
                <a:ea typeface="Nanum Gothic"/>
                <a:cs typeface="Nanum Gothic"/>
              </a:rPr>
              <a:t>수행</a:t>
            </a:r>
            <a:endParaRPr sz="1000" b="0" i="0" dirty="0">
              <a:solidFill>
                <a:srgbClr val="5B6275"/>
              </a:solidFill>
              <a:latin typeface="Nanum Gothic"/>
              <a:ea typeface="Nanum Gothic"/>
              <a:cs typeface="Nanum Gothic"/>
            </a:endParaRPr>
          </a:p>
        </p:txBody>
      </p:sp>
      <p:sp>
        <p:nvSpPr>
          <p:cNvPr id="94" name="Rounded Rectangle 93"/>
          <p:cNvSpPr/>
          <p:nvPr/>
        </p:nvSpPr>
        <p:spPr>
          <a:xfrm>
            <a:off x="1499616" y="1362895"/>
            <a:ext cx="1572768" cy="1874519"/>
          </a:xfrm>
          <a:prstGeom prst="roundRect">
            <a:avLst>
              <a:gd name="adj" fmla="val 6000"/>
            </a:avLst>
          </a:prstGeom>
          <a:solidFill>
            <a:srgbClr val="ED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95" name="Oval 94"/>
          <p:cNvSpPr/>
          <p:nvPr/>
        </p:nvSpPr>
        <p:spPr>
          <a:xfrm>
            <a:off x="1636775" y="1500055"/>
            <a:ext cx="329184" cy="329184"/>
          </a:xfrm>
          <a:prstGeom prst="ellipse">
            <a:avLst/>
          </a:prstGeom>
          <a:solidFill>
            <a:srgbClr val="D94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200" b="1" i="0">
                <a:solidFill>
                  <a:srgbClr val="FFFFFF"/>
                </a:solidFill>
                <a:latin typeface="NanumGothicExtraBold"/>
                <a:ea typeface="NanumGothicExtraBold"/>
                <a:cs typeface="NanumGothicExtraBold"/>
              </a:rPr>
              <a:t>1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2048255" y="1472623"/>
            <a:ext cx="932688" cy="4114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00" b="1" i="0">
                <a:solidFill>
                  <a:srgbClr val="19264B"/>
                </a:solidFill>
                <a:latin typeface="NanumGothicExtraBold"/>
                <a:ea typeface="NanumGothicExtraBold"/>
                <a:cs typeface="NanumGothicExtraBold"/>
              </a:rPr>
              <a:t>선택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1636775" y="1911535"/>
            <a:ext cx="1298448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900" b="1" i="0">
                <a:solidFill>
                  <a:srgbClr val="5B6275"/>
                </a:solidFill>
                <a:latin typeface="NanumGothicExtraBold"/>
                <a:ea typeface="NanumGothicExtraBold"/>
                <a:cs typeface="NanumGothicExtraBold"/>
              </a:rPr>
              <a:t>Selection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1636775" y="2185855"/>
            <a:ext cx="1298448" cy="10058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000" b="0" i="0">
                <a:solidFill>
                  <a:srgbClr val="19264B"/>
                </a:solidFill>
                <a:latin typeface="Nanum Gothic"/>
                <a:ea typeface="Nanum Gothic"/>
                <a:cs typeface="Nanum Gothic"/>
              </a:rPr>
              <a:t>아카이브에서 부모 프롬프트와 새 목표 칸 z′를 샘플 (성능 낮은 칸 우선)</a:t>
            </a:r>
          </a:p>
        </p:txBody>
      </p:sp>
      <p:sp>
        <p:nvSpPr>
          <p:cNvPr id="99" name="Chevron 98"/>
          <p:cNvSpPr/>
          <p:nvPr/>
        </p:nvSpPr>
        <p:spPr>
          <a:xfrm>
            <a:off x="3148584" y="2181283"/>
            <a:ext cx="146304" cy="237744"/>
          </a:xfrm>
          <a:prstGeom prst="chevron">
            <a:avLst/>
          </a:prstGeom>
          <a:solidFill>
            <a:srgbClr val="D94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00" name="Rounded Rectangle 99"/>
          <p:cNvSpPr/>
          <p:nvPr/>
        </p:nvSpPr>
        <p:spPr>
          <a:xfrm>
            <a:off x="3371088" y="1362895"/>
            <a:ext cx="1572768" cy="1874519"/>
          </a:xfrm>
          <a:prstGeom prst="roundRect">
            <a:avLst>
              <a:gd name="adj" fmla="val 6000"/>
            </a:avLst>
          </a:prstGeom>
          <a:solidFill>
            <a:srgbClr val="ED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01" name="Oval 100"/>
          <p:cNvSpPr/>
          <p:nvPr/>
        </p:nvSpPr>
        <p:spPr>
          <a:xfrm>
            <a:off x="3508248" y="1500055"/>
            <a:ext cx="329184" cy="329184"/>
          </a:xfrm>
          <a:prstGeom prst="ellipse">
            <a:avLst/>
          </a:prstGeom>
          <a:solidFill>
            <a:srgbClr val="D94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200" b="1" i="0">
                <a:solidFill>
                  <a:srgbClr val="FFFFFF"/>
                </a:solidFill>
                <a:latin typeface="NanumGothicExtraBold"/>
                <a:ea typeface="NanumGothicExtraBold"/>
                <a:cs typeface="NanumGothicExtraBold"/>
              </a:rPr>
              <a:t>2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3919727" y="1472623"/>
            <a:ext cx="932688" cy="4114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00" b="1" i="0">
                <a:solidFill>
                  <a:srgbClr val="19264B"/>
                </a:solidFill>
                <a:latin typeface="NanumGothicExtraBold"/>
                <a:ea typeface="NanumGothicExtraBold"/>
                <a:cs typeface="NanumGothicExtraBold"/>
              </a:rPr>
              <a:t>변형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3508248" y="1911535"/>
            <a:ext cx="1298448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900" b="1" i="0">
                <a:solidFill>
                  <a:srgbClr val="5B6275"/>
                </a:solidFill>
                <a:latin typeface="NanumGothicExtraBold"/>
                <a:ea typeface="NanumGothicExtraBold"/>
                <a:cs typeface="NanumGothicExtraBold"/>
              </a:rPr>
              <a:t>Mutation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3508248" y="2185855"/>
            <a:ext cx="1298448" cy="10058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000" b="0" i="0">
                <a:solidFill>
                  <a:srgbClr val="19264B"/>
                </a:solidFill>
                <a:latin typeface="Nanum Gothic"/>
                <a:ea typeface="Nanum Gothic"/>
                <a:cs typeface="Nanum Gothic"/>
              </a:rPr>
              <a:t>Mutator LLM이 위험 유형 → 공격 스타일 순으로 변형, BLEU 필터로 유사 프롬프트 제거</a:t>
            </a:r>
          </a:p>
        </p:txBody>
      </p:sp>
      <p:sp>
        <p:nvSpPr>
          <p:cNvPr id="105" name="Chevron 104"/>
          <p:cNvSpPr/>
          <p:nvPr/>
        </p:nvSpPr>
        <p:spPr>
          <a:xfrm>
            <a:off x="5020055" y="2181283"/>
            <a:ext cx="146304" cy="237744"/>
          </a:xfrm>
          <a:prstGeom prst="chevron">
            <a:avLst/>
          </a:prstGeom>
          <a:solidFill>
            <a:srgbClr val="D94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06" name="Rounded Rectangle 105"/>
          <p:cNvSpPr/>
          <p:nvPr/>
        </p:nvSpPr>
        <p:spPr>
          <a:xfrm>
            <a:off x="5242560" y="1362895"/>
            <a:ext cx="1572768" cy="1874519"/>
          </a:xfrm>
          <a:prstGeom prst="roundRect">
            <a:avLst>
              <a:gd name="adj" fmla="val 6000"/>
            </a:avLst>
          </a:prstGeom>
          <a:solidFill>
            <a:srgbClr val="ED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07" name="Oval 106"/>
          <p:cNvSpPr/>
          <p:nvPr/>
        </p:nvSpPr>
        <p:spPr>
          <a:xfrm>
            <a:off x="5379720" y="1500055"/>
            <a:ext cx="329184" cy="329184"/>
          </a:xfrm>
          <a:prstGeom prst="ellipse">
            <a:avLst/>
          </a:prstGeom>
          <a:solidFill>
            <a:srgbClr val="D94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200" b="1" i="0">
                <a:solidFill>
                  <a:srgbClr val="FFFFFF"/>
                </a:solidFill>
                <a:latin typeface="NanumGothicExtraBold"/>
                <a:ea typeface="NanumGothicExtraBold"/>
                <a:cs typeface="NanumGothicExtraBold"/>
              </a:rPr>
              <a:t>3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5791200" y="1472623"/>
            <a:ext cx="932688" cy="4114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00" b="1" i="0">
                <a:solidFill>
                  <a:srgbClr val="19264B"/>
                </a:solidFill>
                <a:latin typeface="NanumGothicExtraBold"/>
                <a:ea typeface="NanumGothicExtraBold"/>
                <a:cs typeface="NanumGothicExtraBold"/>
              </a:rPr>
              <a:t>평가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5379720" y="1911535"/>
            <a:ext cx="1298448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900" b="1" i="0">
                <a:solidFill>
                  <a:srgbClr val="5B6275"/>
                </a:solidFill>
                <a:latin typeface="NanumGothicExtraBold"/>
                <a:ea typeface="NanumGothicExtraBold"/>
                <a:cs typeface="NanumGothicExtraBold"/>
              </a:rPr>
              <a:t>Target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5379720" y="2185855"/>
            <a:ext cx="1298448" cy="10058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000" b="0" i="0">
                <a:solidFill>
                  <a:srgbClr val="19264B"/>
                </a:solidFill>
                <a:latin typeface="Nanum Gothic"/>
                <a:ea typeface="Nanum Gothic"/>
                <a:cs typeface="Nanum Gothic"/>
              </a:rPr>
              <a:t>변형된 프롬프트를 Target LLM에 입력해 응답 생성</a:t>
            </a:r>
          </a:p>
        </p:txBody>
      </p:sp>
      <p:sp>
        <p:nvSpPr>
          <p:cNvPr id="111" name="Chevron 110"/>
          <p:cNvSpPr/>
          <p:nvPr/>
        </p:nvSpPr>
        <p:spPr>
          <a:xfrm>
            <a:off x="6891528" y="2181283"/>
            <a:ext cx="146304" cy="237744"/>
          </a:xfrm>
          <a:prstGeom prst="chevron">
            <a:avLst/>
          </a:prstGeom>
          <a:solidFill>
            <a:srgbClr val="D94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12" name="Rounded Rectangle 111"/>
          <p:cNvSpPr/>
          <p:nvPr/>
        </p:nvSpPr>
        <p:spPr>
          <a:xfrm>
            <a:off x="7114032" y="1362895"/>
            <a:ext cx="1572768" cy="1874519"/>
          </a:xfrm>
          <a:prstGeom prst="roundRect">
            <a:avLst>
              <a:gd name="adj" fmla="val 6000"/>
            </a:avLst>
          </a:prstGeom>
          <a:solidFill>
            <a:srgbClr val="1926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13" name="Oval 112"/>
          <p:cNvSpPr/>
          <p:nvPr/>
        </p:nvSpPr>
        <p:spPr>
          <a:xfrm>
            <a:off x="7251192" y="1500055"/>
            <a:ext cx="329184" cy="329184"/>
          </a:xfrm>
          <a:prstGeom prst="ellipse">
            <a:avLst/>
          </a:prstGeom>
          <a:solidFill>
            <a:srgbClr val="D94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200" b="1" i="0">
                <a:solidFill>
                  <a:srgbClr val="FFFFFF"/>
                </a:solidFill>
                <a:latin typeface="NanumGothicExtraBold"/>
                <a:ea typeface="NanumGothicExtraBold"/>
                <a:cs typeface="NanumGothicExtraBold"/>
              </a:rPr>
              <a:t>4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7662672" y="1472623"/>
            <a:ext cx="932688" cy="4114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00" b="1" i="0">
                <a:solidFill>
                  <a:srgbClr val="FFFFFF"/>
                </a:solidFill>
                <a:latin typeface="NanumGothicExtraBold"/>
                <a:ea typeface="NanumGothicExtraBold"/>
                <a:cs typeface="NanumGothicExtraBold"/>
              </a:rPr>
              <a:t>비교·갱신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7251192" y="1911535"/>
            <a:ext cx="1298448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900" b="1" i="0">
                <a:solidFill>
                  <a:srgbClr val="F2A07B"/>
                </a:solidFill>
                <a:latin typeface="NanumGothicExtraBold"/>
                <a:ea typeface="NanumGothicExtraBold"/>
                <a:cs typeface="NanumGothicExtraBold"/>
              </a:rPr>
              <a:t>Judge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7251192" y="2185855"/>
            <a:ext cx="1298448" cy="10058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000" b="0" i="0">
                <a:solidFill>
                  <a:srgbClr val="FFFFFF"/>
                </a:solidFill>
                <a:latin typeface="Nanum Gothic"/>
                <a:ea typeface="Nanum Gothic"/>
                <a:cs typeface="Nanum Gothic"/>
              </a:rPr>
              <a:t>Judge LLM이 기존 elite와 쌍대 비교, 더 위험한 응답을 이끈 쪽을 저장</a:t>
            </a:r>
          </a:p>
        </p:txBody>
      </p:sp>
      <p:cxnSp>
        <p:nvCxnSpPr>
          <p:cNvPr id="117" name="Connector 116"/>
          <p:cNvCxnSpPr/>
          <p:nvPr/>
        </p:nvCxnSpPr>
        <p:spPr>
          <a:xfrm>
            <a:off x="7900416" y="3237414"/>
            <a:ext cx="0" cy="201169"/>
          </a:xfrm>
          <a:prstGeom prst="line">
            <a:avLst/>
          </a:prstGeom>
          <a:ln w="15875">
            <a:solidFill>
              <a:srgbClr val="5B627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8" name="Connector 117"/>
          <p:cNvCxnSpPr/>
          <p:nvPr/>
        </p:nvCxnSpPr>
        <p:spPr>
          <a:xfrm flipH="1">
            <a:off x="2286000" y="3438583"/>
            <a:ext cx="5614416" cy="0"/>
          </a:xfrm>
          <a:prstGeom prst="line">
            <a:avLst/>
          </a:prstGeom>
          <a:ln w="15875">
            <a:solidFill>
              <a:srgbClr val="5B627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9" name="Connector 118"/>
          <p:cNvCxnSpPr/>
          <p:nvPr/>
        </p:nvCxnSpPr>
        <p:spPr>
          <a:xfrm flipV="1">
            <a:off x="2286000" y="3255702"/>
            <a:ext cx="0" cy="182881"/>
          </a:xfrm>
          <a:prstGeom prst="line">
            <a:avLst/>
          </a:prstGeom>
          <a:ln w="15875">
            <a:solidFill>
              <a:srgbClr val="5B6275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0" name="TextBox 119"/>
          <p:cNvSpPr txBox="1"/>
          <p:nvPr/>
        </p:nvSpPr>
        <p:spPr>
          <a:xfrm>
            <a:off x="3904488" y="3363690"/>
            <a:ext cx="2377440" cy="228600"/>
          </a:xfrm>
          <a:prstGeom prst="rect">
            <a:avLst/>
          </a:prstGeom>
          <a:solidFill>
            <a:srgbClr val="FFFFFF"/>
          </a:solidFill>
        </p:spPr>
        <p:txBody>
          <a:bodyPr wrap="square" lIns="0" tIns="0" rIns="0" bIns="0" anchor="t"/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900" b="0" i="0" dirty="0" err="1">
                <a:solidFill>
                  <a:srgbClr val="5B6275"/>
                </a:solidFill>
                <a:latin typeface="Nanum Gothic"/>
                <a:ea typeface="Nanum Gothic"/>
                <a:cs typeface="Nanum Gothic"/>
              </a:rPr>
              <a:t>반복</a:t>
            </a:r>
            <a:r>
              <a:rPr sz="900" b="0" i="0" dirty="0">
                <a:solidFill>
                  <a:srgbClr val="5B6275"/>
                </a:solidFill>
                <a:latin typeface="Nanum Gothic"/>
                <a:ea typeface="Nanum Gothic"/>
                <a:cs typeface="Nanum Gothic"/>
              </a:rPr>
              <a:t> (</a:t>
            </a:r>
            <a:r>
              <a:rPr sz="900" b="0" i="0" dirty="0" err="1">
                <a:solidFill>
                  <a:srgbClr val="5B6275"/>
                </a:solidFill>
                <a:latin typeface="Nanum Gothic"/>
                <a:ea typeface="Nanum Gothic"/>
                <a:cs typeface="Nanum Gothic"/>
              </a:rPr>
              <a:t>약</a:t>
            </a:r>
            <a:r>
              <a:rPr sz="900" b="0" i="0" dirty="0">
                <a:solidFill>
                  <a:srgbClr val="5B6275"/>
                </a:solidFill>
                <a:latin typeface="Nanum Gothic"/>
                <a:ea typeface="Nanum Gothic"/>
                <a:cs typeface="Nanum Gothic"/>
              </a:rPr>
              <a:t> 2,000 iterations)</a:t>
            </a:r>
          </a:p>
        </p:txBody>
      </p:sp>
      <p:sp>
        <p:nvSpPr>
          <p:cNvPr id="121" name="Rounded Rectangle 120"/>
          <p:cNvSpPr/>
          <p:nvPr/>
        </p:nvSpPr>
        <p:spPr>
          <a:xfrm>
            <a:off x="1499616" y="3786055"/>
            <a:ext cx="3433572" cy="896112"/>
          </a:xfrm>
          <a:prstGeom prst="roundRect">
            <a:avLst>
              <a:gd name="adj" fmla="val 6000"/>
            </a:avLst>
          </a:prstGeom>
          <a:noFill/>
          <a:ln w="12700">
            <a:solidFill>
              <a:srgbClr val="C5CC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22" name="TextBox 121"/>
          <p:cNvSpPr txBox="1"/>
          <p:nvPr/>
        </p:nvSpPr>
        <p:spPr>
          <a:xfrm>
            <a:off x="1682495" y="3859207"/>
            <a:ext cx="3067812" cy="7772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100" b="1" i="0">
                <a:solidFill>
                  <a:srgbClr val="D94F2B"/>
                </a:solidFill>
                <a:latin typeface="NanumGothicExtraBold"/>
                <a:ea typeface="NanumGothicExtraBold"/>
                <a:cs typeface="NanumGothicExtraBold"/>
              </a:rPr>
              <a:t>Q. </a:t>
            </a:r>
            <a:r>
              <a:rPr sz="1100" b="1" i="0">
                <a:solidFill>
                  <a:srgbClr val="19264B"/>
                </a:solidFill>
                <a:latin typeface="NanumGothicExtraBold"/>
                <a:ea typeface="NanumGothicExtraBold"/>
                <a:cs typeface="NanumGothicExtraBold"/>
              </a:rPr>
              <a:t>왜 점수 대신 쌍대 비교?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000" b="0" i="0">
                <a:solidFill>
                  <a:srgbClr val="5B6275"/>
                </a:solidFill>
                <a:latin typeface="Nanum Gothic"/>
                <a:ea typeface="Nanum Gothic"/>
                <a:cs typeface="Nanum Gothic"/>
              </a:rPr>
              <a:t>점수형 평가자는 최대치에 포화되면 갱신이 멈추고, 평가자를 속이는 reward hacking 위험이 있음</a:t>
            </a:r>
          </a:p>
        </p:txBody>
      </p:sp>
      <p:sp>
        <p:nvSpPr>
          <p:cNvPr id="123" name="Rounded Rectangle 122"/>
          <p:cNvSpPr/>
          <p:nvPr/>
        </p:nvSpPr>
        <p:spPr>
          <a:xfrm>
            <a:off x="5253228" y="3786055"/>
            <a:ext cx="3433572" cy="896112"/>
          </a:xfrm>
          <a:prstGeom prst="roundRect">
            <a:avLst>
              <a:gd name="adj" fmla="val 6000"/>
            </a:avLst>
          </a:prstGeom>
          <a:noFill/>
          <a:ln w="12700">
            <a:solidFill>
              <a:srgbClr val="C5CC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24" name="TextBox 123"/>
          <p:cNvSpPr txBox="1"/>
          <p:nvPr/>
        </p:nvSpPr>
        <p:spPr>
          <a:xfrm>
            <a:off x="5436108" y="3859207"/>
            <a:ext cx="3067812" cy="7772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100" b="1" i="0">
                <a:solidFill>
                  <a:srgbClr val="D94F2B"/>
                </a:solidFill>
                <a:latin typeface="NanumGothicExtraBold"/>
                <a:ea typeface="NanumGothicExtraBold"/>
                <a:cs typeface="NanumGothicExtraBold"/>
              </a:rPr>
              <a:t>Q. </a:t>
            </a:r>
            <a:r>
              <a:rPr sz="1100" b="1" i="0">
                <a:solidFill>
                  <a:srgbClr val="19264B"/>
                </a:solidFill>
                <a:latin typeface="NanumGothicExtraBold"/>
                <a:ea typeface="NanumGothicExtraBold"/>
                <a:cs typeface="NanumGothicExtraBold"/>
              </a:rPr>
              <a:t>왜 목표 칸을 미리 지정?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000" b="0" i="0">
                <a:solidFill>
                  <a:srgbClr val="5B6275"/>
                </a:solidFill>
                <a:latin typeface="Nanum Gothic"/>
                <a:ea typeface="Nanum Gothic"/>
                <a:cs typeface="Nanum Gothic"/>
              </a:rPr>
              <a:t>분류기 오차를 피하고 Mutator의 편향을 줄여, 모든 칸을 고르게 탐색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6"/>
          <p:cNvSpPr/>
          <p:nvPr/>
        </p:nvSpPr>
        <p:spPr>
          <a:xfrm>
            <a:off x="0" y="-37950"/>
            <a:ext cx="1181100" cy="5219400"/>
          </a:xfrm>
          <a:prstGeom prst="rect">
            <a:avLst/>
          </a:prstGeom>
          <a:solidFill>
            <a:srgbClr val="19264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90" name="Google Shape;90;p16"/>
          <p:cNvCxnSpPr/>
          <p:nvPr/>
        </p:nvCxnSpPr>
        <p:spPr>
          <a:xfrm>
            <a:off x="172875" y="-37950"/>
            <a:ext cx="0" cy="2187000"/>
          </a:xfrm>
          <a:prstGeom prst="straightConnector1">
            <a:avLst/>
          </a:prstGeom>
          <a:noFill/>
          <a:ln w="38100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91" name="Google Shape;91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5400000">
            <a:off x="-928700" y="3071650"/>
            <a:ext cx="3038475" cy="1181100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16"/>
          <p:cNvSpPr txBox="1"/>
          <p:nvPr/>
        </p:nvSpPr>
        <p:spPr>
          <a:xfrm>
            <a:off x="1408975" y="306875"/>
            <a:ext cx="7498079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2000">
                <a:solidFill>
                  <a:srgbClr val="19264B"/>
                </a:solidFill>
                <a:latin typeface="NanumGothicExtraBold"/>
                <a:ea typeface="NanumGothicExtraBold"/>
                <a:cs typeface="NanumGothicExtraBold"/>
                <a:sym typeface="NanumGothicExtraBold"/>
              </a:rPr>
              <a:t>결과: 높은 공격 성공률, 그리고 안전성 향상 데이터로의 활용</a:t>
            </a:r>
            <a:endParaRPr sz="2000">
              <a:solidFill>
                <a:srgbClr val="19264B"/>
              </a:solidFill>
              <a:latin typeface="NanumGothicExtraBold"/>
              <a:ea typeface="NanumGothicExtraBold"/>
              <a:cs typeface="NanumGothicExtraBold"/>
              <a:sym typeface="NanumGothicExtraBold"/>
            </a:endParaRPr>
          </a:p>
        </p:txBody>
      </p:sp>
      <p:sp>
        <p:nvSpPr>
          <p:cNvPr id="93" name="TextBox 92"/>
          <p:cNvSpPr txBox="1"/>
          <p:nvPr/>
        </p:nvSpPr>
        <p:spPr>
          <a:xfrm>
            <a:off x="1499616" y="786384"/>
            <a:ext cx="7187184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000" b="0" i="0">
                <a:solidFill>
                  <a:srgbClr val="5B6275"/>
                </a:solidFill>
                <a:latin typeface="Nanum Gothic"/>
                <a:ea typeface="Nanum Gothic"/>
                <a:cs typeface="Nanum Gothic"/>
              </a:rPr>
              <a:t>PAPER 01  |  안전 도메인, 2,000 iterations, GPT-4 평가 기준</a:t>
            </a:r>
          </a:p>
        </p:txBody>
      </p:sp>
      <p:graphicFrame>
        <p:nvGraphicFramePr>
          <p:cNvPr id="94" name="Chart 9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10945688"/>
              </p:ext>
            </p:extLst>
          </p:nvPr>
        </p:nvGraphicFramePr>
        <p:xfrm>
          <a:off x="1499616" y="1354186"/>
          <a:ext cx="3657600" cy="30632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95" name="TextBox 94"/>
          <p:cNvSpPr txBox="1"/>
          <p:nvPr/>
        </p:nvSpPr>
        <p:spPr>
          <a:xfrm>
            <a:off x="1499616" y="4444858"/>
            <a:ext cx="36576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900" b="0" i="0">
                <a:solidFill>
                  <a:srgbClr val="5B6275"/>
                </a:solidFill>
                <a:latin typeface="Nanum Gothic"/>
                <a:ea typeface="Nanum Gothic"/>
                <a:cs typeface="Nanum Gothic"/>
              </a:rPr>
              <a:t>Llama 계열은 안전 정렬 모델임에도 약 92%</a:t>
            </a:r>
          </a:p>
        </p:txBody>
      </p:sp>
      <p:sp>
        <p:nvSpPr>
          <p:cNvPr id="96" name="Rounded Rectangle 95"/>
          <p:cNvSpPr/>
          <p:nvPr/>
        </p:nvSpPr>
        <p:spPr>
          <a:xfrm>
            <a:off x="5477255" y="1354186"/>
            <a:ext cx="3209544" cy="960120"/>
          </a:xfrm>
          <a:prstGeom prst="roundRect">
            <a:avLst>
              <a:gd name="adj" fmla="val 6000"/>
            </a:avLst>
          </a:prstGeom>
          <a:solidFill>
            <a:srgbClr val="1926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97" name="TextBox 96"/>
          <p:cNvSpPr txBox="1"/>
          <p:nvPr/>
        </p:nvSpPr>
        <p:spPr>
          <a:xfrm>
            <a:off x="5678423" y="1478284"/>
            <a:ext cx="2807208" cy="4114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2000" b="1" i="0" dirty="0">
                <a:solidFill>
                  <a:srgbClr val="F2A07B"/>
                </a:solidFill>
                <a:latin typeface="NanumGothicExtraBold"/>
                <a:ea typeface="NanumGothicExtraBold"/>
                <a:cs typeface="NanumGothicExtraBold"/>
              </a:rPr>
              <a:t>92% → 0.3%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5678423" y="1840994"/>
            <a:ext cx="2807208" cy="4114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000" b="0" i="0" dirty="0" err="1">
                <a:solidFill>
                  <a:srgbClr val="C9D1E6"/>
                </a:solidFill>
                <a:latin typeface="Nanum Gothic"/>
                <a:ea typeface="Nanum Gothic"/>
                <a:cs typeface="Nanum Gothic"/>
              </a:rPr>
              <a:t>생성</a:t>
            </a:r>
            <a:r>
              <a:rPr sz="1000" b="0" i="0" dirty="0">
                <a:solidFill>
                  <a:srgbClr val="C9D1E6"/>
                </a:solidFill>
                <a:latin typeface="Nanum Gothic"/>
                <a:ea typeface="Nanum Gothic"/>
                <a:cs typeface="Nanum Gothic"/>
              </a:rPr>
              <a:t> </a:t>
            </a:r>
            <a:r>
              <a:rPr sz="1000" b="0" i="0" dirty="0" err="1">
                <a:solidFill>
                  <a:srgbClr val="C9D1E6"/>
                </a:solidFill>
                <a:latin typeface="Nanum Gothic"/>
                <a:ea typeface="Nanum Gothic"/>
                <a:cs typeface="Nanum Gothic"/>
              </a:rPr>
              <a:t>데이터로</a:t>
            </a:r>
            <a:r>
              <a:rPr sz="1000" b="0" i="0" dirty="0">
                <a:solidFill>
                  <a:srgbClr val="C9D1E6"/>
                </a:solidFill>
                <a:latin typeface="Nanum Gothic"/>
                <a:ea typeface="Nanum Gothic"/>
                <a:cs typeface="Nanum Gothic"/>
              </a:rPr>
              <a:t> SFT </a:t>
            </a:r>
            <a:r>
              <a:rPr sz="1000" b="0" i="0" dirty="0" err="1">
                <a:solidFill>
                  <a:srgbClr val="C9D1E6"/>
                </a:solidFill>
                <a:latin typeface="Nanum Gothic"/>
                <a:ea typeface="Nanum Gothic"/>
                <a:cs typeface="Nanum Gothic"/>
              </a:rPr>
              <a:t>후</a:t>
            </a:r>
            <a:r>
              <a:rPr sz="1000" b="0" i="0" dirty="0">
                <a:solidFill>
                  <a:srgbClr val="C9D1E6"/>
                </a:solidFill>
                <a:latin typeface="Nanum Gothic"/>
                <a:ea typeface="Nanum Gothic"/>
                <a:cs typeface="Nanum Gothic"/>
              </a:rPr>
              <a:t> </a:t>
            </a:r>
            <a:r>
              <a:rPr sz="1000" b="0" i="0" dirty="0" err="1">
                <a:solidFill>
                  <a:srgbClr val="C9D1E6"/>
                </a:solidFill>
                <a:latin typeface="Nanum Gothic"/>
                <a:ea typeface="Nanum Gothic"/>
                <a:cs typeface="Nanum Gothic"/>
              </a:rPr>
              <a:t>새</a:t>
            </a:r>
            <a:r>
              <a:rPr sz="1000" b="0" i="0" dirty="0">
                <a:solidFill>
                  <a:srgbClr val="C9D1E6"/>
                </a:solidFill>
                <a:latin typeface="Nanum Gothic"/>
                <a:ea typeface="Nanum Gothic"/>
                <a:cs typeface="Nanum Gothic"/>
              </a:rPr>
              <a:t> </a:t>
            </a:r>
            <a:r>
              <a:rPr sz="1000" b="0" i="0" dirty="0" err="1">
                <a:solidFill>
                  <a:srgbClr val="C9D1E6"/>
                </a:solidFill>
                <a:latin typeface="Nanum Gothic"/>
                <a:ea typeface="Nanum Gothic"/>
                <a:cs typeface="Nanum Gothic"/>
              </a:rPr>
              <a:t>공격</a:t>
            </a:r>
            <a:r>
              <a:rPr sz="1000" b="0" i="0" dirty="0">
                <a:solidFill>
                  <a:srgbClr val="C9D1E6"/>
                </a:solidFill>
                <a:latin typeface="Nanum Gothic"/>
                <a:ea typeface="Nanum Gothic"/>
                <a:cs typeface="Nanum Gothic"/>
              </a:rPr>
              <a:t> </a:t>
            </a:r>
            <a:r>
              <a:rPr sz="1000" b="0" i="0" dirty="0" err="1">
                <a:solidFill>
                  <a:srgbClr val="C9D1E6"/>
                </a:solidFill>
                <a:latin typeface="Nanum Gothic"/>
                <a:ea typeface="Nanum Gothic"/>
                <a:cs typeface="Nanum Gothic"/>
              </a:rPr>
              <a:t>프롬프트에</a:t>
            </a:r>
            <a:r>
              <a:rPr sz="1000" b="0" i="0" dirty="0">
                <a:solidFill>
                  <a:srgbClr val="C9D1E6"/>
                </a:solidFill>
                <a:latin typeface="Nanum Gothic"/>
                <a:ea typeface="Nanum Gothic"/>
                <a:cs typeface="Nanum Gothic"/>
              </a:rPr>
              <a:t> </a:t>
            </a:r>
            <a:r>
              <a:rPr sz="1000" b="0" i="0" dirty="0" err="1">
                <a:solidFill>
                  <a:srgbClr val="C9D1E6"/>
                </a:solidFill>
                <a:latin typeface="Nanum Gothic"/>
                <a:ea typeface="Nanum Gothic"/>
                <a:cs typeface="Nanum Gothic"/>
              </a:rPr>
              <a:t>대한</a:t>
            </a:r>
            <a:r>
              <a:rPr sz="1000" b="0" i="0" dirty="0">
                <a:solidFill>
                  <a:srgbClr val="C9D1E6"/>
                </a:solidFill>
                <a:latin typeface="Nanum Gothic"/>
                <a:ea typeface="Nanum Gothic"/>
                <a:cs typeface="Nanum Gothic"/>
              </a:rPr>
              <a:t> ASR (Llama 2-chat 7B)</a:t>
            </a:r>
          </a:p>
        </p:txBody>
      </p:sp>
      <p:sp>
        <p:nvSpPr>
          <p:cNvPr id="99" name="Rounded Rectangle 98"/>
          <p:cNvSpPr/>
          <p:nvPr/>
        </p:nvSpPr>
        <p:spPr>
          <a:xfrm>
            <a:off x="5477255" y="2424034"/>
            <a:ext cx="3209544" cy="960120"/>
          </a:xfrm>
          <a:prstGeom prst="roundRect">
            <a:avLst>
              <a:gd name="adj" fmla="val 6000"/>
            </a:avLst>
          </a:prstGeom>
          <a:solidFill>
            <a:srgbClr val="ED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00" name="TextBox 99"/>
          <p:cNvSpPr txBox="1"/>
          <p:nvPr/>
        </p:nvSpPr>
        <p:spPr>
          <a:xfrm>
            <a:off x="5678423" y="2602562"/>
            <a:ext cx="2807208" cy="4114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2000" b="1" i="0" dirty="0" err="1">
                <a:solidFill>
                  <a:srgbClr val="D94F2B"/>
                </a:solidFill>
                <a:latin typeface="NanumGothicExtraBold"/>
                <a:ea typeface="NanumGothicExtraBold"/>
                <a:cs typeface="NanumGothicExtraBold"/>
              </a:rPr>
              <a:t>성능</a:t>
            </a:r>
            <a:r>
              <a:rPr sz="2000" b="1" i="0" dirty="0">
                <a:solidFill>
                  <a:srgbClr val="D94F2B"/>
                </a:solidFill>
                <a:latin typeface="NanumGothicExtraBold"/>
                <a:ea typeface="NanumGothicExtraBold"/>
                <a:cs typeface="NanumGothicExtraBold"/>
              </a:rPr>
              <a:t> </a:t>
            </a:r>
            <a:r>
              <a:rPr sz="2000" b="1" i="0" dirty="0" err="1">
                <a:solidFill>
                  <a:srgbClr val="D94F2B"/>
                </a:solidFill>
                <a:latin typeface="NanumGothicExtraBold"/>
                <a:ea typeface="NanumGothicExtraBold"/>
                <a:cs typeface="NanumGothicExtraBold"/>
              </a:rPr>
              <a:t>유지</a:t>
            </a:r>
            <a:endParaRPr sz="2000" b="1" i="0" dirty="0">
              <a:solidFill>
                <a:srgbClr val="D94F2B"/>
              </a:solidFill>
              <a:latin typeface="NanumGothicExtraBold"/>
              <a:ea typeface="NanumGothicExtraBold"/>
              <a:cs typeface="NanumGothicExtraBold"/>
            </a:endParaRPr>
          </a:p>
        </p:txBody>
      </p:sp>
      <p:sp>
        <p:nvSpPr>
          <p:cNvPr id="101" name="TextBox 100"/>
          <p:cNvSpPr txBox="1"/>
          <p:nvPr/>
        </p:nvSpPr>
        <p:spPr>
          <a:xfrm>
            <a:off x="5678423" y="3030588"/>
            <a:ext cx="2807208" cy="4114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000" b="0" i="0">
                <a:solidFill>
                  <a:srgbClr val="5B6275"/>
                </a:solidFill>
                <a:latin typeface="Nanum Gothic"/>
                <a:ea typeface="Nanum Gothic"/>
                <a:cs typeface="Nanum Gothic"/>
              </a:rPr>
              <a:t>GSM8K 0.224 → 0.219,  MMLU 0.412 → 0.405</a:t>
            </a:r>
          </a:p>
        </p:txBody>
      </p:sp>
      <p:sp>
        <p:nvSpPr>
          <p:cNvPr id="102" name="Rounded Rectangle 101"/>
          <p:cNvSpPr/>
          <p:nvPr/>
        </p:nvSpPr>
        <p:spPr>
          <a:xfrm>
            <a:off x="5477255" y="3493881"/>
            <a:ext cx="3209544" cy="960120"/>
          </a:xfrm>
          <a:prstGeom prst="roundRect">
            <a:avLst>
              <a:gd name="adj" fmla="val 6000"/>
            </a:avLst>
          </a:prstGeom>
          <a:solidFill>
            <a:srgbClr val="ED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03" name="TextBox 102"/>
          <p:cNvSpPr txBox="1"/>
          <p:nvPr/>
        </p:nvSpPr>
        <p:spPr>
          <a:xfrm>
            <a:off x="5678423" y="3661524"/>
            <a:ext cx="2807208" cy="4114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2000" b="1" i="0" dirty="0" err="1">
                <a:solidFill>
                  <a:srgbClr val="D94F2B"/>
                </a:solidFill>
                <a:latin typeface="NanumGothicExtraBold"/>
                <a:ea typeface="NanumGothicExtraBold"/>
                <a:cs typeface="NanumGothicExtraBold"/>
              </a:rPr>
              <a:t>평균</a:t>
            </a:r>
            <a:r>
              <a:rPr sz="2000" b="1" i="0" dirty="0">
                <a:solidFill>
                  <a:srgbClr val="D94F2B"/>
                </a:solidFill>
                <a:latin typeface="NanumGothicExtraBold"/>
                <a:ea typeface="NanumGothicExtraBold"/>
                <a:cs typeface="NanumGothicExtraBold"/>
              </a:rPr>
              <a:t> 50% </a:t>
            </a:r>
            <a:r>
              <a:rPr sz="2000" b="1" i="0" dirty="0" err="1">
                <a:solidFill>
                  <a:srgbClr val="D94F2B"/>
                </a:solidFill>
                <a:latin typeface="NanumGothicExtraBold"/>
                <a:ea typeface="NanumGothicExtraBold"/>
                <a:cs typeface="NanumGothicExtraBold"/>
              </a:rPr>
              <a:t>전이</a:t>
            </a:r>
            <a:endParaRPr sz="2000" b="1" i="0" dirty="0">
              <a:solidFill>
                <a:srgbClr val="D94F2B"/>
              </a:solidFill>
              <a:latin typeface="NanumGothicExtraBold"/>
              <a:ea typeface="NanumGothicExtraBold"/>
              <a:cs typeface="NanumGothicExtraBold"/>
            </a:endParaRPr>
          </a:p>
        </p:txBody>
      </p:sp>
      <p:sp>
        <p:nvSpPr>
          <p:cNvPr id="104" name="TextBox 103"/>
          <p:cNvSpPr txBox="1"/>
          <p:nvPr/>
        </p:nvSpPr>
        <p:spPr>
          <a:xfrm>
            <a:off x="5678423" y="4067778"/>
            <a:ext cx="3008376" cy="4114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000" b="0" i="0" dirty="0" err="1">
                <a:solidFill>
                  <a:srgbClr val="5B6275"/>
                </a:solidFill>
                <a:latin typeface="Nanum Gothic"/>
                <a:ea typeface="Nanum Gothic"/>
                <a:cs typeface="Nanum Gothic"/>
              </a:rPr>
              <a:t>다른</a:t>
            </a:r>
            <a:r>
              <a:rPr sz="1000" b="0" i="0" dirty="0">
                <a:solidFill>
                  <a:srgbClr val="5B6275"/>
                </a:solidFill>
                <a:latin typeface="Nanum Gothic"/>
                <a:ea typeface="Nanum Gothic"/>
                <a:cs typeface="Nanum Gothic"/>
              </a:rPr>
              <a:t> </a:t>
            </a:r>
            <a:r>
              <a:rPr sz="1000" b="0" i="0" dirty="0" err="1">
                <a:solidFill>
                  <a:srgbClr val="5B6275"/>
                </a:solidFill>
                <a:latin typeface="Nanum Gothic"/>
                <a:ea typeface="Nanum Gothic"/>
                <a:cs typeface="Nanum Gothic"/>
              </a:rPr>
              <a:t>모델에도</a:t>
            </a:r>
            <a:r>
              <a:rPr sz="1000" b="0" i="0" dirty="0">
                <a:solidFill>
                  <a:srgbClr val="5B6275"/>
                </a:solidFill>
                <a:latin typeface="Nanum Gothic"/>
                <a:ea typeface="Nanum Gothic"/>
                <a:cs typeface="Nanum Gothic"/>
              </a:rPr>
              <a:t> </a:t>
            </a:r>
            <a:r>
              <a:rPr sz="1000" b="0" i="0" dirty="0" err="1">
                <a:solidFill>
                  <a:srgbClr val="5B6275"/>
                </a:solidFill>
                <a:latin typeface="Nanum Gothic"/>
                <a:ea typeface="Nanum Gothic"/>
                <a:cs typeface="Nanum Gothic"/>
              </a:rPr>
              <a:t>공격이</a:t>
            </a:r>
            <a:r>
              <a:rPr sz="1000" b="0" i="0" dirty="0">
                <a:solidFill>
                  <a:srgbClr val="5B6275"/>
                </a:solidFill>
                <a:latin typeface="Nanum Gothic"/>
                <a:ea typeface="Nanum Gothic"/>
                <a:cs typeface="Nanum Gothic"/>
              </a:rPr>
              <a:t> </a:t>
            </a:r>
            <a:r>
              <a:rPr sz="1000" b="0" i="0" dirty="0" err="1">
                <a:solidFill>
                  <a:srgbClr val="5B6275"/>
                </a:solidFill>
                <a:latin typeface="Nanum Gothic"/>
                <a:ea typeface="Nanum Gothic"/>
                <a:cs typeface="Nanum Gothic"/>
              </a:rPr>
              <a:t>전이</a:t>
            </a:r>
            <a:r>
              <a:rPr sz="1000" b="0" i="0" dirty="0">
                <a:solidFill>
                  <a:srgbClr val="5B6275"/>
                </a:solidFill>
                <a:latin typeface="Nanum Gothic"/>
                <a:ea typeface="Nanum Gothic"/>
                <a:cs typeface="Nanum Gothic"/>
              </a:rPr>
              <a:t> (GPT-4o </a:t>
            </a:r>
            <a:r>
              <a:rPr sz="1000" b="0" i="0" dirty="0" err="1">
                <a:solidFill>
                  <a:srgbClr val="5B6275"/>
                </a:solidFill>
                <a:latin typeface="Nanum Gothic"/>
                <a:ea typeface="Nanum Gothic"/>
                <a:cs typeface="Nanum Gothic"/>
              </a:rPr>
              <a:t>대상</a:t>
            </a:r>
            <a:r>
              <a:rPr sz="1000" b="0" i="0" dirty="0">
                <a:solidFill>
                  <a:srgbClr val="5B6275"/>
                </a:solidFill>
                <a:latin typeface="Nanum Gothic"/>
                <a:ea typeface="Nanum Gothic"/>
                <a:cs typeface="Nanum Gothic"/>
              </a:rPr>
              <a:t> </a:t>
            </a:r>
            <a:r>
              <a:rPr sz="1000" b="0" i="0" dirty="0" err="1">
                <a:solidFill>
                  <a:srgbClr val="5B6275"/>
                </a:solidFill>
                <a:latin typeface="Nanum Gothic"/>
                <a:ea typeface="Nanum Gothic"/>
                <a:cs typeface="Nanum Gothic"/>
              </a:rPr>
              <a:t>최대</a:t>
            </a:r>
            <a:r>
              <a:rPr sz="1000" b="0" i="0" dirty="0">
                <a:solidFill>
                  <a:srgbClr val="5B6275"/>
                </a:solidFill>
                <a:latin typeface="Nanum Gothic"/>
                <a:ea typeface="Nanum Gothic"/>
                <a:cs typeface="Nanum Gothic"/>
              </a:rPr>
              <a:t> 66%)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9264B"/>
        </a:solidFill>
        <a:effectLst/>
      </p:bgPr>
    </p:bg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7" name="Google Shape;97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5400000">
            <a:off x="-1049750" y="3137425"/>
            <a:ext cx="3038475" cy="1181100"/>
          </a:xfrm>
          <a:prstGeom prst="rect">
            <a:avLst/>
          </a:prstGeom>
          <a:noFill/>
          <a:ln>
            <a:noFill/>
          </a:ln>
        </p:spPr>
      </p:pic>
      <p:sp>
        <p:nvSpPr>
          <p:cNvPr id="98" name="Google Shape;98;p17"/>
          <p:cNvSpPr/>
          <p:nvPr/>
        </p:nvSpPr>
        <p:spPr>
          <a:xfrm>
            <a:off x="8685225" y="135475"/>
            <a:ext cx="335700" cy="335700"/>
          </a:xfrm>
          <a:prstGeom prst="rect">
            <a:avLst/>
          </a:prstGeom>
          <a:noFill/>
          <a:ln w="3810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9" name="Google Shape;99;p17"/>
          <p:cNvSpPr/>
          <p:nvPr/>
        </p:nvSpPr>
        <p:spPr>
          <a:xfrm>
            <a:off x="8685225" y="616375"/>
            <a:ext cx="335700" cy="335700"/>
          </a:xfrm>
          <a:prstGeom prst="rect">
            <a:avLst/>
          </a:prstGeom>
          <a:solidFill>
            <a:srgbClr val="FFFFFF"/>
          </a:solidFill>
          <a:ln w="3810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0" name="Google Shape;100;p17"/>
          <p:cNvSpPr/>
          <p:nvPr/>
        </p:nvSpPr>
        <p:spPr>
          <a:xfrm>
            <a:off x="8685225" y="1097275"/>
            <a:ext cx="335700" cy="335700"/>
          </a:xfrm>
          <a:prstGeom prst="rect">
            <a:avLst/>
          </a:prstGeom>
          <a:noFill/>
          <a:ln w="3810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101" name="Google Shape;101;p17"/>
          <p:cNvCxnSpPr/>
          <p:nvPr/>
        </p:nvCxnSpPr>
        <p:spPr>
          <a:xfrm rot="10800000">
            <a:off x="146900" y="0"/>
            <a:ext cx="0" cy="2152500"/>
          </a:xfrm>
          <a:prstGeom prst="straightConnector1">
            <a:avLst/>
          </a:prstGeom>
          <a:noFill/>
          <a:ln w="28575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02" name="Google Shape;102;p17"/>
          <p:cNvSpPr txBox="1"/>
          <p:nvPr/>
        </p:nvSpPr>
        <p:spPr>
          <a:xfrm>
            <a:off x="1469575" y="510025"/>
            <a:ext cx="147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3" name="Google Shape;103;p17"/>
          <p:cNvSpPr txBox="1"/>
          <p:nvPr/>
        </p:nvSpPr>
        <p:spPr>
          <a:xfrm>
            <a:off x="1600200" y="1743894"/>
            <a:ext cx="6858000" cy="92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800"/>
              </a:spcAft>
              <a:buNone/>
            </a:pPr>
            <a:r>
              <a:rPr sz="1400" b="0" i="0">
                <a:solidFill>
                  <a:srgbClr val="F2A07B"/>
                </a:solidFill>
                <a:latin typeface="NanumGothicExtraBold"/>
                <a:ea typeface="NanumGothicExtraBold"/>
                <a:cs typeface="NanumGothicExtraBold"/>
              </a:rPr>
              <a:t>PAPER 02</a:t>
            </a:r>
            <a:endParaRPr sz="4800">
              <a:solidFill>
                <a:schemeClr val="lt1"/>
              </a:solidFill>
              <a:latin typeface="NanumGothicExtraBold"/>
              <a:ea typeface="NanumGothicExtraBold"/>
              <a:cs typeface="NanumGothicExtraBold"/>
              <a:sym typeface="NanumGothicExtraBold"/>
            </a:endParaRPr>
          </a:p>
          <a:p>
            <a:pPr algn="ctr">
              <a:spcAft>
                <a:spcPts val="800"/>
              </a:spcAft>
            </a:pPr>
            <a:r>
              <a:rPr sz="3200" b="1" i="0">
                <a:solidFill>
                  <a:srgbClr val="FFFFFF"/>
                </a:solidFill>
                <a:latin typeface="NanumGothicExtraBold"/>
                <a:ea typeface="NanumGothicExtraBold"/>
                <a:cs typeface="NanumGothicExtraBold"/>
              </a:rPr>
              <a:t>RLVR &amp; CoT-Pass@K</a:t>
            </a:r>
          </a:p>
          <a:p>
            <a:pPr algn="ctr">
              <a:spcAft>
                <a:spcPts val="800"/>
              </a:spcAft>
            </a:pPr>
            <a:r>
              <a:rPr sz="1200" b="0" i="0">
                <a:solidFill>
                  <a:srgbClr val="C9D1E6"/>
                </a:solidFill>
                <a:latin typeface="Nanum Gothic"/>
                <a:ea typeface="Nanum Gothic"/>
                <a:cs typeface="Nanum Gothic"/>
              </a:rPr>
              <a:t>Reinforcement Learning with Verifiable Rewards Implicitly
Incentivizes Correct Reasoning in Base LLMs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6"/>
          <p:cNvSpPr/>
          <p:nvPr/>
        </p:nvSpPr>
        <p:spPr>
          <a:xfrm>
            <a:off x="0" y="-37950"/>
            <a:ext cx="1181100" cy="5219400"/>
          </a:xfrm>
          <a:prstGeom prst="rect">
            <a:avLst/>
          </a:prstGeom>
          <a:solidFill>
            <a:srgbClr val="19264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90" name="Google Shape;90;p16"/>
          <p:cNvCxnSpPr/>
          <p:nvPr/>
        </p:nvCxnSpPr>
        <p:spPr>
          <a:xfrm>
            <a:off x="172875" y="-37950"/>
            <a:ext cx="0" cy="2187000"/>
          </a:xfrm>
          <a:prstGeom prst="straightConnector1">
            <a:avLst/>
          </a:prstGeom>
          <a:noFill/>
          <a:ln w="38100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91" name="Google Shape;91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5400000">
            <a:off x="-928700" y="3071650"/>
            <a:ext cx="3038475" cy="1181100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16"/>
          <p:cNvSpPr txBox="1"/>
          <p:nvPr/>
        </p:nvSpPr>
        <p:spPr>
          <a:xfrm>
            <a:off x="1408975" y="306875"/>
            <a:ext cx="7498079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2000">
                <a:solidFill>
                  <a:srgbClr val="19264B"/>
                </a:solidFill>
                <a:latin typeface="NanumGothicExtraBold"/>
                <a:ea typeface="NanumGothicExtraBold"/>
                <a:cs typeface="NanumGothicExtraBold"/>
                <a:sym typeface="NanumGothicExtraBold"/>
              </a:rPr>
              <a:t>문제 제기: RLVR은 정말 새로운 추론을 가르칠까?</a:t>
            </a:r>
            <a:endParaRPr sz="2000">
              <a:solidFill>
                <a:srgbClr val="19264B"/>
              </a:solidFill>
              <a:latin typeface="NanumGothicExtraBold"/>
              <a:ea typeface="NanumGothicExtraBold"/>
              <a:cs typeface="NanumGothicExtraBold"/>
              <a:sym typeface="NanumGothicExtraBold"/>
            </a:endParaRPr>
          </a:p>
        </p:txBody>
      </p:sp>
      <p:sp>
        <p:nvSpPr>
          <p:cNvPr id="93" name="TextBox 92"/>
          <p:cNvSpPr txBox="1"/>
          <p:nvPr/>
        </p:nvSpPr>
        <p:spPr>
          <a:xfrm>
            <a:off x="1499616" y="786384"/>
            <a:ext cx="7187184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000" b="0" i="0">
                <a:solidFill>
                  <a:srgbClr val="5B6275"/>
                </a:solidFill>
                <a:latin typeface="Nanum Gothic"/>
                <a:ea typeface="Nanum Gothic"/>
                <a:cs typeface="Nanum Gothic"/>
              </a:rPr>
              <a:t>PAPER 02  |  Wen et al., 2025 · Microsoft Research Asia</a:t>
            </a:r>
          </a:p>
        </p:txBody>
      </p:sp>
      <p:sp>
        <p:nvSpPr>
          <p:cNvPr id="94" name="Rounded Rectangle 93"/>
          <p:cNvSpPr/>
          <p:nvPr/>
        </p:nvSpPr>
        <p:spPr>
          <a:xfrm>
            <a:off x="1499616" y="1408615"/>
            <a:ext cx="2103120" cy="2514600"/>
          </a:xfrm>
          <a:prstGeom prst="roundRect">
            <a:avLst>
              <a:gd name="adj" fmla="val 6000"/>
            </a:avLst>
          </a:prstGeom>
          <a:solidFill>
            <a:srgbClr val="ED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95" name="Oval 94"/>
          <p:cNvSpPr/>
          <p:nvPr/>
        </p:nvSpPr>
        <p:spPr>
          <a:xfrm>
            <a:off x="1682495" y="1609783"/>
            <a:ext cx="384048" cy="384048"/>
          </a:xfrm>
          <a:prstGeom prst="ellipse">
            <a:avLst/>
          </a:prstGeom>
          <a:solidFill>
            <a:srgbClr val="1926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200" b="1" i="0">
                <a:solidFill>
                  <a:srgbClr val="FFFFFF"/>
                </a:solidFill>
                <a:latin typeface="NanumGothicExtraBold"/>
                <a:ea typeface="NanumGothicExtraBold"/>
                <a:cs typeface="NanumGothicExtraBold"/>
              </a:rPr>
              <a:t>1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1682495" y="2140135"/>
            <a:ext cx="1737360" cy="3657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00" b="1" i="0">
                <a:solidFill>
                  <a:srgbClr val="19264B"/>
                </a:solidFill>
                <a:latin typeface="NanumGothicExtraBold"/>
                <a:ea typeface="NanumGothicExtraBold"/>
                <a:cs typeface="NanumGothicExtraBold"/>
              </a:rPr>
              <a:t>관찰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1682495" y="2551615"/>
            <a:ext cx="1737360" cy="12801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100" b="0" i="0">
                <a:solidFill>
                  <a:srgbClr val="19264B"/>
                </a:solidFill>
                <a:latin typeface="Nanum Gothic"/>
                <a:ea typeface="Nanum Gothic"/>
                <a:cs typeface="Nanum Gothic"/>
              </a:rPr>
              <a:t>RLVR(정답 기반 보상 강화학습) 후 Pass@1은 크게 상승</a:t>
            </a:r>
          </a:p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100" b="1" i="0">
                <a:solidFill>
                  <a:srgbClr val="19264B"/>
                </a:solidFill>
                <a:latin typeface="NanumGothicExtraBold"/>
                <a:ea typeface="NanumGothicExtraBold"/>
                <a:cs typeface="NanumGothicExtraBold"/>
              </a:rPr>
              <a:t>하지만 K를 키우면 Base 모델이 Pass@K를 따라잡거나 역전</a:t>
            </a:r>
          </a:p>
        </p:txBody>
      </p:sp>
      <p:sp>
        <p:nvSpPr>
          <p:cNvPr id="98" name="Chevron 97"/>
          <p:cNvSpPr/>
          <p:nvPr/>
        </p:nvSpPr>
        <p:spPr>
          <a:xfrm>
            <a:off x="3721607" y="2519611"/>
            <a:ext cx="201168" cy="292608"/>
          </a:xfrm>
          <a:prstGeom prst="chevron">
            <a:avLst/>
          </a:prstGeom>
          <a:solidFill>
            <a:srgbClr val="D94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99" name="Rounded Rectangle 98"/>
          <p:cNvSpPr/>
          <p:nvPr/>
        </p:nvSpPr>
        <p:spPr>
          <a:xfrm>
            <a:off x="4041648" y="1408615"/>
            <a:ext cx="2103120" cy="2514600"/>
          </a:xfrm>
          <a:prstGeom prst="roundRect">
            <a:avLst>
              <a:gd name="adj" fmla="val 6000"/>
            </a:avLst>
          </a:prstGeom>
          <a:solidFill>
            <a:srgbClr val="ED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00" name="Oval 99"/>
          <p:cNvSpPr/>
          <p:nvPr/>
        </p:nvSpPr>
        <p:spPr>
          <a:xfrm>
            <a:off x="4224528" y="1609783"/>
            <a:ext cx="384048" cy="384048"/>
          </a:xfrm>
          <a:prstGeom prst="ellipse">
            <a:avLst/>
          </a:prstGeom>
          <a:solidFill>
            <a:srgbClr val="1926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200" b="1" i="0">
                <a:solidFill>
                  <a:srgbClr val="FFFFFF"/>
                </a:solidFill>
                <a:latin typeface="NanumGothicExtraBold"/>
                <a:ea typeface="NanumGothicExtraBold"/>
                <a:cs typeface="NanumGothicExtraBold"/>
              </a:rPr>
              <a:t>2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4224528" y="2140135"/>
            <a:ext cx="1737360" cy="3657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00" b="1" i="0">
                <a:solidFill>
                  <a:srgbClr val="19264B"/>
                </a:solidFill>
                <a:latin typeface="NanumGothicExtraBold"/>
                <a:ea typeface="NanumGothicExtraBold"/>
                <a:cs typeface="NanumGothicExtraBold"/>
              </a:rPr>
              <a:t>기존 가설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4224528" y="2551615"/>
            <a:ext cx="1737360" cy="12801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100" b="0" i="0">
                <a:solidFill>
                  <a:srgbClr val="19264B"/>
                </a:solidFill>
                <a:latin typeface="Nanum Gothic"/>
                <a:ea typeface="Nanum Gothic"/>
                <a:cs typeface="Nanum Gothic"/>
              </a:rPr>
              <a:t>Yue et al. (2025): 정답 경로는 이미 Base 모델에 존재</a:t>
            </a:r>
          </a:p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100" b="1" i="0">
                <a:solidFill>
                  <a:srgbClr val="19264B"/>
                </a:solidFill>
                <a:latin typeface="NanumGothicExtraBold"/>
                <a:ea typeface="NanumGothicExtraBold"/>
                <a:cs typeface="NanumGothicExtraBold"/>
              </a:rPr>
              <a:t>RLVR은 경로 확률만 재조정할 뿐, 추론 다양성은 오히려 감소</a:t>
            </a:r>
          </a:p>
        </p:txBody>
      </p:sp>
      <p:sp>
        <p:nvSpPr>
          <p:cNvPr id="103" name="Chevron 102"/>
          <p:cNvSpPr/>
          <p:nvPr/>
        </p:nvSpPr>
        <p:spPr>
          <a:xfrm>
            <a:off x="6263640" y="2519611"/>
            <a:ext cx="201168" cy="292608"/>
          </a:xfrm>
          <a:prstGeom prst="chevron">
            <a:avLst/>
          </a:prstGeom>
          <a:solidFill>
            <a:srgbClr val="D94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04" name="Rounded Rectangle 103"/>
          <p:cNvSpPr/>
          <p:nvPr/>
        </p:nvSpPr>
        <p:spPr>
          <a:xfrm>
            <a:off x="6583679" y="1408615"/>
            <a:ext cx="2103120" cy="2514600"/>
          </a:xfrm>
          <a:prstGeom prst="roundRect">
            <a:avLst>
              <a:gd name="adj" fmla="val 6000"/>
            </a:avLst>
          </a:prstGeom>
          <a:solidFill>
            <a:srgbClr val="1926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05" name="Oval 104"/>
          <p:cNvSpPr/>
          <p:nvPr/>
        </p:nvSpPr>
        <p:spPr>
          <a:xfrm>
            <a:off x="6766559" y="1609783"/>
            <a:ext cx="384048" cy="384048"/>
          </a:xfrm>
          <a:prstGeom prst="ellipse">
            <a:avLst/>
          </a:prstGeom>
          <a:solidFill>
            <a:srgbClr val="D94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200" b="1" i="0">
                <a:solidFill>
                  <a:srgbClr val="FFFFFF"/>
                </a:solidFill>
                <a:latin typeface="NanumGothicExtraBold"/>
                <a:ea typeface="NanumGothicExtraBold"/>
                <a:cs typeface="NanumGothicExtraBold"/>
              </a:rPr>
              <a:t>3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6766559" y="2140135"/>
            <a:ext cx="1737360" cy="3657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00" b="1" i="0">
                <a:solidFill>
                  <a:srgbClr val="FFFFFF"/>
                </a:solidFill>
                <a:latin typeface="NanumGothicExtraBold"/>
                <a:ea typeface="NanumGothicExtraBold"/>
                <a:cs typeface="NanumGothicExtraBold"/>
              </a:rPr>
              <a:t>이 논문의 질문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6766559" y="2551615"/>
            <a:ext cx="1737360" cy="12801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100" b="0" i="0">
                <a:solidFill>
                  <a:srgbClr val="FFFFFF"/>
                </a:solidFill>
                <a:latin typeface="Nanum Gothic"/>
                <a:ea typeface="Nanum Gothic"/>
                <a:cs typeface="Nanum Gothic"/>
              </a:rPr>
              <a:t>RLVR은 정말 새로운 추론을 못 배우는가?</a:t>
            </a:r>
          </a:p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100" b="1" i="0">
                <a:solidFill>
                  <a:srgbClr val="FFFFFF"/>
                </a:solidFill>
                <a:latin typeface="NanumGothicExtraBold"/>
                <a:ea typeface="NanumGothicExtraBold"/>
                <a:cs typeface="NanumGothicExtraBold"/>
              </a:rPr>
              <a:t>그렇다면 왜 Pass@K는 오르지 않는가?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1499616" y="4197535"/>
            <a:ext cx="7187184" cy="457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00" b="1" i="0">
                <a:solidFill>
                  <a:srgbClr val="D94F2B"/>
                </a:solidFill>
                <a:latin typeface="NanumGothicExtraBold"/>
                <a:ea typeface="NanumGothicExtraBold"/>
                <a:cs typeface="NanumGothicExtraBold"/>
              </a:rPr>
              <a:t>▶ 저자들의 관점:  </a:t>
            </a:r>
            <a:r>
              <a:rPr sz="1400" b="1" i="0">
                <a:solidFill>
                  <a:srgbClr val="19264B"/>
                </a:solidFill>
                <a:latin typeface="NanumGothicExtraBold"/>
                <a:ea typeface="NanumGothicExtraBold"/>
                <a:cs typeface="NanumGothicExtraBold"/>
              </a:rPr>
              <a:t>문제는 RLVR이 아니라 ‘Pass@K’라는 측정 지표일 수 있다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6"/>
          <p:cNvSpPr/>
          <p:nvPr/>
        </p:nvSpPr>
        <p:spPr>
          <a:xfrm>
            <a:off x="0" y="-37950"/>
            <a:ext cx="1181100" cy="5219400"/>
          </a:xfrm>
          <a:prstGeom prst="rect">
            <a:avLst/>
          </a:prstGeom>
          <a:solidFill>
            <a:srgbClr val="19264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90" name="Google Shape;90;p16"/>
          <p:cNvCxnSpPr/>
          <p:nvPr/>
        </p:nvCxnSpPr>
        <p:spPr>
          <a:xfrm>
            <a:off x="172875" y="-37950"/>
            <a:ext cx="0" cy="2187000"/>
          </a:xfrm>
          <a:prstGeom prst="straightConnector1">
            <a:avLst/>
          </a:prstGeom>
          <a:noFill/>
          <a:ln w="38100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91" name="Google Shape;91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5400000">
            <a:off x="-928700" y="3071650"/>
            <a:ext cx="3038475" cy="1181100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16"/>
          <p:cNvSpPr txBox="1"/>
          <p:nvPr/>
        </p:nvSpPr>
        <p:spPr>
          <a:xfrm>
            <a:off x="1408975" y="306875"/>
            <a:ext cx="7498079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2000">
                <a:solidFill>
                  <a:srgbClr val="19264B"/>
                </a:solidFill>
                <a:latin typeface="NanumGothicExtraBold"/>
                <a:ea typeface="NanumGothicExtraBold"/>
                <a:cs typeface="NanumGothicExtraBold"/>
                <a:sym typeface="NanumGothicExtraBold"/>
              </a:rPr>
              <a:t>핵심 아이디어: CoT-Pass@K와 GRPO의 암묵적 인센티브</a:t>
            </a:r>
            <a:endParaRPr sz="2000">
              <a:solidFill>
                <a:srgbClr val="19264B"/>
              </a:solidFill>
              <a:latin typeface="NanumGothicExtraBold"/>
              <a:ea typeface="NanumGothicExtraBold"/>
              <a:cs typeface="NanumGothicExtraBold"/>
              <a:sym typeface="NanumGothicExtraBold"/>
            </a:endParaRPr>
          </a:p>
        </p:txBody>
      </p:sp>
      <p:sp>
        <p:nvSpPr>
          <p:cNvPr id="93" name="TextBox 92"/>
          <p:cNvSpPr txBox="1"/>
          <p:nvPr/>
        </p:nvSpPr>
        <p:spPr>
          <a:xfrm>
            <a:off x="1499616" y="786384"/>
            <a:ext cx="7187184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000" b="0" i="0">
                <a:solidFill>
                  <a:srgbClr val="5B6275"/>
                </a:solidFill>
                <a:latin typeface="Nanum Gothic"/>
                <a:ea typeface="Nanum Gothic"/>
                <a:cs typeface="Nanum Gothic"/>
              </a:rPr>
              <a:t>PAPER 02  |  새로운 평가 지표 + 이론적 근거</a:t>
            </a:r>
          </a:p>
        </p:txBody>
      </p:sp>
      <p:sp>
        <p:nvSpPr>
          <p:cNvPr id="94" name="Rounded Rectangle 93"/>
          <p:cNvSpPr/>
          <p:nvPr/>
        </p:nvSpPr>
        <p:spPr>
          <a:xfrm>
            <a:off x="1508325" y="1362895"/>
            <a:ext cx="3063240" cy="1325880"/>
          </a:xfrm>
          <a:prstGeom prst="roundRect">
            <a:avLst>
              <a:gd name="adj" fmla="val 6000"/>
            </a:avLst>
          </a:prstGeom>
          <a:noFill/>
          <a:ln w="12700">
            <a:solidFill>
              <a:srgbClr val="C5CC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95" name="TextBox 94"/>
          <p:cNvSpPr txBox="1"/>
          <p:nvPr/>
        </p:nvSpPr>
        <p:spPr>
          <a:xfrm>
            <a:off x="1736925" y="1472623"/>
            <a:ext cx="2606040" cy="1143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400" b="1" i="0">
                <a:solidFill>
                  <a:srgbClr val="19264B"/>
                </a:solidFill>
                <a:latin typeface="NanumGothicExtraBold"/>
                <a:ea typeface="NanumGothicExtraBold"/>
                <a:cs typeface="NanumGothicExtraBold"/>
              </a:rPr>
              <a:t>기존  Pass@K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00" b="0" i="0">
                <a:solidFill>
                  <a:srgbClr val="19264B"/>
                </a:solidFill>
                <a:latin typeface="Nanum Gothic"/>
                <a:ea typeface="Nanum Gothic"/>
                <a:cs typeface="Nanum Gothic"/>
              </a:rPr>
              <a:t>K개 샘플 중 최종 답이 하나라도 맞으면 성공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00" b="1" i="0">
                <a:solidFill>
                  <a:srgbClr val="D94F2B"/>
                </a:solidFill>
                <a:latin typeface="NanumGothicExtraBold"/>
                <a:ea typeface="NanumGothicExtraBold"/>
                <a:cs typeface="NanumGothicExtraBold"/>
              </a:rPr>
              <a:t>틀린 풀이 + 우연한 정답도 성공으로 집계</a:t>
            </a:r>
          </a:p>
        </p:txBody>
      </p:sp>
      <p:sp>
        <p:nvSpPr>
          <p:cNvPr id="96" name="Rounded Rectangle 95"/>
          <p:cNvSpPr/>
          <p:nvPr/>
        </p:nvSpPr>
        <p:spPr>
          <a:xfrm>
            <a:off x="1508325" y="2871655"/>
            <a:ext cx="3063240" cy="1600200"/>
          </a:xfrm>
          <a:prstGeom prst="roundRect">
            <a:avLst>
              <a:gd name="adj" fmla="val 6000"/>
            </a:avLst>
          </a:prstGeom>
          <a:solidFill>
            <a:srgbClr val="1926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97" name="TextBox 96"/>
          <p:cNvSpPr txBox="1"/>
          <p:nvPr/>
        </p:nvSpPr>
        <p:spPr>
          <a:xfrm>
            <a:off x="1736925" y="2981383"/>
            <a:ext cx="2606040" cy="1417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400" b="1" i="0">
                <a:solidFill>
                  <a:srgbClr val="FFFFFF"/>
                </a:solidFill>
                <a:latin typeface="NanumGothicExtraBold"/>
                <a:ea typeface="NanumGothicExtraBold"/>
                <a:cs typeface="NanumGothicExtraBold"/>
              </a:rPr>
              <a:t>제안  CoT-Pass@K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00" b="1" i="0">
                <a:solidFill>
                  <a:srgbClr val="FFFFFF"/>
                </a:solidFill>
                <a:latin typeface="NanumGothicExtraBold"/>
                <a:ea typeface="NanumGothicExtraBold"/>
                <a:cs typeface="NanumGothicExtraBold"/>
              </a:rPr>
              <a:t>추론 과정(CoT)과 최종 답이 모두 맞아야 성공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000" b="0" i="0">
                <a:solidFill>
                  <a:srgbClr val="C9D1E6"/>
                </a:solidFill>
                <a:latin typeface="Nanum Gothic"/>
                <a:ea typeface="Nanum Gothic"/>
                <a:cs typeface="Nanum Gothic"/>
              </a:rPr>
              <a:t>LLM-as-a-CoT-Judge: DeepSeek-R1-0528-Qwen3-8B가 CoT마다 3회 검증 (any / majority / all)</a:t>
            </a:r>
          </a:p>
        </p:txBody>
      </p:sp>
      <p:sp>
        <p:nvSpPr>
          <p:cNvPr id="98" name="Rounded Rectangle 97"/>
          <p:cNvSpPr/>
          <p:nvPr/>
        </p:nvSpPr>
        <p:spPr>
          <a:xfrm>
            <a:off x="4891605" y="1362895"/>
            <a:ext cx="3803904" cy="3108960"/>
          </a:xfrm>
          <a:prstGeom prst="roundRect">
            <a:avLst>
              <a:gd name="adj" fmla="val 6000"/>
            </a:avLst>
          </a:prstGeom>
          <a:solidFill>
            <a:srgbClr val="ED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99" name="TextBox 98"/>
          <p:cNvSpPr txBox="1"/>
          <p:nvPr/>
        </p:nvSpPr>
        <p:spPr>
          <a:xfrm>
            <a:off x="5120205" y="1472623"/>
            <a:ext cx="3346704" cy="3200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 b="1" i="0">
                <a:solidFill>
                  <a:srgbClr val="D94F2B"/>
                </a:solidFill>
                <a:latin typeface="NanumGothicExtraBold"/>
                <a:ea typeface="NanumGothicExtraBold"/>
                <a:cs typeface="NanumGothicExtraBold"/>
              </a:rPr>
              <a:t>Theorem 1</a:t>
            </a:r>
            <a:r>
              <a:rPr sz="1200" b="1" i="0">
                <a:solidFill>
                  <a:srgbClr val="19264B"/>
                </a:solidFill>
                <a:latin typeface="NanumGothicExtraBold"/>
                <a:ea typeface="NanumGothicExtraBold"/>
                <a:cs typeface="NanumGothicExtraBold"/>
              </a:rPr>
              <a:t>  GRPO의 암묵적 강화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5120205" y="1911535"/>
            <a:ext cx="3346704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000" b="1" i="0">
                <a:solidFill>
                  <a:srgbClr val="5B6275"/>
                </a:solidFill>
                <a:latin typeface="NanumGothicExtraBold"/>
                <a:ea typeface="NanumGothicExtraBold"/>
                <a:cs typeface="NanumGothicExtraBold"/>
              </a:rPr>
              <a:t>가정 (Logical Coherence)</a:t>
            </a:r>
          </a:p>
        </p:txBody>
      </p:sp>
      <p:sp>
        <p:nvSpPr>
          <p:cNvPr id="101" name="Rounded Rectangle 100"/>
          <p:cNvSpPr/>
          <p:nvPr/>
        </p:nvSpPr>
        <p:spPr>
          <a:xfrm>
            <a:off x="5120205" y="2185855"/>
            <a:ext cx="3346704" cy="457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02" name="TextBox 101"/>
          <p:cNvSpPr txBox="1"/>
          <p:nvPr/>
        </p:nvSpPr>
        <p:spPr>
          <a:xfrm>
            <a:off x="5120205" y="2185855"/>
            <a:ext cx="3346704" cy="457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000" b="0" i="0">
                <a:solidFill>
                  <a:srgbClr val="19264B"/>
                </a:solidFill>
                <a:latin typeface="Nanum Gothic"/>
                <a:ea typeface="Nanum Gothic"/>
                <a:cs typeface="Nanum Gothic"/>
              </a:rPr>
              <a:t>α = P(정답|올바른 CoT) </a:t>
            </a:r>
            <a:r>
              <a:rPr sz="1000" b="1" i="0">
                <a:solidFill>
                  <a:srgbClr val="D94F2B"/>
                </a:solidFill>
                <a:latin typeface="NanumGothicExtraBold"/>
                <a:ea typeface="NanumGothicExtraBold"/>
                <a:cs typeface="NanumGothicExtraBold"/>
              </a:rPr>
              <a:t>&gt;</a:t>
            </a:r>
            <a:r>
              <a:rPr sz="1000" b="0" i="0">
                <a:solidFill>
                  <a:srgbClr val="19264B"/>
                </a:solidFill>
                <a:latin typeface="Nanum Gothic"/>
                <a:ea typeface="Nanum Gothic"/>
                <a:cs typeface="Nanum Gothic"/>
              </a:rPr>
              <a:t> β = P(정답|틀린 CoT)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5120205" y="2780215"/>
            <a:ext cx="3346704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000" b="1" i="0">
                <a:solidFill>
                  <a:srgbClr val="5B6275"/>
                </a:solidFill>
                <a:latin typeface="NanumGothicExtraBold"/>
                <a:ea typeface="NanumGothicExtraBold"/>
                <a:cs typeface="NanumGothicExtraBold"/>
              </a:rPr>
              <a:t>결과 (그룹 크기 G → ∞)</a:t>
            </a:r>
          </a:p>
        </p:txBody>
      </p:sp>
      <p:sp>
        <p:nvSpPr>
          <p:cNvPr id="104" name="Rounded Rectangle 103"/>
          <p:cNvSpPr/>
          <p:nvPr/>
        </p:nvSpPr>
        <p:spPr>
          <a:xfrm>
            <a:off x="5120205" y="3054535"/>
            <a:ext cx="3346704" cy="7315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05" name="TextBox 104"/>
          <p:cNvSpPr txBox="1"/>
          <p:nvPr/>
        </p:nvSpPr>
        <p:spPr>
          <a:xfrm>
            <a:off x="5120205" y="3054535"/>
            <a:ext cx="3346704" cy="7315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100" b="0" i="0">
                <a:solidFill>
                  <a:srgbClr val="19264B"/>
                </a:solidFill>
                <a:latin typeface="Nanum Gothic"/>
                <a:ea typeface="Nanum Gothic"/>
                <a:cs typeface="Nanum Gothic"/>
              </a:rPr>
              <a:t>E[Â | 올바른 CoT] → (1−p</a:t>
            </a:r>
            <a:r>
              <a:rPr sz="1100" b="0" i="0" baseline="-25000">
                <a:solidFill>
                  <a:srgbClr val="19264B"/>
                </a:solidFill>
                <a:latin typeface="Nanum Gothic"/>
                <a:ea typeface="Nanum Gothic"/>
                <a:cs typeface="Nanum Gothic"/>
              </a:rPr>
              <a:t>c</a:t>
            </a:r>
            <a:r>
              <a:rPr sz="1100" b="0" i="0">
                <a:solidFill>
                  <a:srgbClr val="19264B"/>
                </a:solidFill>
                <a:latin typeface="Nanum Gothic"/>
                <a:ea typeface="Nanum Gothic"/>
                <a:cs typeface="Nanum Gothic"/>
              </a:rPr>
              <a:t>)(α−β)/σ  </a:t>
            </a:r>
            <a:r>
              <a:rPr sz="1100" b="1" i="0">
                <a:solidFill>
                  <a:srgbClr val="D94F2B"/>
                </a:solidFill>
                <a:latin typeface="NanumGothicExtraBold"/>
                <a:ea typeface="NanumGothicExtraBold"/>
                <a:cs typeface="NanumGothicExtraBold"/>
              </a:rPr>
              <a:t>&gt; 0</a:t>
            </a:r>
          </a:p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100" b="0" i="0">
                <a:solidFill>
                  <a:srgbClr val="19264B"/>
                </a:solidFill>
                <a:latin typeface="Nanum Gothic"/>
                <a:ea typeface="Nanum Gothic"/>
                <a:cs typeface="Nanum Gothic"/>
              </a:rPr>
              <a:t>E[Â | 틀린 CoT] → −p</a:t>
            </a:r>
            <a:r>
              <a:rPr sz="1100" b="0" i="0" baseline="-25000">
                <a:solidFill>
                  <a:srgbClr val="19264B"/>
                </a:solidFill>
                <a:latin typeface="Nanum Gothic"/>
                <a:ea typeface="Nanum Gothic"/>
                <a:cs typeface="Nanum Gothic"/>
              </a:rPr>
              <a:t>c</a:t>
            </a:r>
            <a:r>
              <a:rPr sz="1100" b="0" i="0">
                <a:solidFill>
                  <a:srgbClr val="19264B"/>
                </a:solidFill>
                <a:latin typeface="Nanum Gothic"/>
                <a:ea typeface="Nanum Gothic"/>
                <a:cs typeface="Nanum Gothic"/>
              </a:rPr>
              <a:t>(α−β)/σ  </a:t>
            </a:r>
            <a:r>
              <a:rPr sz="1100" b="1" i="0">
                <a:solidFill>
                  <a:srgbClr val="D94F2B"/>
                </a:solidFill>
                <a:latin typeface="NanumGothicExtraBold"/>
                <a:ea typeface="NanumGothicExtraBold"/>
                <a:cs typeface="NanumGothicExtraBold"/>
              </a:rPr>
              <a:t>&lt; 0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5120205" y="3895783"/>
            <a:ext cx="3346704" cy="457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 b="1" i="0">
                <a:solidFill>
                  <a:srgbClr val="19264B"/>
                </a:solidFill>
                <a:latin typeface="NanumGothicExtraBold"/>
                <a:ea typeface="NanumGothicExtraBold"/>
                <a:cs typeface="NanumGothicExtraBold"/>
              </a:rPr>
              <a:t>∴ 답만 보상해도 올바른 CoT 확률 p</a:t>
            </a:r>
            <a:r>
              <a:rPr sz="1200" b="1" i="0" baseline="-25000">
                <a:solidFill>
                  <a:srgbClr val="19264B"/>
                </a:solidFill>
                <a:latin typeface="NanumGothicExtraBold"/>
                <a:ea typeface="NanumGothicExtraBold"/>
                <a:cs typeface="NanumGothicExtraBold"/>
              </a:rPr>
              <a:t>c</a:t>
            </a:r>
            <a:r>
              <a:rPr sz="1200" b="1" i="0">
                <a:solidFill>
                  <a:srgbClr val="19264B"/>
                </a:solidFill>
                <a:latin typeface="NanumGothicExtraBold"/>
                <a:ea typeface="NanumGothicExtraBold"/>
                <a:cs typeface="NanumGothicExtraBold"/>
              </a:rPr>
              <a:t>가 증가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6"/>
          <p:cNvSpPr/>
          <p:nvPr/>
        </p:nvSpPr>
        <p:spPr>
          <a:xfrm>
            <a:off x="0" y="-37950"/>
            <a:ext cx="1181100" cy="5219400"/>
          </a:xfrm>
          <a:prstGeom prst="rect">
            <a:avLst/>
          </a:prstGeom>
          <a:solidFill>
            <a:srgbClr val="19264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90" name="Google Shape;90;p16"/>
          <p:cNvCxnSpPr/>
          <p:nvPr/>
        </p:nvCxnSpPr>
        <p:spPr>
          <a:xfrm>
            <a:off x="172875" y="-37950"/>
            <a:ext cx="0" cy="2187000"/>
          </a:xfrm>
          <a:prstGeom prst="straightConnector1">
            <a:avLst/>
          </a:prstGeom>
          <a:noFill/>
          <a:ln w="38100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91" name="Google Shape;91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5400000">
            <a:off x="-928700" y="3071650"/>
            <a:ext cx="3038475" cy="1181100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16"/>
          <p:cNvSpPr txBox="1"/>
          <p:nvPr/>
        </p:nvSpPr>
        <p:spPr>
          <a:xfrm>
            <a:off x="1408975" y="306875"/>
            <a:ext cx="7498079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2000">
                <a:solidFill>
                  <a:srgbClr val="19264B"/>
                </a:solidFill>
                <a:latin typeface="NanumGothicExtraBold"/>
                <a:ea typeface="NanumGothicExtraBold"/>
                <a:cs typeface="NanumGothicExtraBold"/>
                <a:sym typeface="NanumGothicExtraBold"/>
              </a:rPr>
              <a:t>결과: CoT-Pass@K로 보면 RLVR의 효과가 뚜렷하다</a:t>
            </a:r>
            <a:endParaRPr sz="2000">
              <a:solidFill>
                <a:srgbClr val="19264B"/>
              </a:solidFill>
              <a:latin typeface="NanumGothicExtraBold"/>
              <a:ea typeface="NanumGothicExtraBold"/>
              <a:cs typeface="NanumGothicExtraBold"/>
              <a:sym typeface="NanumGothicExtraBold"/>
            </a:endParaRPr>
          </a:p>
        </p:txBody>
      </p:sp>
      <p:sp>
        <p:nvSpPr>
          <p:cNvPr id="93" name="TextBox 92"/>
          <p:cNvSpPr txBox="1"/>
          <p:nvPr/>
        </p:nvSpPr>
        <p:spPr>
          <a:xfrm>
            <a:off x="1499616" y="786384"/>
            <a:ext cx="7187184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000" b="0" i="0">
                <a:solidFill>
                  <a:srgbClr val="5B6275"/>
                </a:solidFill>
                <a:latin typeface="Nanum Gothic"/>
                <a:ea typeface="Nanum Gothic"/>
                <a:cs typeface="Nanum Gothic"/>
              </a:rPr>
              <a:t>PAPER 02  |  Qwen2.5-32B (Base)  vs  DAPO-Qwen-32B (RLVR)</a:t>
            </a:r>
          </a:p>
        </p:txBody>
      </p:sp>
      <p:sp>
        <p:nvSpPr>
          <p:cNvPr id="94" name="Rounded Rectangle 93"/>
          <p:cNvSpPr/>
          <p:nvPr/>
        </p:nvSpPr>
        <p:spPr>
          <a:xfrm>
            <a:off x="1499616" y="1345478"/>
            <a:ext cx="3246120" cy="1481328"/>
          </a:xfrm>
          <a:prstGeom prst="roundRect">
            <a:avLst>
              <a:gd name="adj" fmla="val 6000"/>
            </a:avLst>
          </a:prstGeom>
          <a:solidFill>
            <a:srgbClr val="ED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95" name="TextBox 94"/>
          <p:cNvSpPr txBox="1"/>
          <p:nvPr/>
        </p:nvSpPr>
        <p:spPr>
          <a:xfrm>
            <a:off x="1728216" y="1482638"/>
            <a:ext cx="2788920" cy="5943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3000" b="1" i="0">
                <a:solidFill>
                  <a:srgbClr val="D94F2B"/>
                </a:solidFill>
                <a:latin typeface="NanumGothicExtraBold"/>
                <a:ea typeface="NanumGothicExtraBold"/>
                <a:cs typeface="NanumGothicExtraBold"/>
              </a:rPr>
              <a:t>K = 1,024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1728216" y="2095286"/>
            <a:ext cx="2788920" cy="685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00" b="0" i="0">
                <a:solidFill>
                  <a:srgbClr val="19264B"/>
                </a:solidFill>
                <a:latin typeface="Nanum Gothic"/>
                <a:ea typeface="Nanum Gothic"/>
                <a:cs typeface="Nanum Gothic"/>
              </a:rPr>
              <a:t>AIME 2024·2025에서 K를 1,024까지 늘려도 CoT-Pass@K 격차 유지 — Pass@K에서는 사라지던 차이</a:t>
            </a:r>
          </a:p>
        </p:txBody>
      </p:sp>
      <p:sp>
        <p:nvSpPr>
          <p:cNvPr id="97" name="Rounded Rectangle 96"/>
          <p:cNvSpPr/>
          <p:nvPr/>
        </p:nvSpPr>
        <p:spPr>
          <a:xfrm>
            <a:off x="1499616" y="2991398"/>
            <a:ext cx="3246120" cy="1481328"/>
          </a:xfrm>
          <a:prstGeom prst="roundRect">
            <a:avLst>
              <a:gd name="adj" fmla="val 6000"/>
            </a:avLst>
          </a:prstGeom>
          <a:solidFill>
            <a:srgbClr val="ED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98" name="TextBox 97"/>
          <p:cNvSpPr txBox="1"/>
          <p:nvPr/>
        </p:nvSpPr>
        <p:spPr>
          <a:xfrm>
            <a:off x="1728216" y="3128558"/>
            <a:ext cx="2788920" cy="5943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3000" b="1" i="0">
                <a:solidFill>
                  <a:srgbClr val="D94F2B"/>
                </a:solidFill>
                <a:latin typeface="NanumGothicExtraBold"/>
                <a:ea typeface="NanumGothicExtraBold"/>
                <a:cs typeface="NanumGothicExtraBold"/>
              </a:rPr>
              <a:t>~20 step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1728216" y="3741206"/>
            <a:ext cx="2788920" cy="685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00" b="0" i="0">
                <a:solidFill>
                  <a:srgbClr val="19264B"/>
                </a:solidFill>
                <a:latin typeface="Nanum Gothic"/>
                <a:ea typeface="Nanum Gothic"/>
                <a:cs typeface="Nanum Gothic"/>
              </a:rPr>
              <a:t>학습 초반부터 올바른 추론 비율 P(CC|CA)가 상승하고, 처음 보는 문제로 일반화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5065775" y="1345478"/>
            <a:ext cx="3621024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 b="1" i="0">
                <a:solidFill>
                  <a:srgbClr val="19264B"/>
                </a:solidFill>
                <a:latin typeface="NanumGothicExtraBold"/>
                <a:ea typeface="NanumGothicExtraBold"/>
                <a:cs typeface="NanumGothicExtraBold"/>
              </a:rPr>
              <a:t>벤치마크별 관찰</a:t>
            </a:r>
          </a:p>
        </p:txBody>
      </p:sp>
      <p:sp>
        <p:nvSpPr>
          <p:cNvPr id="101" name="Rounded Rectangle 100"/>
          <p:cNvSpPr/>
          <p:nvPr/>
        </p:nvSpPr>
        <p:spPr>
          <a:xfrm>
            <a:off x="5065775" y="1692950"/>
            <a:ext cx="3621024" cy="713232"/>
          </a:xfrm>
          <a:prstGeom prst="roundRect">
            <a:avLst>
              <a:gd name="adj" fmla="val 6000"/>
            </a:avLst>
          </a:prstGeom>
          <a:noFill/>
          <a:ln w="12700">
            <a:solidFill>
              <a:srgbClr val="C5CC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02" name="Oval 101"/>
          <p:cNvSpPr/>
          <p:nvPr/>
        </p:nvSpPr>
        <p:spPr>
          <a:xfrm>
            <a:off x="5230367" y="1958126"/>
            <a:ext cx="182880" cy="182880"/>
          </a:xfrm>
          <a:prstGeom prst="ellipse">
            <a:avLst/>
          </a:prstGeom>
          <a:solidFill>
            <a:srgbClr val="D94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103" name="TextBox 102"/>
          <p:cNvSpPr txBox="1"/>
          <p:nvPr/>
        </p:nvSpPr>
        <p:spPr>
          <a:xfrm>
            <a:off x="5541263" y="1784390"/>
            <a:ext cx="2980944" cy="5486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100" b="1" i="0">
                <a:solidFill>
                  <a:srgbClr val="19264B"/>
                </a:solidFill>
                <a:latin typeface="NanumGothicExtraBold"/>
                <a:ea typeface="NanumGothicExtraBold"/>
                <a:cs typeface="NanumGothicExtraBold"/>
              </a:rPr>
              <a:t>AIME 2024 / 2025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000" b="0" i="0">
                <a:solidFill>
                  <a:srgbClr val="5B6275"/>
                </a:solidFill>
                <a:latin typeface="Nanum Gothic"/>
                <a:ea typeface="Nanum Gothic"/>
                <a:cs typeface="Nanum Gothic"/>
              </a:rPr>
              <a:t>격차 뚜렷, 특히 데이터 오염이 없는 AIME 2025에서 명확</a:t>
            </a:r>
          </a:p>
        </p:txBody>
      </p:sp>
      <p:sp>
        <p:nvSpPr>
          <p:cNvPr id="104" name="Rounded Rectangle 103"/>
          <p:cNvSpPr/>
          <p:nvPr/>
        </p:nvSpPr>
        <p:spPr>
          <a:xfrm>
            <a:off x="5065775" y="2515910"/>
            <a:ext cx="3621024" cy="713232"/>
          </a:xfrm>
          <a:prstGeom prst="roundRect">
            <a:avLst>
              <a:gd name="adj" fmla="val 6000"/>
            </a:avLst>
          </a:prstGeom>
          <a:noFill/>
          <a:ln w="12700">
            <a:solidFill>
              <a:srgbClr val="C5CC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05" name="Oval 104"/>
          <p:cNvSpPr/>
          <p:nvPr/>
        </p:nvSpPr>
        <p:spPr>
          <a:xfrm>
            <a:off x="5230367" y="2781086"/>
            <a:ext cx="182880" cy="182880"/>
          </a:xfrm>
          <a:prstGeom prst="ellipse">
            <a:avLst/>
          </a:prstGeom>
          <a:solidFill>
            <a:srgbClr val="C5CC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106" name="TextBox 105"/>
          <p:cNvSpPr txBox="1"/>
          <p:nvPr/>
        </p:nvSpPr>
        <p:spPr>
          <a:xfrm>
            <a:off x="5541263" y="2607350"/>
            <a:ext cx="2980944" cy="5486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100" b="1" i="0">
                <a:solidFill>
                  <a:srgbClr val="19264B"/>
                </a:solidFill>
                <a:latin typeface="NanumGothicExtraBold"/>
                <a:ea typeface="NanumGothicExtraBold"/>
                <a:cs typeface="NanumGothicExtraBold"/>
              </a:rPr>
              <a:t>Math-500 / AMC23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000" b="0" i="0">
                <a:solidFill>
                  <a:srgbClr val="5B6275"/>
                </a:solidFill>
                <a:latin typeface="Nanum Gothic"/>
                <a:ea typeface="Nanum Gothic"/>
                <a:cs typeface="Nanum Gothic"/>
              </a:rPr>
              <a:t>차이 작음 — 문제가 쉽거나 사전학습 데이터에 포함됐을 가능성</a:t>
            </a:r>
          </a:p>
        </p:txBody>
      </p:sp>
      <p:sp>
        <p:nvSpPr>
          <p:cNvPr id="107" name="Rounded Rectangle 106"/>
          <p:cNvSpPr/>
          <p:nvPr/>
        </p:nvSpPr>
        <p:spPr>
          <a:xfrm>
            <a:off x="5065775" y="3338870"/>
            <a:ext cx="3621024" cy="713232"/>
          </a:xfrm>
          <a:prstGeom prst="roundRect">
            <a:avLst>
              <a:gd name="adj" fmla="val 6000"/>
            </a:avLst>
          </a:prstGeom>
          <a:noFill/>
          <a:ln w="12700">
            <a:solidFill>
              <a:srgbClr val="C5CC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08" name="Oval 107"/>
          <p:cNvSpPr/>
          <p:nvPr/>
        </p:nvSpPr>
        <p:spPr>
          <a:xfrm>
            <a:off x="5230367" y="3604046"/>
            <a:ext cx="182880" cy="182880"/>
          </a:xfrm>
          <a:prstGeom prst="ellipse">
            <a:avLst/>
          </a:prstGeom>
          <a:solidFill>
            <a:srgbClr val="C5CC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109" name="TextBox 108"/>
          <p:cNvSpPr txBox="1"/>
          <p:nvPr/>
        </p:nvSpPr>
        <p:spPr>
          <a:xfrm>
            <a:off x="5541263" y="3430310"/>
            <a:ext cx="2980944" cy="5486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100" b="1" i="0">
                <a:solidFill>
                  <a:srgbClr val="19264B"/>
                </a:solidFill>
                <a:latin typeface="NanumGothicExtraBold"/>
                <a:ea typeface="NanumGothicExtraBold"/>
                <a:cs typeface="NanumGothicExtraBold"/>
              </a:rPr>
              <a:t>Minerva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000" b="0" i="0">
                <a:solidFill>
                  <a:srgbClr val="5B6275"/>
                </a:solidFill>
                <a:latin typeface="Nanum Gothic"/>
                <a:ea typeface="Nanum Gothic"/>
                <a:cs typeface="Nanum Gothic"/>
              </a:rPr>
              <a:t>개선 없음 — 물리·서술형 답 위주로 학습 데이터(수학)와 도메인 불일치</a:t>
            </a:r>
          </a:p>
        </p:txBody>
      </p:sp>
      <p:sp>
        <p:nvSpPr>
          <p:cNvPr id="110" name="Rounded Rectangle 109"/>
          <p:cNvSpPr/>
          <p:nvPr/>
        </p:nvSpPr>
        <p:spPr>
          <a:xfrm>
            <a:off x="5065775" y="4180118"/>
            <a:ext cx="3621024" cy="475488"/>
          </a:xfrm>
          <a:prstGeom prst="roundRect">
            <a:avLst>
              <a:gd name="adj" fmla="val 6000"/>
            </a:avLst>
          </a:prstGeom>
          <a:solidFill>
            <a:srgbClr val="1926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11" name="TextBox 110"/>
          <p:cNvSpPr txBox="1"/>
          <p:nvPr/>
        </p:nvSpPr>
        <p:spPr>
          <a:xfrm>
            <a:off x="5248655" y="4180118"/>
            <a:ext cx="3255264" cy="47548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000" b="1" i="0">
                <a:solidFill>
                  <a:srgbClr val="F2A07B"/>
                </a:solidFill>
                <a:latin typeface="NanumGothicExtraBold"/>
                <a:ea typeface="NanumGothicExtraBold"/>
                <a:cs typeface="NanumGothicExtraBold"/>
              </a:rPr>
              <a:t>한계  </a:t>
            </a:r>
            <a:r>
              <a:rPr sz="1000" b="0" i="0">
                <a:solidFill>
                  <a:srgbClr val="FFFFFF"/>
                </a:solidFill>
                <a:latin typeface="Nanum Gothic"/>
                <a:ea typeface="Nanum Gothic"/>
                <a:cs typeface="Nanum Gothic"/>
              </a:rPr>
              <a:t>CoT 판정을 LLM에 의존 · 수학 도메인과 소수 모델에 한정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9264B"/>
        </a:solidFill>
        <a:effectLst/>
      </p:bgPr>
    </p:bg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7" name="Google Shape;97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5400000">
            <a:off x="-1049750" y="3137425"/>
            <a:ext cx="3038475" cy="1181100"/>
          </a:xfrm>
          <a:prstGeom prst="rect">
            <a:avLst/>
          </a:prstGeom>
          <a:noFill/>
          <a:ln>
            <a:noFill/>
          </a:ln>
        </p:spPr>
      </p:pic>
      <p:sp>
        <p:nvSpPr>
          <p:cNvPr id="98" name="Google Shape;98;p17"/>
          <p:cNvSpPr/>
          <p:nvPr/>
        </p:nvSpPr>
        <p:spPr>
          <a:xfrm>
            <a:off x="8685225" y="135475"/>
            <a:ext cx="335700" cy="335700"/>
          </a:xfrm>
          <a:prstGeom prst="rect">
            <a:avLst/>
          </a:prstGeom>
          <a:noFill/>
          <a:ln w="3810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9" name="Google Shape;99;p17"/>
          <p:cNvSpPr/>
          <p:nvPr/>
        </p:nvSpPr>
        <p:spPr>
          <a:xfrm>
            <a:off x="8685225" y="616375"/>
            <a:ext cx="335700" cy="335700"/>
          </a:xfrm>
          <a:prstGeom prst="rect">
            <a:avLst/>
          </a:prstGeom>
          <a:noFill/>
          <a:ln w="3810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0" name="Google Shape;100;p17"/>
          <p:cNvSpPr/>
          <p:nvPr/>
        </p:nvSpPr>
        <p:spPr>
          <a:xfrm>
            <a:off x="8685225" y="1097275"/>
            <a:ext cx="335700" cy="335700"/>
          </a:xfrm>
          <a:prstGeom prst="rect">
            <a:avLst/>
          </a:prstGeom>
          <a:solidFill>
            <a:srgbClr val="FFFFFF"/>
          </a:solidFill>
          <a:ln w="3810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101" name="Google Shape;101;p17"/>
          <p:cNvCxnSpPr/>
          <p:nvPr/>
        </p:nvCxnSpPr>
        <p:spPr>
          <a:xfrm rot="10800000">
            <a:off x="146900" y="0"/>
            <a:ext cx="0" cy="2152500"/>
          </a:xfrm>
          <a:prstGeom prst="straightConnector1">
            <a:avLst/>
          </a:prstGeom>
          <a:noFill/>
          <a:ln w="28575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02" name="Google Shape;102;p17"/>
          <p:cNvSpPr txBox="1"/>
          <p:nvPr/>
        </p:nvSpPr>
        <p:spPr>
          <a:xfrm>
            <a:off x="1469575" y="510025"/>
            <a:ext cx="147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3" name="Google Shape;103;p17"/>
          <p:cNvSpPr txBox="1"/>
          <p:nvPr/>
        </p:nvSpPr>
        <p:spPr>
          <a:xfrm>
            <a:off x="1600200" y="1987732"/>
            <a:ext cx="6858000" cy="92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800"/>
              </a:spcAft>
              <a:buNone/>
            </a:pPr>
            <a:r>
              <a:rPr sz="1400" b="0" i="0" dirty="0">
                <a:solidFill>
                  <a:srgbClr val="F2A07B"/>
                </a:solidFill>
                <a:latin typeface="NanumGothicExtraBold"/>
                <a:ea typeface="NanumGothicExtraBold"/>
                <a:cs typeface="NanumGothicExtraBold"/>
              </a:rPr>
              <a:t>THANK YOU</a:t>
            </a:r>
            <a:endParaRPr sz="4800" dirty="0">
              <a:solidFill>
                <a:schemeClr val="lt1"/>
              </a:solidFill>
              <a:latin typeface="NanumGothicExtraBold"/>
              <a:ea typeface="NanumGothicExtraBold"/>
              <a:cs typeface="NanumGothicExtraBold"/>
              <a:sym typeface="NanumGothicExtraBold"/>
            </a:endParaRPr>
          </a:p>
          <a:p>
            <a:pPr algn="ctr">
              <a:spcAft>
                <a:spcPts val="800"/>
              </a:spcAft>
            </a:pPr>
            <a:r>
              <a:rPr sz="3200" b="1" i="0" dirty="0" err="1">
                <a:solidFill>
                  <a:srgbClr val="FFFFFF"/>
                </a:solidFill>
                <a:latin typeface="NanumGothicExtraBold"/>
                <a:ea typeface="NanumGothicExtraBold"/>
                <a:cs typeface="NanumGothicExtraBold"/>
              </a:rPr>
              <a:t>감사합니다</a:t>
            </a:r>
            <a:endParaRPr sz="3200" b="1" i="0" dirty="0">
              <a:solidFill>
                <a:srgbClr val="FFFFFF"/>
              </a:solidFill>
              <a:latin typeface="NanumGothicExtraBold"/>
              <a:ea typeface="NanumGothicExtraBold"/>
              <a:cs typeface="NanumGothicExtraBold"/>
            </a:endParaRPr>
          </a:p>
          <a:p>
            <a:pPr algn="ctr">
              <a:spcAft>
                <a:spcPts val="800"/>
              </a:spcAft>
            </a:pPr>
            <a:r>
              <a:rPr sz="1200" b="0" i="0" dirty="0">
                <a:solidFill>
                  <a:srgbClr val="C9D1E6"/>
                </a:solidFill>
                <a:latin typeface="Nanum Gothic"/>
                <a:ea typeface="Nanum Gothic"/>
                <a:cs typeface="Nanum Gothic"/>
              </a:rPr>
              <a:t>Q &amp; 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18</TotalTime>
  <Words>1440</Words>
  <Application>Microsoft Macintosh PowerPoint</Application>
  <PresentationFormat>화면 슬라이드 쇼(16:9)</PresentationFormat>
  <Paragraphs>137</Paragraphs>
  <Slides>11</Slides>
  <Notes>11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11</vt:i4>
      </vt:variant>
    </vt:vector>
  </HeadingPairs>
  <TitlesOfParts>
    <vt:vector size="15" baseType="lpstr">
      <vt:lpstr>NanumGothicExtraBold</vt:lpstr>
      <vt:lpstr>Nanum Gothic</vt:lpstr>
      <vt:lpstr>Arial</vt:lpstr>
      <vt:lpstr>Simple Light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유금헌</cp:lastModifiedBy>
  <cp:revision>5</cp:revision>
  <dcterms:modified xsi:type="dcterms:W3CDTF">2026-09-28T15:57:37Z</dcterms:modified>
</cp:coreProperties>
</file>