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anumGothicExtraBold"/>
      <p:bold r:id="rId14"/>
    </p:embeddedFont>
    <p:embeddedFont>
      <p:font typeface="Noto Sans"/>
      <p:regular r:id="rId15"/>
      <p:bold r:id="rId16"/>
      <p:italic r:id="rId17"/>
      <p:boldItalic r:id="rId18"/>
    </p:embeddedFont>
    <p:embeddedFont>
      <p:font typeface="Nanum Gothic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HSZkdooXHUwobAcamxBORUyDx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anumGothic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-regular.fntdata"/><Relationship Id="rId14" Type="http://schemas.openxmlformats.org/officeDocument/2006/relationships/font" Target="fonts/NanumGothicExtraBold-bold.fntdata"/><Relationship Id="rId17" Type="http://schemas.openxmlformats.org/officeDocument/2006/relationships/font" Target="fonts/NotoSans-italic.fntdata"/><Relationship Id="rId16" Type="http://schemas.openxmlformats.org/officeDocument/2006/relationships/font" Target="fonts/Noto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anumGothic-regular.fntdata"/><Relationship Id="rId6" Type="http://schemas.openxmlformats.org/officeDocument/2006/relationships/slide" Target="slides/slide1.xml"/><Relationship Id="rId18" Type="http://schemas.openxmlformats.org/officeDocument/2006/relationships/font" Target="fonts/No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이렇게 스터디원들을 만나 공부하신 사진을 넣어주시고 만남 인증을 해주세요!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비대면일 경우 화면 캡처를 이용해주시면 됩니다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첫 번째로, NASA에서 공개한 리튬이온배터리 데이터를 이용해 배터리가 사용하면서 어떻게 변하는지 확인했습니다.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여기서 Cycle은 배터리를 충전하고 방전한 횟수이고, Capacity는 배터리가 저장할 수 있는 전기량입니다.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B0005 배터리를 분석한 결과, 사용 횟수가 늘어날수록 Capacity가 약 1.86 Ah에서 1.33 Ah까지 감소했습니다.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즉, 배터리를 오래 사용할수록 저장할 수 있는 전기량이 줄어드는 것을 확인할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이런 데이터를 이용하면 이후에는 배터리의 현재 상태를 의미하는 </a:t>
            </a:r>
            <a:r>
              <a:rPr b="1" lang="ko">
                <a:solidFill>
                  <a:schemeClr val="dk1"/>
                </a:solidFill>
              </a:rPr>
              <a:t>State of Health, SOH</a:t>
            </a:r>
            <a:r>
              <a:rPr lang="ko">
                <a:solidFill>
                  <a:schemeClr val="dk1"/>
                </a:solidFill>
              </a:rPr>
              <a:t>와 앞으로 얼마나 더 사용할 수 있는지를 의미하는 </a:t>
            </a:r>
            <a:r>
              <a:rPr b="1" lang="ko">
                <a:solidFill>
                  <a:schemeClr val="dk1"/>
                </a:solidFill>
              </a:rPr>
              <a:t>Remaining Useful Life, RUL</a:t>
            </a:r>
            <a:r>
              <a:rPr lang="ko">
                <a:solidFill>
                  <a:schemeClr val="dk1"/>
                </a:solidFill>
              </a:rPr>
              <a:t>을 예측하는 데 활용할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26a991f69de50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h26a991f69de50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국립국어원의 지역어 종합 정보와 우리말샘을 활용하여 한국어 방언의 발음과 형태의 유사성을 파악해보았습니다.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위 그래프는 옥수수의 방언 약 20개 중 사용도가 높은 10개를 택한 것이고, 1에 가까울 수록 형태가 유사한 것입니다.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동일 의미의 전국 방언 어휘에서 유사 형태를 찾고, 여러 어휘에 걸쳐 반복되는 음운 대응을 검토하는 방향으로 확장한다면, 소멸되어 가는 일부 방언 어휘를 효율적으로 보전할 수 있을 것이라고 생각됩니다.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26a991f69de501f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h26a991f69de501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Data mining</a:t>
            </a:r>
            <a:r>
              <a:rPr lang="ko"/>
              <a:t>에 대해서 교재를 선정해서 챕터 순서대로 공부했습니다.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지금까지는 챕터 1의 내용을 배우면서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데이터 마이닝의 정의, 어떤 데이터들을 마이닝할 수 있는지, 데이터의 어떤 패턴들을 마이닝할 수 있는지, 어떤 도구들을 이용해서 마이닝할 수 있는지 등등을 학습했습니다.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6a991f69de501f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h26a991f69de501f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다음으로, Walmart M5 데이터를 활용해 평소보다 예상 밖으로 수요가 증가했을 때 동일 상품의 매장 간 가격 차이가 어떻게 변하는지 분석했습니다.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분석 단위는 상품별 주간 데이터이고 가격분산은 Normalized IQR을 중심으로 측정했습니다.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처음에는 직전 8주의 판매량과 비교해 판매량이 크게 증가한 경우를 수요충격으로 정의했는데, 이 경우 다음주의 가격분산이 유의하게 감소하는 결과가 나타났습니다.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하지만 추가 EDA를 진행해보니 일부 급증 이유는</a:t>
            </a:r>
            <a:r>
              <a:rPr lang="ko">
                <a:solidFill>
                  <a:schemeClr val="dk1"/>
                </a:solidFill>
              </a:rPr>
              <a:t> 세일 기간 때문이었고, </a:t>
            </a:r>
            <a:r>
              <a:rPr lang="ko">
                <a:solidFill>
                  <a:schemeClr val="dk1"/>
                </a:solidFill>
              </a:rPr>
              <a:t>크리스마스처럼 시장 전체의 수요가 증가하는 시점도 포함되어 있었습니다.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그래서 시장 전체의 공통 변화를 제거한 refined shock와 할인까지 제외한 clean demand shock을 최종적으로 사용했습니다. 그 결과, 기존에는 유의했던 가격분산 감소 효과가 더 이상 유의하지 않았습니다.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이후 가격분포를 더 자세히 살펴봤습니다. 전체적인 가격 차이는 줄지 않았지만, 높은 가격대와 중앙가격 사이의 간격은 유의하게 감소했습니다.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그 이유를 확인하기 위해 낮은 가격대, 중앙가격, 높은 가격대의 실제 변화를 각각 살펴봤습니다. 그 결과 세 가격대 모두 상승했지만, 특히 중앙가격이 상대적으로 더 빠르게 올랐습니다.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즉 비싼 가격이 싸진 것이 아니라, 중앙가격이 비싸지면서 가격 차이가 좁아진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상품군별로도 차이가 있었는데, 생활용품에서는 수요충격 이후 가격분산이 새롭게 발생할 확률이 약 0.81%포인트 증가했고, 식품에서는 높은 가격대의 상승이 특히 뚜렷했습니다.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따라서, 예상 밖의 수요 증가는 모든 매장의 가격을 비슷하게 만든다기보다는 가격분포와 상품군에 따라 비대칭적인 가격조정이 나타난다고 볼 수 있습니다.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6" name="Google Shape;46;p16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6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6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6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16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16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6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6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" sz="800" u="none" cap="none" strike="noStrike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b="0" i="0" sz="800" u="none" cap="none" strike="noStrike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ko" sz="800" u="none" cap="none" strike="noStrike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b="0" i="0" sz="800" u="none" cap="none" strike="noStrike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" sz="800" u="none" cap="none" strike="noStrike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b="0" i="0" sz="800" u="none" cap="none" strike="noStrike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b="0" i="0" sz="800" u="none" cap="none" strike="noStrike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b="0" i="0" sz="800" u="none" cap="none" strike="noStrike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b="0" i="0" sz="800" u="none" cap="none" strike="noStrike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b="1" i="0" sz="800" u="none" cap="none" strike="noStrike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ko" sz="800" u="none" cap="none" strike="noStrike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b="0" i="0" sz="800" u="none" cap="none" strike="noStrike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b="0" i="0" sz="800" u="none" cap="none" strike="noStrike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1339750" y="2710050"/>
            <a:ext cx="49794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ko" sz="25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</a:t>
            </a:r>
            <a:r>
              <a:rPr b="1" lang="ko" sz="2500">
                <a:solidFill>
                  <a:srgbClr val="19264B"/>
                </a:solidFill>
              </a:rPr>
              <a:t>데이터 분석 및 EDA</a:t>
            </a:r>
            <a:r>
              <a:rPr b="1" i="0" lang="ko" sz="25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팀</a:t>
            </a:r>
            <a:endParaRPr b="1" i="0" sz="25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ko">
                <a:solidFill>
                  <a:srgbClr val="19264B"/>
                </a:solidFill>
              </a:rPr>
              <a:t>26</a:t>
            </a: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">
                <a:solidFill>
                  <a:srgbClr val="19264B"/>
                </a:solidFill>
              </a:rPr>
              <a:t>09</a:t>
            </a: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">
                <a:solidFill>
                  <a:srgbClr val="19264B"/>
                </a:solidFill>
              </a:rPr>
              <a:t>29</a:t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lang="ko" sz="1100">
                <a:solidFill>
                  <a:srgbClr val="19264B"/>
                </a:solidFill>
              </a:rPr>
              <a:t>박영서</a:t>
            </a:r>
            <a:endParaRPr b="0" i="0" sz="11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1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2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cap="flat" cmpd="sng" w="38100">
            <a:solidFill>
              <a:srgbClr val="1926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스터디원 소개 및 만남 인증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6137600" y="1820125"/>
            <a:ext cx="2282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1 : 김</a:t>
            </a:r>
            <a:r>
              <a:rPr lang="ko"/>
              <a:t>강민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2 : </a:t>
            </a:r>
            <a:r>
              <a:rPr lang="ko"/>
              <a:t>박영서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3 : </a:t>
            </a:r>
            <a:r>
              <a:rPr lang="ko"/>
              <a:t>유금헌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/>
              <a:t>스터디원 4 : 홍예진</a:t>
            </a:r>
            <a:endParaRPr/>
          </a:p>
        </p:txBody>
      </p:sp>
      <p:pic>
        <p:nvPicPr>
          <p:cNvPr id="77" name="Google Shape;7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6675" y="1614288"/>
            <a:ext cx="4212749" cy="2710226"/>
          </a:xfrm>
          <a:prstGeom prst="rect">
            <a:avLst/>
          </a:prstGeom>
          <a:solidFill>
            <a:srgbClr val="EFEFEF"/>
          </a:solidFill>
          <a:ln cap="flat" cmpd="sng" w="38100">
            <a:solidFill>
              <a:srgbClr val="19264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1489025" y="1121975"/>
            <a:ext cx="41958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/>
              <a:t>-NASA </a:t>
            </a:r>
            <a:r>
              <a:rPr lang="ko"/>
              <a:t>배터리 데이터 기반 열화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/>
              <a:t>-한국어 방언 유사도 조사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/>
              <a:t>-Data Mining 이론 스터디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/>
              <a:t>- Walmart 데이터를 활용한 수요증가와 가격분산 분석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1408975" y="306875"/>
            <a:ext cx="61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NASA 배터리 데이터 기반 열화 분석(김강민)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737500" y="362652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-NASA 리튬이온배터리 데이터셋 활용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-B0005 배터리의 168개 방전 Cycle 분석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-Capacity: 약 1.86 Ah → 1.33 Ah 감소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-Cycle 증가에 따라 저장 가능한 전기량 감소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-향후 SOH 및 RUL 예측 모델로 확장 가능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6" name="Google Shape;9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500" y="895275"/>
            <a:ext cx="4419901" cy="27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26a991f69de501f7_0_1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h26a991f69de501f7_0_1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3" name="Google Shape;103;h26a991f69de501f7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h26a991f69de501f7_0_1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한국어 방언 유사도 조사</a:t>
            </a: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(박영서)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105" name="Google Shape;105;h26a991f69de501f7_0_1" title="ChatGPT 이미지 2026년 9월 27일 오후 10_36_12.png"/>
          <p:cNvPicPr preferRelativeResize="0"/>
          <p:nvPr/>
        </p:nvPicPr>
        <p:blipFill rotWithShape="1">
          <a:blip r:embed="rId4">
            <a:alphaModFix/>
          </a:blip>
          <a:srcRect b="14917" l="10033" r="23786" t="16655"/>
          <a:stretch/>
        </p:blipFill>
        <p:spPr>
          <a:xfrm>
            <a:off x="1799900" y="1189812"/>
            <a:ext cx="3033524" cy="276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h26a991f69de501f7_0_1"/>
          <p:cNvSpPr txBox="1"/>
          <p:nvPr/>
        </p:nvSpPr>
        <p:spPr>
          <a:xfrm>
            <a:off x="5329925" y="2000750"/>
            <a:ext cx="3500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국립국어원 ‘지역어 종합 정보’와 ‘우리말샘’ 활용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한국어 방언의 발음, 형태 유사성 파악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‘옥수수'의 방언 20개 중 10개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1에 가까울 수록 형태가 유사한 것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>
                <a:solidFill>
                  <a:schemeClr val="dk1"/>
                </a:solidFill>
              </a:rPr>
              <a:t>동일 의미의 전국 방언 어휘에서 유사한 형태를 찾고, 여러 어휘에 걸쳐 반복되는 음운 대응을 검토하는 방향으로 확장 가능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26a991f69de501f7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h26a991f69de501f7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3" name="Google Shape;113;h26a991f69de501f7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h26a991f69de501f7_0_8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Data Mining 이론 스터디(유금헌)</a:t>
            </a:r>
            <a:endParaRPr b="0" i="0" sz="2000" u="none" cap="none" strike="noStrike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115" name="Google Shape;115;h26a991f69de501f7_0_8" title="스크린샷 2026-09-27 오전 11.42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2350" y="1054750"/>
            <a:ext cx="2966900" cy="36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h26a991f69de501f7_0_8" title="스크린샷 2026-09-27 오후 6.58.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3575" y="823184"/>
            <a:ext cx="3590251" cy="26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h26a991f69de501f7_0_8" title="스크린샷 2026-09-27 오후 6.58.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4250" y="3388241"/>
            <a:ext cx="2577099" cy="15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26a991f69de501f7_0_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h26a991f69de501f7_0_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4" name="Google Shape;124;h26a991f69de501f7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h26a991f69de501f7_0_15"/>
          <p:cNvSpPr txBox="1"/>
          <p:nvPr/>
        </p:nvSpPr>
        <p:spPr>
          <a:xfrm>
            <a:off x="1408975" y="306875"/>
            <a:ext cx="708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Walmart 데이터를 활용한 수요 증가와 가격분산 분석  </a:t>
            </a: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(</a:t>
            </a: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홍예진</a:t>
            </a: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)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26" name="Google Shape;126;h26a991f69de501f7_0_15"/>
          <p:cNvSpPr txBox="1"/>
          <p:nvPr/>
        </p:nvSpPr>
        <p:spPr>
          <a:xfrm>
            <a:off x="1518925" y="767725"/>
            <a:ext cx="68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분석질문</a:t>
            </a:r>
            <a:r>
              <a:rPr lang="ko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: 평소보다 예상 외로 수요가 증가하면 동일 상품의 매장 간 가격 차이는 줄어드는가?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h26a991f69de501f7_0_15"/>
          <p:cNvSpPr txBox="1"/>
          <p:nvPr/>
        </p:nvSpPr>
        <p:spPr>
          <a:xfrm>
            <a:off x="1518925" y="1017361"/>
            <a:ext cx="68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가격분산지표: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 Normalized IQR = (Q75 - Q25) / Media</a:t>
            </a:r>
            <a:r>
              <a:rPr lang="ko" sz="9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n</a:t>
            </a:r>
            <a:endParaRPr sz="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h26a991f69de501f7_0_15"/>
          <p:cNvSpPr txBox="1"/>
          <p:nvPr/>
        </p:nvSpPr>
        <p:spPr>
          <a:xfrm>
            <a:off x="4786467" y="2458100"/>
            <a:ext cx="336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핵심결과1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: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판매량 급증만으로 수요충격 자체가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                   가격을 수렴시킨다고 보기는 어려움</a:t>
            </a:r>
            <a:r>
              <a:rPr lang="ko" sz="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9" name="Google Shape;129;h26a991f69de501f7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876" y="1684463"/>
            <a:ext cx="2843850" cy="1357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h26a991f69de501f7_0_15"/>
          <p:cNvSpPr txBox="1"/>
          <p:nvPr/>
        </p:nvSpPr>
        <p:spPr>
          <a:xfrm>
            <a:off x="4727067" y="1398554"/>
            <a:ext cx="35958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5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수요충격 정의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- </a:t>
            </a:r>
            <a:r>
              <a:rPr lang="ko" sz="115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Raw shock: </a:t>
            </a:r>
            <a:r>
              <a:rPr lang="ko" sz="8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직전 8주 대비 판매량이 크게 증가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- Refined shock: </a:t>
            </a:r>
            <a:r>
              <a:rPr lang="ko" sz="8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시장 전체의 공통 수요변화 제거</a:t>
            </a:r>
            <a:endParaRPr sz="3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- </a:t>
            </a:r>
            <a:r>
              <a:rPr lang="ko" sz="115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Clean demand shock: </a:t>
            </a:r>
            <a:r>
              <a:rPr lang="ko" sz="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공통 수요변화 제거 후 할인 사례 제외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1" name="Google Shape;131;h26a991f69de501f7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6526" y="3397600"/>
            <a:ext cx="3225975" cy="1621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h26a991f69de501f7_0_15"/>
          <p:cNvCxnSpPr/>
          <p:nvPr/>
        </p:nvCxnSpPr>
        <p:spPr>
          <a:xfrm>
            <a:off x="1578883" y="3060608"/>
            <a:ext cx="7111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h26a991f69de501f7_0_15"/>
          <p:cNvSpPr txBox="1"/>
          <p:nvPr/>
        </p:nvSpPr>
        <p:spPr>
          <a:xfrm>
            <a:off x="4758550" y="4576425"/>
            <a:ext cx="533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핵심결과2:</a:t>
            </a:r>
            <a:r>
              <a:rPr lang="ko" sz="13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예상 밖 수요 증가는 가격분포와 상품군에 따라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                   비대칭적 가격조정 동반</a:t>
            </a:r>
            <a:r>
              <a:rPr lang="ko" sz="3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4" name="Google Shape;134;h26a991f69de501f7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7955" y="3369355"/>
            <a:ext cx="2068805" cy="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h26a991f69de501f7_0_15"/>
          <p:cNvSpPr txBox="1"/>
          <p:nvPr/>
        </p:nvSpPr>
        <p:spPr>
          <a:xfrm>
            <a:off x="4758559" y="3061844"/>
            <a:ext cx="336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중앙가격의 가장 빠른 상승</a:t>
            </a:r>
            <a:endParaRPr b="1" sz="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h26a991f69de501f7_0_15"/>
          <p:cNvSpPr txBox="1"/>
          <p:nvPr/>
        </p:nvSpPr>
        <p:spPr>
          <a:xfrm>
            <a:off x="6886750" y="3338050"/>
            <a:ext cx="2396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세 가격대 모두 상승했으며, 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중앙가격 상승률이 P90보다 높아 상단 격차 축소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h26a991f69de501f7_0_15"/>
          <p:cNvSpPr txBox="1"/>
          <p:nvPr/>
        </p:nvSpPr>
        <p:spPr>
          <a:xfrm>
            <a:off x="4765033" y="3833063"/>
            <a:ext cx="30000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상품군별 반응</a:t>
            </a:r>
            <a:endParaRPr b="1"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- </a:t>
            </a:r>
            <a:r>
              <a:rPr lang="ko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생활용품</a:t>
            </a:r>
            <a:r>
              <a:rPr lang="ko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lang="ko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가격분산이 새로 발생할 확률 증가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- </a:t>
            </a:r>
            <a:r>
              <a:rPr lang="ko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식품: 높은 가격대 (P90) 상승 뚜렷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" name="Google Shape;138;h26a991f69de501f7_0_15"/>
          <p:cNvSpPr txBox="1"/>
          <p:nvPr/>
        </p:nvSpPr>
        <p:spPr>
          <a:xfrm>
            <a:off x="1287434" y="3092344"/>
            <a:ext cx="336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50">
                <a:solidFill>
                  <a:schemeClr val="dk1"/>
                </a:solidFill>
                <a:highlight>
                  <a:srgbClr val="FFFFFF"/>
                </a:highlight>
              </a:rPr>
              <a:t>가격분포 나누어 본 결과</a:t>
            </a:r>
            <a:r>
              <a:rPr b="1" lang="ko" sz="200">
                <a:solidFill>
                  <a:schemeClr val="dk1"/>
                </a:solidFill>
              </a:rPr>
              <a:t> </a:t>
            </a:r>
            <a:endParaRPr b="1" sz="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h26a991f69de501f7_0_15"/>
          <p:cNvSpPr txBox="1"/>
          <p:nvPr/>
        </p:nvSpPr>
        <p:spPr>
          <a:xfrm>
            <a:off x="1298017" y="1403103"/>
            <a:ext cx="336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50">
                <a:solidFill>
                  <a:schemeClr val="dk1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다음 주 가격분산 변화</a:t>
            </a:r>
            <a:r>
              <a:rPr b="1" lang="ko" sz="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1" sz="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64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5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5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