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77" r:id="rId2"/>
    <p:sldId id="27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 type="screen16x9"/>
  <p:notesSz cx="6858000" cy="9144000"/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77"/>
    <p:restoredTop sz="87174"/>
  </p:normalViewPr>
  <p:slideViewPr>
    <p:cSldViewPr snapToGrid="0">
      <p:cViewPr varScale="1">
        <p:scale>
          <a:sx n="84" d="100"/>
          <a:sy n="84" d="100"/>
        </p:scale>
        <p:origin x="176" y="1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CoT의</a:t>
            </a:r>
            <a:r>
              <a:rPr dirty="0"/>
              <a:t> </a:t>
            </a:r>
            <a:r>
              <a:rPr dirty="0" err="1"/>
              <a:t>자기검증</a:t>
            </a:r>
            <a:r>
              <a:rPr dirty="0"/>
              <a:t> </a:t>
            </a:r>
            <a:r>
              <a:rPr dirty="0" err="1"/>
              <a:t>문장은</a:t>
            </a:r>
            <a:r>
              <a:rPr dirty="0"/>
              <a:t> </a:t>
            </a:r>
            <a:r>
              <a:rPr dirty="0" err="1"/>
              <a:t>관찰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텍스트입니다</a:t>
            </a:r>
            <a:r>
              <a:rPr dirty="0"/>
              <a:t>.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이미지의</a:t>
            </a:r>
            <a:r>
              <a:rPr dirty="0"/>
              <a:t> </a:t>
            </a:r>
            <a:r>
              <a:rPr dirty="0" err="1"/>
              <a:t>새로운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</a:t>
            </a:r>
            <a:r>
              <a:rPr dirty="0" err="1"/>
              <a:t>사용했는지는</a:t>
            </a:r>
            <a:r>
              <a:rPr dirty="0"/>
              <a:t> </a:t>
            </a:r>
            <a:r>
              <a:rPr dirty="0" err="1"/>
              <a:t>별도의</a:t>
            </a:r>
            <a:r>
              <a:rPr dirty="0"/>
              <a:t> </a:t>
            </a:r>
            <a:r>
              <a:rPr dirty="0" err="1"/>
              <a:t>개입</a:t>
            </a:r>
            <a:r>
              <a:rPr dirty="0"/>
              <a:t> </a:t>
            </a:r>
            <a:r>
              <a:rPr dirty="0" err="1"/>
              <a:t>실험으로</a:t>
            </a:r>
            <a:r>
              <a:rPr dirty="0"/>
              <a:t> </a:t>
            </a:r>
            <a:r>
              <a:rPr dirty="0" err="1"/>
              <a:t>확인해야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출처</a:t>
            </a:r>
            <a:r>
              <a:rPr dirty="0"/>
              <a:t>: </a:t>
            </a:r>
            <a:r>
              <a:rPr dirty="0" err="1"/>
              <a:t>첨부</a:t>
            </a:r>
            <a:r>
              <a:rPr dirty="0"/>
              <a:t> </a:t>
            </a:r>
            <a:r>
              <a:rPr dirty="0" err="1"/>
              <a:t>논문</a:t>
            </a:r>
            <a:r>
              <a:rPr dirty="0"/>
              <a:t>, arXiv:2605.15864v2 (2026-05-26). Sec. 1; Fig.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그림은 논문의 전체 진단 구조입니다. 동일 질문에서 정답을 바꾸는 시각적 차이를 넣습니다. 모델이 새 이미지에 따라 답을 고치면 재접지에 성공한 것으로 봅니다.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Fig. 1; Sec.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Ra는 Ia를 보고 생성한 추론입니다. Probe는 Ib와 이전 추론 Ra를 함께 제공한 뒤 P를 붙여 이어 생성합니다. Accbase는 방법 정의상 Ib 단독 정확도입니다. 단, Table 2와 Table 3/11의 이미지 레이블은 불일치하므로 부록에 따로 표시합니다.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Sec. 2.2–2.4; Appx. 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각 데이터셋 200개입니다. 기존 벤치마크의 Ib에서 Nano Banana Pro와 사람이 Ia를 편집합니다. 동일 해상도로 시각 토큰 수 변화를 통제했습니다. 유사도 수치는 정답 차이 자체를 증명하는 지표가 아니라 전반적 유사성 점검입니다.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Sec. 3; Table 1; Appx. 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Qwen3 8개, Qwen2.5 계열 3개, Kimi 2개, ERNIE 2개로 총 15개입니다. Probe는 assistant prefix 접근이 필요하므로 주요 실험은 공개 모델입니다.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Sec. 4.1; Appx. B–C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표의 Δ는 원문 값을 유지했습니다. 각 데이터셋의 비반올림 평균 때문에 표시된 Base-Probe 차이와 0.1pp 다를 수 있습니다. 최대 하락 60.3은 상대 백분율이 아니라 pp입니다.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Table 2 (Avg. 열 일부 발췌, 원문 보고값)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32B에서 48.3/17.9=2.70배입니다. 이를 전체 모델 평균 3배라고 말하면 과장입니다. 파라미터 규모 비교는 학습 방식과 아키텍처 차이가 포함되므로 크기의 인과 효과로 단정하지 않습니다.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Table 2 (Avg. Δ); “약 3배”는 32B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위는 초기 이미지의 60도, 아래는 변경된 이미지의 50도입니다. 아래 continuation은 여전히 angle 1 is 60이라고 주장합니다. 이는 현재 입력에 없는 수치를 이전 텍스트에서 재사용하는 사례입니다.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Appx. A; Fig. 5 (발췌)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235B Thinking은 34.1에서 85.4로 51.3pp 회복합니다. 8B Instruct 등은 여전히 baseline보다 낮으므로 모든 모델에서 완전 회복이라고 표현하지 않습니다.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Table 4; Appx. 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실제 실행은 KV cache를 그대로 둔 채 이미지 토큰만 바꾸는 것이 아닙니다. 전체 입력을 새 이미지로 re-prefill합니다. Multi-turn에서도 첫 user 메시지의 이미지가 Ib이며 두 번째 user에는 지시 U가 들어갑니다. P와 U의 문구도 다르므로 순수 턴 경계 단일 요인 실험으로는 제한이 있습니다.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Appx. F (token-level protocol)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시각 attention score는 헤드별 이미지 토큰 attention mass를 합한 뒤 헤드 평균한 값입니다. 그래프는 정성 사례이며 전체 데이터 평균 곡선으로 해석하면 안 됩니다.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Fig. 2; Eq. (6); Qwen3-VL-8B, layers 18–21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원문 Table 5 수치를 그대로 표시합니다. 점수의 스케일을 명확히 명시하지 않아 %나 pp를 임의 부여하지 않습니다. 정성 관찰은 메커니즘을 지지하지만 단독으로 인과를 입증하지 않습니다.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Table 5 (일부 층 발췌); 100 cases, 전후 100 tokens 평균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0,25,50,75,100%의 Ra를 남깁니다. 전체 평균은 하락 추세지만 개별 벤치마크에서 작은 역전이 있으므로 모든 조건에서 엄격한 단조 감소라고 말하지 않습니다. 길이와 이전 시각 사실의 양을 분리하지 못한 한계가 있습니다.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Fig. 4; Table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생성 Rb에서 모든 층과 헤드의 image token attention weight를 2배로 증폭합니다. 논문은 normalization과 구현 세부를 충분히 설명하지 않습니다. 이 실험은 진단을 뒷받침하는 proof of concept이며 최적화된 해결책은 아닙니다.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Sec. 5.7; Table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Natural은 자연 발생 trigger가 있으면 그 위치에서 교체하고 없으면 standard probe를 사용합니다. Instruct의 trigger 빈도는 system prompt로 유도한 조건이라 완전 자발적 빈도로 볼 수 없습니다. 235B Thinking은 natural이 1.2pp 높아 본문의 equal or lower 표현에 예외가 있습니다.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Table 6–8; Appx. 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서로 무관한 이미지 실험의 지표는 정답률이 아닌 변화 감지율입니다. 초기 정답 675개 중 447개가 swap 이후 오답으로 바뀝니다. 초기 오답 이후 지속 오답 80개 중 72개가 같은 오류를 반복합니다.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Appx. G, I, J; Tables 16–17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이 논문은 새로운 최고성능 VLM을 제안하는 논문이 아니라 행동 진단 프레임워크입니다. 사고 과정의 텍스트만으로 실제 내부 행동을 추정하는 위험을 보여줍니다.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발표자 리뷰; 근거: Sec. 2–5, Appx. 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길이 효과는 토큰 수뿐 아니라 답, 시각 사실, 결론의 포함량과 얽힙니다. 정규화된 attention intervention과 no-swap 성능 보존이 필요합니다. 자연 trigger 실험은 forced prompt 문제를 일부 완화합니다.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발표자 리뷰; 원문 내부 불일치는 Appendix 슬라이드 참조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마무리 질문: 모델이 스스로 시각 재검증을 시작하도록 어떻게 학습하거나 제어할 것인가? 단순히 추론을 길게 만들기보다 검증 수행 여부를 평가하는 기준이 필요합니다.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출처: 첨부 논문, arXiv:2605.15864v2 (2026-05-26). Sec. 7; 발표자 요약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질의응답. 뒤의 3장은 protocol, 수치 불일치, 추가 대조 실험을 설명하기 위한 참고 자료입니다.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0F9ED41F-9166-4390-B04A-7E604B494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33C2B9EE-31FA-41BD-8644-691CA2AE5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70861452-29B1-4193-AC9C-6C5F2D50A6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C4DEE0E4-6DCD-4CFC-A083-3687E2994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FDDCECAF-F401-4727-818B-E93B754687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E4104585-CFFF-4C7E-8E74-ED125AD97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0FCCD932-0FA2-4125-8A9E-674768CB6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235ACE96-C95F-4E0C-B6DB-6BDD090951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14A65E42-53FC-4015-8AC0-663EC0DFF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005C15EE-A469-451B-B7B1-F5137188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4927B70C-92D7-4B89-900E-B857CA8B60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759EFBB2-8C2C-4ABA-8E84-6C0A30FB20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2697AD61-6C2A-45B5-AFD4-DD502BED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F60A460E-966C-4F76-B4E5-6009747B83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CF5297D3-6C60-4A18-ABC0-38B5FCFF4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9715ACAB-7A5A-4C07-8931-AE72E72E8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E0E34E07-D693-4279-9B7D-81D274B9E30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02D64BCA-F0A2-4C3D-BDB2-FB75A98C5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ED095DCF-5677-4303-976F-B5D396F9CC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238851CF-9D17-4742-BAC0-E459EC1593AB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533FFE66-FD5F-4EA6-8B01-75EEE0343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6A1D618F-BA1E-4F97-8739-2005A3C0A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3B9683C8-96AF-42B9-A7EB-6DCC0ACCA24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54B8987C-8A6E-4419-8B1B-442BC42BF8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BC2BEAC2-78DC-4AD8-9EAD-49CF4CBBE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48F7315F-CD9F-4EA3-84C6-9056F62E86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6A6345D5-D70C-4E8A-A078-55432485A1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9591837A-CC2D-468F-B65C-9DD31CB69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EFD311FD-AEC3-4A86-B922-B954DEE23BB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0792CE15-4484-444D-9DD1-F39A2095633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29821140-39AC-49F4-81A7-FF943CCA9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009D93C7-80E6-41EE-B746-EB7ADD41A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B70C16CD-F382-479C-957B-185FF47458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402096" y="3236523"/>
            <a:ext cx="5289650" cy="137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딥러닝 논문 리뷰 </a:t>
            </a:r>
            <a:r>
              <a:rPr lang="ko" sz="2500" b="1" dirty="0">
                <a:solidFill>
                  <a:srgbClr val="19264B"/>
                </a:solidFill>
              </a:rPr>
              <a:t>스터디 </a:t>
            </a:r>
            <a:r>
              <a:rPr lang="en-US" altLang="ko" sz="2500" b="1" dirty="0">
                <a:solidFill>
                  <a:srgbClr val="19264B"/>
                </a:solidFill>
              </a:rPr>
              <a:t>MM</a:t>
            </a:r>
            <a:r>
              <a:rPr lang="en-US" altLang="ko-KR" sz="2500" b="1" dirty="0">
                <a:solidFill>
                  <a:srgbClr val="19264B"/>
                </a:solidFill>
              </a:rPr>
              <a:t>1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.0</a:t>
            </a:r>
            <a:r>
              <a:rPr lang="en-US" altLang="ko-KR" dirty="0">
                <a:solidFill>
                  <a:srgbClr val="19264B"/>
                </a:solidFill>
              </a:rPr>
              <a:t>9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</a:t>
            </a:r>
            <a:r>
              <a:rPr lang="en-US" altLang="ko-KR" dirty="0">
                <a:solidFill>
                  <a:srgbClr val="19264B"/>
                </a:solidFill>
              </a:rPr>
              <a:t>9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이곳에 만나서 찍은 사진을 넣어주세요.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(비대면일 경우엔 화면 캡쳐 이용)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얼굴이 나오게 찍어주셔야 합니다:D</a:t>
            </a:r>
            <a:endParaRPr sz="1200"/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137600" y="1820125"/>
            <a:ext cx="22821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1 : </a:t>
            </a:r>
            <a:r>
              <a:rPr lang="ko-KR" altLang="en-US" dirty="0"/>
              <a:t>강민성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스터디원 2 :</a:t>
            </a:r>
            <a:r>
              <a:rPr lang="en-US" altLang="ko" dirty="0"/>
              <a:t> </a:t>
            </a:r>
            <a:r>
              <a:rPr lang="ko-KR" altLang="en-US" dirty="0"/>
              <a:t>권태환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4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5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8BCE9F2F-5E2E-4733-8E12-F697ACBF23C8}"/>
              </a:ext>
            </a:extLst>
          </p:cNvPr>
          <p:cNvSpPr>
            <a:spLocks noGrp="1"/>
          </p:cNvSpPr>
          <p:nvPr/>
        </p:nvSpPr>
        <p:spPr>
          <a:xfrm>
            <a:off x="1457325" y="167640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endParaRPr sz="2025" b="1" dirty="0">
              <a:solidFill>
                <a:srgbClr val="19264B"/>
              </a:solidFill>
              <a:latin typeface="Droid Sans Fallback"/>
              <a:ea typeface="Droid Sans Fallback"/>
              <a:cs typeface="Droid Sans Fallback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1C66C4B-4486-425B-AD08-1630A20F2923}"/>
              </a:ext>
            </a:extLst>
          </p:cNvPr>
          <p:cNvSpPr>
            <a:spLocks noGrp="1"/>
          </p:cNvSpPr>
          <p:nvPr/>
        </p:nvSpPr>
        <p:spPr>
          <a:xfrm>
            <a:off x="1457325" y="2209800"/>
            <a:ext cx="72009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75" b="1" dirty="0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Are VLMs Seeing or Just Saying?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CA82C1E-E7FB-4272-9C44-6440CD1FA9AD}"/>
              </a:ext>
            </a:extLst>
          </p:cNvPr>
          <p:cNvSpPr>
            <a:spLocks noGrp="1"/>
          </p:cNvSpPr>
          <p:nvPr/>
        </p:nvSpPr>
        <p:spPr>
          <a:xfrm>
            <a:off x="1457325" y="2752725"/>
            <a:ext cx="72009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3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Uncovering the Illusion of</a:t>
            </a:r>
          </a:p>
          <a:p>
            <a:pPr>
              <a:defRPr sz="23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3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Visual Re-examination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442C421-B8A3-4A7C-85C4-576E75D29521}"/>
              </a:ext>
            </a:extLst>
          </p:cNvPr>
          <p:cNvSpPr>
            <a:spLocks noGrp="1"/>
          </p:cNvSpPr>
          <p:nvPr/>
        </p:nvSpPr>
        <p:spPr>
          <a:xfrm>
            <a:off x="1457325" y="3781425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00" b="0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ICML 2026 Oral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9F92608-C525-4C0B-BFD3-F8D2DC73B498}"/>
              </a:ext>
            </a:extLst>
          </p:cNvPr>
          <p:cNvSpPr>
            <a:spLocks noGrp="1"/>
          </p:cNvSpPr>
          <p:nvPr/>
        </p:nvSpPr>
        <p:spPr>
          <a:xfrm>
            <a:off x="1457325" y="4238625"/>
            <a:ext cx="704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endParaRPr sz="1275" b="0" dirty="0">
              <a:solidFill>
                <a:srgbClr val="19264B"/>
              </a:solidFill>
              <a:latin typeface="Droid Sans Fallback"/>
              <a:ea typeface="Droid Sans Fallback"/>
              <a:cs typeface="Droid Sans Fallback"/>
            </a:endParaRP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7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B5A12AA6-6D1B-4B3C-9EE5-A97231B494A1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연구 질문: “다시 보겠다”는 말은 실제 행동인가?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4FE76D8-1189-4FCB-A94A-0519FD3EB605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02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00C276D-7AE5-447A-81B2-EFCDC29F1971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Sec. 1; Fig. 1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022EE92-8A0C-43FC-BB29-240328101D8C}"/>
              </a:ext>
            </a:extLst>
          </p:cNvPr>
          <p:cNvSpPr>
            <a:spLocks noGrp="1"/>
          </p:cNvSpPr>
          <p:nvPr/>
        </p:nvSpPr>
        <p:spPr>
          <a:xfrm>
            <a:off x="1752600" y="1304925"/>
            <a:ext cx="6858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0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“Wait, let me check the figure again.”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83C7132-F66C-4385-A3F5-EC3886BF726A}"/>
              </a:ext>
            </a:extLst>
          </p:cNvPr>
          <p:cNvSpPr>
            <a:spLocks noGrp="1"/>
          </p:cNvSpPr>
          <p:nvPr/>
        </p:nvSpPr>
        <p:spPr>
          <a:xfrm>
            <a:off x="1752600" y="2209800"/>
            <a:ext cx="685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VLM은 추론 중 시각 정보를 재확인하는 표현을 생성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53EB67C-F195-4999-98D7-DB2A68EB9E76}"/>
              </a:ext>
            </a:extLst>
          </p:cNvPr>
          <p:cNvSpPr>
            <a:spLocks noGrp="1"/>
          </p:cNvSpPr>
          <p:nvPr/>
        </p:nvSpPr>
        <p:spPr>
          <a:xfrm>
            <a:off x="1752600" y="2952750"/>
            <a:ext cx="685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이미지를 바꿨을 때, 기존 추론 대신 새 증거를 따르는가?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C82DACA-C4DD-4D59-BE0E-699DBA0F9756}"/>
              </a:ext>
            </a:extLst>
          </p:cNvPr>
          <p:cNvSpPr>
            <a:spLocks noGrp="1"/>
          </p:cNvSpPr>
          <p:nvPr/>
        </p:nvSpPr>
        <p:spPr>
          <a:xfrm>
            <a:off x="1752600" y="3695700"/>
            <a:ext cx="685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핵심 가설: 이전 추론이 만든 textual inertia가 재확인을 방해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5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5EE97BCC-D0FC-472D-9175-6B904B688FE8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VISUALSWAP: 이미지 교체로 재확인 능력 검사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903E059-E877-4901-B2A9-D46655230CBF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03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D029CA6-EB89-45C0-A53D-9F29FC533E27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Fig. 1; Sec. 2</a:t>
            </a:r>
          </a:p>
        </p:txBody>
      </p:sp>
      <p:pic>
        <p:nvPicPr>
          <p:cNvPr id="70" name="그림 6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00200" y="1341574"/>
            <a:ext cx="7162800" cy="1860277"/>
          </a:xfrm>
          <a:prstGeom prst="rect">
            <a:avLst/>
          </a:prstGeom>
        </p:spPr>
      </p:pic>
      <p:sp>
        <p:nvSpPr>
          <p:cNvPr id="62" name="직사각형 61">
            <a:extLst>
              <a:ext uri="{FF2B5EF4-FFF2-40B4-BE49-F238E27FC236}">
                <a16:creationId xmlns:a16="http://schemas.microsoft.com/office/drawing/2014/main" id="{38E5C0E0-0E7D-4E13-A1F0-E4D70F357BB0}"/>
              </a:ext>
            </a:extLst>
          </p:cNvPr>
          <p:cNvSpPr>
            <a:spLocks noGrp="1"/>
          </p:cNvSpPr>
          <p:nvPr/>
        </p:nvSpPr>
        <p:spPr>
          <a:xfrm>
            <a:off x="1714500" y="3619500"/>
            <a:ext cx="6953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질문은 유지하고, 정답을 결정하는 시각 정보만 변경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0F2499F-339B-4EDA-9552-A9BD0E7B86E1}"/>
              </a:ext>
            </a:extLst>
          </p:cNvPr>
          <p:cNvSpPr>
            <a:spLocks noGrp="1"/>
          </p:cNvSpPr>
          <p:nvPr/>
        </p:nvSpPr>
        <p:spPr>
          <a:xfrm>
            <a:off x="1714500" y="4114800"/>
            <a:ext cx="695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이전 추론을 보존한 상태에서 새 이미지에 맞는 답을 생성하는지 평가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5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F706C1F5-3FE4-4588-9B62-80BDCAC9F0C3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평가 프로토콜과 지표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4A0DF79-4DF8-4C9F-B726-45E4D28ECE35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04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BB3293F-916C-4925-8D4F-206EB2BD34EA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Sec. 2.2–2.4; Appx. F</a:t>
            </a:r>
          </a:p>
        </p:txBody>
      </p:sp>
      <p:graphicFrame>
        <p:nvGraphicFramePr>
          <p:cNvPr id="70" name="표 69"/>
          <p:cNvGraphicFramePr/>
          <p:nvPr/>
        </p:nvGraphicFramePr>
        <p:xfrm>
          <a:off x="1695450" y="1247775"/>
          <a:ext cx="7000875" cy="219075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설정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입력과 생성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평가 대상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초기 추론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R_a = M(I_a, 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이전 추론 R_a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Base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M(I_b, Q)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새 이미지 단독 정답률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Probe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M(I_b, Q, R_a ⊕ 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이전 추론 보존 후 정답률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2119214A-E7A8-429B-AA60-F1897A436AB0}"/>
              </a:ext>
            </a:extLst>
          </p:cNvPr>
          <p:cNvSpPr>
            <a:spLocks noGrp="1"/>
          </p:cNvSpPr>
          <p:nvPr/>
        </p:nvSpPr>
        <p:spPr>
          <a:xfrm>
            <a:off x="1733550" y="3752850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Δ = Accbase − Accprobe   (단위: percentage points, pp)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69471F1-CCB3-4D84-AAEF-FA8D5DB9F514}"/>
              </a:ext>
            </a:extLst>
          </p:cNvPr>
          <p:cNvSpPr>
            <a:spLocks noGrp="1"/>
          </p:cNvSpPr>
          <p:nvPr/>
        </p:nvSpPr>
        <p:spPr>
          <a:xfrm>
            <a:off x="1733550" y="4267200"/>
            <a:ext cx="6953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Δ가 클수록 기존 추론과 충돌하는 시각 증거를 반영하기 어려움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7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F4794E68-64A5-4494-844C-C61062CAB49F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VS-BENCH: 800개의 이미지 쌍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FF9157E-3794-4286-9319-13A8AAABE530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05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5220209-1D28-4F9D-999C-CEB914889142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Sec. 3; Table 1; Appx. G</a:t>
            </a:r>
          </a:p>
        </p:txBody>
      </p:sp>
      <p:graphicFrame>
        <p:nvGraphicFramePr>
          <p:cNvPr id="71" name="표 70"/>
          <p:cNvGraphicFramePr/>
          <p:nvPr/>
        </p:nvGraphicFramePr>
        <p:xfrm>
          <a:off x="1695450" y="1162050"/>
          <a:ext cx="7000875" cy="214312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데이터 출처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쌍 수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주요 문제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MathVista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도표·함수·수학 추론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MathVerse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200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Vision-Dominant 기하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MathVision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고난도 수학·그래프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MMMU-Pro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200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전문 분야 시각 이해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F9B8BC86-37AB-4071-8983-CCC7FBBB0270}"/>
              </a:ext>
            </a:extLst>
          </p:cNvPr>
          <p:cNvSpPr>
            <a:spLocks noGrp="1"/>
          </p:cNvSpPr>
          <p:nvPr/>
        </p:nvSpPr>
        <p:spPr>
          <a:xfrm>
            <a:off x="1714500" y="3533775"/>
            <a:ext cx="69532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구성 조건: 질문 유효성 유지 / 시각적 유사성 / 서로 다른 정답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0AAF12B-8242-4356-817C-88E7D7EFE5CE}"/>
              </a:ext>
            </a:extLst>
          </p:cNvPr>
          <p:cNvSpPr>
            <a:spLocks noGrp="1"/>
          </p:cNvSpPr>
          <p:nvPr/>
        </p:nvSpPr>
        <p:spPr>
          <a:xfrm>
            <a:off x="1714500" y="3905250"/>
            <a:ext cx="69532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동일 해상도 유지, 인간 검수 + 이미지 편집 모델 활용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DF5604F-3D52-4FA2-9C5E-C371778E826C}"/>
              </a:ext>
            </a:extLst>
          </p:cNvPr>
          <p:cNvSpPr>
            <a:spLocks noGrp="1"/>
          </p:cNvSpPr>
          <p:nvPr/>
        </p:nvSpPr>
        <p:spPr>
          <a:xfrm>
            <a:off x="1714500" y="4276725"/>
            <a:ext cx="69532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평균 CLIP 0.95, SSIM 0.86, LPIPS 0.14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5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1CE2E751-A35B-47C4-92C6-A10ABF0529DF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실험 설정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E7B01CF-D2FE-47C8-A9EE-41753F0644DD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06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881BBC4-E610-492E-82F1-E967BEC1F232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Sec. 4.1; Appx. B–C</a:t>
            </a:r>
          </a:p>
        </p:txBody>
      </p:sp>
      <p:graphicFrame>
        <p:nvGraphicFramePr>
          <p:cNvPr id="70" name="표 69"/>
          <p:cNvGraphicFramePr/>
          <p:nvPr/>
        </p:nvGraphicFramePr>
        <p:xfrm>
          <a:off x="1695450" y="1209675"/>
          <a:ext cx="7000875" cy="2333624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340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모델군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평가 변형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Qwen3-VL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8B / 32B / 30B-A3B / 235B-A22B</a:t>
                      </a:r>
                    </a:p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각각 Instruct + Thinking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Qwen2.5-VL 계열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7B-Instruct, OpenVLThinker, VL-Rethinker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Kimi-VL / ERNIE-4.5-VL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각각 Instruct + Thinking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EF473717-6808-4944-8FEA-8A96B0E92769}"/>
              </a:ext>
            </a:extLst>
          </p:cNvPr>
          <p:cNvSpPr>
            <a:spLocks noGrp="1"/>
          </p:cNvSpPr>
          <p:nvPr/>
        </p:nvSpPr>
        <p:spPr>
          <a:xfrm>
            <a:off x="1714500" y="3819525"/>
            <a:ext cx="7000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총 15개 모델, vLLM, H200, temperature = 0.1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5DA95ED-7CF3-40E5-A54D-D0BCBD8C287E}"/>
              </a:ext>
            </a:extLst>
          </p:cNvPr>
          <p:cNvSpPr>
            <a:spLocks noGrp="1"/>
          </p:cNvSpPr>
          <p:nvPr/>
        </p:nvSpPr>
        <p:spPr>
          <a:xfrm>
            <a:off x="1714500" y="4219575"/>
            <a:ext cx="7000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답 추출: VLMEvalKit / LLM judge: Qwen3-VL-235B-A22B-Instruct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4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5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C00F6D64-FEA6-4BC2-9FD4-ED3BB229FE99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주요 결과: 모든 모델군에서 Probe 정확도 하락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EB483F4-067F-4023-AEA9-5250CD431EF0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07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C552A74-9691-4829-B998-729F3D236084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Table 2 (Avg. 열 일부 발췌, 원문 보고값)</a:t>
            </a:r>
          </a:p>
        </p:txBody>
      </p:sp>
      <p:graphicFrame>
        <p:nvGraphicFramePr>
          <p:cNvPr id="69" name="표 68"/>
          <p:cNvGraphicFramePr/>
          <p:nvPr/>
        </p:nvGraphicFramePr>
        <p:xfrm>
          <a:off x="1695450" y="1190625"/>
          <a:ext cx="7000875" cy="2790828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51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모델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변형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Base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Probe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Δ (pp)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Qwen3-VL-8B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69.1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46.6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Qwen3-VL-8B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Thinking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76.0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36.6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39.4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Qwen3-VL-235B-A22B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61.3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19.9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Qwen3-VL-235B-A22B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Thinking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88.8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34.1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54.6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ERNIE-4.5-VL-28B-A3B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Thinking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79.9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19.6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60.3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8616AAF8-C10D-4484-AB69-7919FAE97704}"/>
              </a:ext>
            </a:extLst>
          </p:cNvPr>
          <p:cNvSpPr>
            <a:spLocks noGrp="1"/>
          </p:cNvSpPr>
          <p:nvPr/>
        </p:nvSpPr>
        <p:spPr>
          <a:xfrm>
            <a:off x="1714500" y="4229100"/>
            <a:ext cx="70008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7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높은 단독 추론 성능이 이미지 교체 후의 재확인을 보장하지 않음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5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9E6094E2-4EC1-49E2-8911-B4861DE70A56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Thinking과 모델 크기가 실패를 해소하지 못함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CF31AF3-9A03-42E4-B90F-F4276EA657B1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08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E9D6CDA-A4D9-4F2E-B994-8810073CB7CC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Table 2 (Avg. Δ); “약 3배”는 32B 비교</a:t>
            </a:r>
          </a:p>
        </p:txBody>
      </p:sp>
      <p:graphicFrame>
        <p:nvGraphicFramePr>
          <p:cNvPr id="70" name="표 69"/>
          <p:cNvGraphicFramePr/>
          <p:nvPr/>
        </p:nvGraphicFramePr>
        <p:xfrm>
          <a:off x="1695450" y="1228725"/>
          <a:ext cx="7000875" cy="2447925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8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Qwen3-VL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Instruct Δ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Thinking Δ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32B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17.9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48.3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30B-A3B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54.5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235B-A22B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19.9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54.6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BAF35604-C667-48E1-85F7-BAC26AC1C1AC}"/>
              </a:ext>
            </a:extLst>
          </p:cNvPr>
          <p:cNvSpPr>
            <a:spLocks noGrp="1"/>
          </p:cNvSpPr>
          <p:nvPr/>
        </p:nvSpPr>
        <p:spPr>
          <a:xfrm>
            <a:off x="1733550" y="3914775"/>
            <a:ext cx="6953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32B: Thinking의 하락 폭은 Instruct의 약 2.7배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3537DB9-EED3-44E2-8D36-D902AB4D2214}"/>
              </a:ext>
            </a:extLst>
          </p:cNvPr>
          <p:cNvSpPr>
            <a:spLocks noGrp="1"/>
          </p:cNvSpPr>
          <p:nvPr/>
        </p:nvSpPr>
        <p:spPr>
          <a:xfrm>
            <a:off x="1733550" y="4314825"/>
            <a:ext cx="6953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더 긴 추론과 더 큰 모델에서도 시각 증거 갱신 실패가 지속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5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90DE8639-333D-4CE1-9B3F-9E9FD904D7E7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정성 사례: 바뀐 각도 대신 이전 값을 계속 사용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ABD7BF8-C2EA-4B19-883F-19FA02BFB2C0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09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F6F2C96-2144-41E9-B6EE-D84ECF2C4504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Appx. A; Fig. 5 (발췌)</a:t>
            </a:r>
          </a:p>
        </p:txBody>
      </p:sp>
      <p:pic>
        <p:nvPicPr>
          <p:cNvPr id="70" name="그림 6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95450" y="1123950"/>
            <a:ext cx="7000875" cy="1400175"/>
          </a:xfrm>
          <a:prstGeom prst="rect">
            <a:avLst/>
          </a:prstGeom>
        </p:spPr>
      </p:pic>
      <p:pic>
        <p:nvPicPr>
          <p:cNvPr id="71" name="그림 7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95450" y="2819400"/>
            <a:ext cx="7000875" cy="1400175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id="{C589787C-6B5F-4F6E-A617-1CB966C7D535}"/>
              </a:ext>
            </a:extLst>
          </p:cNvPr>
          <p:cNvSpPr>
            <a:spLocks noGrp="1"/>
          </p:cNvSpPr>
          <p:nvPr/>
        </p:nvSpPr>
        <p:spPr>
          <a:xfrm>
            <a:off x="1733550" y="4333875"/>
            <a:ext cx="70008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60°가 50°로 바뀌어도 “60°”라는 이전 추론을 반복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5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3E3C49DB-7922-4B7F-BEAE-3F58FA9E648B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Multi-turn: 사용자 요청이 재확인을 회복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C32C4C5-B82F-4906-A796-F32284E27A87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10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090A7B2-9B62-48E9-A75C-ACE4A3829E23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Table 4; Appx. F</a:t>
            </a:r>
          </a:p>
        </p:txBody>
      </p:sp>
      <p:graphicFrame>
        <p:nvGraphicFramePr>
          <p:cNvPr id="70" name="표 69"/>
          <p:cNvGraphicFramePr/>
          <p:nvPr/>
        </p:nvGraphicFramePr>
        <p:xfrm>
          <a:off x="1695450" y="1219200"/>
          <a:ext cx="7000875" cy="2457450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Qwen3-VL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변형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Base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Probe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Multi-turn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69.1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46.6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58.2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8B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Thinking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76.0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36.6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67.5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235B-A22B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61.3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77.9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235B-A22B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Thinking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88.8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34.1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85.4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B88B3A2D-5D81-428E-82A4-7DEA5A9B3E89}"/>
              </a:ext>
            </a:extLst>
          </p:cNvPr>
          <p:cNvSpPr>
            <a:spLocks noGrp="1"/>
          </p:cNvSpPr>
          <p:nvPr/>
        </p:nvSpPr>
        <p:spPr>
          <a:xfrm>
            <a:off x="1724025" y="3933825"/>
            <a:ext cx="69723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235B Thinking: 34.1% → 85.4%  (+51.3 pp)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F1EBC23-8F21-43ED-987C-B27B4CFF8E44}"/>
              </a:ext>
            </a:extLst>
          </p:cNvPr>
          <p:cNvSpPr>
            <a:spLocks noGrp="1"/>
          </p:cNvSpPr>
          <p:nvPr/>
        </p:nvSpPr>
        <p:spPr>
          <a:xfrm>
            <a:off x="1724025" y="4333875"/>
            <a:ext cx="69723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같은 이전 추론이 있어도, 새 사용자 턴에서 시각 정보를 다시 활용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7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8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4F7911FD-8481-471E-AB6A-CA3D0933AE00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Probe와 Multi-turn의 구현 차이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E921845-B031-40ED-9D72-EC4D2E829222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11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BA38861-2F80-473A-8297-3A6314DE689A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Appx. F (token-level protocol)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C770775-E56E-417D-9BC3-AB392703B0E0}"/>
              </a:ext>
            </a:extLst>
          </p:cNvPr>
          <p:cNvSpPr>
            <a:spLocks noGrp="1"/>
          </p:cNvSpPr>
          <p:nvPr/>
        </p:nvSpPr>
        <p:spPr>
          <a:xfrm>
            <a:off x="1714500" y="1152525"/>
            <a:ext cx="7048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Probe: 하나의 assistant 응답 안에서 이어 생성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1678C0D-17BB-4B95-BD8C-CB83BC5EC7C9}"/>
              </a:ext>
            </a:extLst>
          </p:cNvPr>
          <p:cNvSpPr>
            <a:spLocks noGrp="1"/>
          </p:cNvSpPr>
          <p:nvPr/>
        </p:nvSpPr>
        <p:spPr>
          <a:xfrm>
            <a:off x="1714500" y="1609725"/>
            <a:ext cx="700087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User: I_b + Q</a:t>
            </a:r>
          </a:p>
          <a:p>
            <a:pPr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Assistant: R_a + P + [continued R_b]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4FFEACA-5201-43E3-B0AD-1120D27107D9}"/>
              </a:ext>
            </a:extLst>
          </p:cNvPr>
          <p:cNvSpPr>
            <a:spLocks noGrp="1"/>
          </p:cNvSpPr>
          <p:nvPr/>
        </p:nvSpPr>
        <p:spPr>
          <a:xfrm>
            <a:off x="1714500" y="2562225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7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Multi-turn: 응답을 닫고, 새 user 턴에서 재확인 요청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EDA20B1-B2DE-433A-B0A6-3830A89DB2C6}"/>
              </a:ext>
            </a:extLst>
          </p:cNvPr>
          <p:cNvSpPr>
            <a:spLocks noGrp="1"/>
          </p:cNvSpPr>
          <p:nvPr/>
        </p:nvSpPr>
        <p:spPr>
          <a:xfrm>
            <a:off x="1714500" y="3038475"/>
            <a:ext cx="7000875" cy="962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User: I_b + Q</a:t>
            </a:r>
          </a:p>
          <a:p>
            <a:pPr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Assistant: R_a</a:t>
            </a:r>
          </a:p>
          <a:p>
            <a:pPr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User: U     Assistant: [new R_b]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FBC51CD-B85C-4470-8689-B8F3A0C7BC79}"/>
              </a:ext>
            </a:extLst>
          </p:cNvPr>
          <p:cNvSpPr>
            <a:spLocks noGrp="1"/>
          </p:cNvSpPr>
          <p:nvPr/>
        </p:nvSpPr>
        <p:spPr>
          <a:xfrm>
            <a:off x="1714500" y="4276725"/>
            <a:ext cx="70008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두 조건 모두 전체 context를 re-prefill하여 새 이미지 표현을 계산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4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5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09E6941E-8A1E-4C79-8345-A1B6FBD14F40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Attention 분석: 재확인 시점의 시각 토큰 주의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960C1E7-9428-4C80-8EFC-B8B05B3C5A13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12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1B09A56-C7E5-40A1-B2DB-32CE5E1A7020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Fig. 2; Eq. (6); Qwen3-VL-8B, layers 18–21</a:t>
            </a:r>
          </a:p>
        </p:txBody>
      </p:sp>
      <p:pic>
        <p:nvPicPr>
          <p:cNvPr id="69" name="그림 6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66228" y="1123950"/>
            <a:ext cx="7068845" cy="2971800"/>
          </a:xfrm>
          <a:prstGeom prst="rect">
            <a:avLst/>
          </a:prstGeom>
        </p:spPr>
      </p:pic>
      <p:sp>
        <p:nvSpPr>
          <p:cNvPr id="62" name="직사각형 61">
            <a:extLst>
              <a:ext uri="{FF2B5EF4-FFF2-40B4-BE49-F238E27FC236}">
                <a16:creationId xmlns:a16="http://schemas.microsoft.com/office/drawing/2014/main" id="{B0D81E88-0EDF-4BA3-9A39-8F66F944EA55}"/>
              </a:ext>
            </a:extLst>
          </p:cNvPr>
          <p:cNvSpPr>
            <a:spLocks noGrp="1"/>
          </p:cNvSpPr>
          <p:nvPr/>
        </p:nvSpPr>
        <p:spPr>
          <a:xfrm>
            <a:off x="1714500" y="4171950"/>
            <a:ext cx="6953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Svis⁽ˡ⁾(t) = (1/H) Σₕ Σᵥ∈V A⁽ˡ,ʰ⁾ₜ,ᵥ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7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0E78D9AE-C90C-4476-96FC-F5530441A820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사용자 지시 후 시각 Attention 증가 폭이 더 큼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C815169-6CE1-47D3-90F1-B9FD7976FE89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13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353213A-A026-40B2-84E0-0DDFCCAF867E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Table 5 (일부 층 발췌); 100 cases, 전후 100 tokens 평균</a:t>
            </a:r>
          </a:p>
        </p:txBody>
      </p:sp>
      <p:graphicFrame>
        <p:nvGraphicFramePr>
          <p:cNvPr id="71" name="표 70"/>
          <p:cNvGraphicFramePr/>
          <p:nvPr/>
        </p:nvGraphicFramePr>
        <p:xfrm>
          <a:off x="1695450" y="1466850"/>
          <a:ext cx="7000875" cy="1771650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Thinking 모델 / 층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Probe 전→후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증가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MT 전→후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증가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8B / L21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2.54 → 4.98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1.80 → 6.49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4.70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235B / L55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1.35 → 2.41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1.07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0.65 → 2.85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2.21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975D0AFD-C5C5-4AD2-B7EE-C339816B79D7}"/>
              </a:ext>
            </a:extLst>
          </p:cNvPr>
          <p:cNvSpPr>
            <a:spLocks noGrp="1"/>
          </p:cNvSpPr>
          <p:nvPr/>
        </p:nvSpPr>
        <p:spPr>
          <a:xfrm>
            <a:off x="1714500" y="3543300"/>
            <a:ext cx="7000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Probe에서도 attention은 증가하지만 Multi-turn보다 작음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85B24C2-052A-4D77-9D44-F7CF033E04D0}"/>
              </a:ext>
            </a:extLst>
          </p:cNvPr>
          <p:cNvSpPr>
            <a:spLocks noGrp="1"/>
          </p:cNvSpPr>
          <p:nvPr/>
        </p:nvSpPr>
        <p:spPr>
          <a:xfrm>
            <a:off x="1714500" y="3943350"/>
            <a:ext cx="7000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시각 정보 접근 능력과 자발적 attention 제어를 구분할 필요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50E062E-86A7-44D3-B77B-31178A99FDDE}"/>
              </a:ext>
            </a:extLst>
          </p:cNvPr>
          <p:cNvSpPr>
            <a:spLocks noGrp="1"/>
          </p:cNvSpPr>
          <p:nvPr/>
        </p:nvSpPr>
        <p:spPr>
          <a:xfrm>
            <a:off x="1714500" y="4343400"/>
            <a:ext cx="7000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Attention 관찰만으로 원인을 단정하지 않고 개입 결과와 함께 해석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7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8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97747789-12B8-4B09-8FB1-EECBF10A3251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이전 추론을 더 많이 보존할수록 Probe 성능 하락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691F814-581B-4451-B600-9FBE7A14BB56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14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F2E43BC-7D57-487C-934C-A8E78F521981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Fig. 4; Table 13</a:t>
            </a:r>
          </a:p>
        </p:txBody>
      </p:sp>
      <p:pic>
        <p:nvPicPr>
          <p:cNvPr id="72" name="그림 7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24025" y="1464447"/>
            <a:ext cx="4219575" cy="2090780"/>
          </a:xfrm>
          <a:prstGeom prst="rect">
            <a:avLst/>
          </a:prstGeom>
        </p:spPr>
      </p:pic>
      <p:sp>
        <p:nvSpPr>
          <p:cNvPr id="62" name="직사각형 61">
            <a:extLst>
              <a:ext uri="{FF2B5EF4-FFF2-40B4-BE49-F238E27FC236}">
                <a16:creationId xmlns:a16="http://schemas.microsoft.com/office/drawing/2014/main" id="{17DD9BBD-1C53-4DC1-97B6-688E49FD517F}"/>
              </a:ext>
            </a:extLst>
          </p:cNvPr>
          <p:cNvSpPr>
            <a:spLocks noGrp="1"/>
          </p:cNvSpPr>
          <p:nvPr/>
        </p:nvSpPr>
        <p:spPr>
          <a:xfrm>
            <a:off x="6191250" y="1304925"/>
            <a:ext cx="2524125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R_a 유지 비율</a:t>
            </a:r>
          </a:p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0 / 25 / 50 / 75 / 100%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DB041BD-2ACF-41A3-AA80-BEFEAE71ADCB}"/>
              </a:ext>
            </a:extLst>
          </p:cNvPr>
          <p:cNvSpPr>
            <a:spLocks noGrp="1"/>
          </p:cNvSpPr>
          <p:nvPr/>
        </p:nvSpPr>
        <p:spPr>
          <a:xfrm>
            <a:off x="6191250" y="2247900"/>
            <a:ext cx="2524125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235B Thinking</a:t>
            </a:r>
          </a:p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88.8% → 34.1%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D149009-E8EE-4A97-A567-CF0DB5734AA7}"/>
              </a:ext>
            </a:extLst>
          </p:cNvPr>
          <p:cNvSpPr>
            <a:spLocks noGrp="1"/>
          </p:cNvSpPr>
          <p:nvPr/>
        </p:nvSpPr>
        <p:spPr>
          <a:xfrm>
            <a:off x="6191250" y="3190875"/>
            <a:ext cx="2524125" cy="866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전체 context에서도</a:t>
            </a:r>
          </a:p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Multi-turn은 85.4%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16AEE11-C4C9-4932-B203-C64C4AF05A3F}"/>
              </a:ext>
            </a:extLst>
          </p:cNvPr>
          <p:cNvSpPr>
            <a:spLocks noGrp="1"/>
          </p:cNvSpPr>
          <p:nvPr/>
        </p:nvSpPr>
        <p:spPr>
          <a:xfrm>
            <a:off x="1724025" y="4219575"/>
            <a:ext cx="70294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75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긴 추론 문맥이 시각 정보보다 이전 텍스트에 대한 의존을 강화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7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1BACA24B-569B-41D0-9E53-C99D071B49D7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Attention을 직접 키우면 Probe 성능이 개선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04942F7-1B55-4F35-AD36-034D7DBFDC81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15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22E8D8A-C486-484F-BBCA-3721370BC802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Sec. 5.7; Table 9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767AEDF-D9EA-420E-9E55-6F3A74265C5A}"/>
              </a:ext>
            </a:extLst>
          </p:cNvPr>
          <p:cNvSpPr>
            <a:spLocks noGrp="1"/>
          </p:cNvSpPr>
          <p:nvPr/>
        </p:nvSpPr>
        <p:spPr>
          <a:xfrm>
            <a:off x="1714500" y="1171575"/>
            <a:ext cx="70294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개입: R_b 생성 중 이미지 토큰 attention weight를 2배 증폭</a:t>
            </a:r>
          </a:p>
        </p:txBody>
      </p:sp>
      <p:graphicFrame>
        <p:nvGraphicFramePr>
          <p:cNvPr id="72" name="표 71"/>
          <p:cNvGraphicFramePr/>
          <p:nvPr/>
        </p:nvGraphicFramePr>
        <p:xfrm>
          <a:off x="1695450" y="1895475"/>
          <a:ext cx="7000875" cy="15621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Qwen3-VL-8B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Probe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+ Amplification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개선 (pp)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46.6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54.5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+7.9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Thinking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36.6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54.8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+18.2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8B819C3A-7824-46FD-A49B-61FFD6EB2EF6}"/>
              </a:ext>
            </a:extLst>
          </p:cNvPr>
          <p:cNvSpPr>
            <a:spLocks noGrp="1"/>
          </p:cNvSpPr>
          <p:nvPr/>
        </p:nvSpPr>
        <p:spPr>
          <a:xfrm>
            <a:off x="1714500" y="3800475"/>
            <a:ext cx="7000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학습 없이 성능 회복: 시각 attention 부족 가설을 지지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A61C315-1E96-4C73-B29C-7E6A3F772662}"/>
              </a:ext>
            </a:extLst>
          </p:cNvPr>
          <p:cNvSpPr>
            <a:spLocks noGrp="1"/>
          </p:cNvSpPr>
          <p:nvPr/>
        </p:nvSpPr>
        <p:spPr>
          <a:xfrm>
            <a:off x="1714500" y="4286250"/>
            <a:ext cx="700087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Thinking의 개선 폭이 크지만 Base 76.0%에는 미달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7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AAF53CA2-3921-4727-A2CC-7900A70D2B30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강건성 검증: 자연스러운 reflection에서도 실패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B1B2380-B2A8-4441-B031-09C2848857DC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16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65A2AB3-E079-4C0A-B1F7-F2108F5BFB00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Table 6–8; Appx. H</a:t>
            </a:r>
          </a:p>
        </p:txBody>
      </p:sp>
      <p:graphicFrame>
        <p:nvGraphicFramePr>
          <p:cNvPr id="71" name="표 70"/>
          <p:cNvGraphicFramePr/>
          <p:nvPr/>
        </p:nvGraphicFramePr>
        <p:xfrm>
          <a:off x="1695450" y="1171575"/>
          <a:ext cx="7000875" cy="2371725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34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Qwen3-VL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변형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Standard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Natural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46.6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8B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Thinking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36.6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35.2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235B-A22B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61.3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53.1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235B-A22B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Thinking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34.1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35.3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9B8629A4-B6E1-4825-BF84-C2E9E25A2051}"/>
              </a:ext>
            </a:extLst>
          </p:cNvPr>
          <p:cNvSpPr>
            <a:spLocks noGrp="1"/>
          </p:cNvSpPr>
          <p:nvPr/>
        </p:nvSpPr>
        <p:spPr>
          <a:xfrm>
            <a:off x="1714500" y="3762375"/>
            <a:ext cx="70104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자연 생성 reflection 지점에서도 낮은 정확도가 지속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1A83828-7806-49B2-B5AE-2522DBB43E8E}"/>
              </a:ext>
            </a:extLst>
          </p:cNvPr>
          <p:cNvSpPr>
            <a:spLocks noGrp="1"/>
          </p:cNvSpPr>
          <p:nvPr/>
        </p:nvSpPr>
        <p:spPr>
          <a:xfrm>
            <a:off x="1714500" y="4114800"/>
            <a:ext cx="70104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10개 paraphrase의 평균±표준편차: 235B Thinking 36.5±4.9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03D40E81-B4B1-414F-A134-9020068B3D90}"/>
              </a:ext>
            </a:extLst>
          </p:cNvPr>
          <p:cNvSpPr>
            <a:spLocks noGrp="1"/>
          </p:cNvSpPr>
          <p:nvPr/>
        </p:nvSpPr>
        <p:spPr>
          <a:xfrm>
            <a:off x="1714500" y="4467225"/>
            <a:ext cx="70104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3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문구 변화만으로 Multi-turn 수준에 도달하지 못함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4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5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1526A2DF-7982-48A2-9B33-F9D2F551E450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추가 대조 실험: 시각 차이와 오류 고착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FDB89D2-17F6-49D8-83AC-B8881AF1A150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17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48FB760-10C3-41A6-8D95-BB9A94A2FF13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Appx. G, I, J; Tables 16–17</a:t>
            </a:r>
          </a:p>
        </p:txBody>
      </p:sp>
      <p:graphicFrame>
        <p:nvGraphicFramePr>
          <p:cNvPr id="69" name="표 68"/>
          <p:cNvGraphicFramePr/>
          <p:nvPr/>
        </p:nvGraphicFramePr>
        <p:xfrm>
          <a:off x="1695450" y="1247775"/>
          <a:ext cx="7000875" cy="2533652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4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대조 실험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235B Thinking 결과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해석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완전히 무관한 이미지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감지율 35.6% (Probe)</a:t>
                      </a:r>
                    </a:p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98.3% (Multi-turn)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미세 차이만의 문제가 아님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초기 정답 사례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447 / 675가 교체 후 오답</a:t>
                      </a:r>
                    </a:p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(66.2%)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초기 오류 전파만으로 설명 불가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초기·교체 후 모두 오답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72 / 80이 같은 오류 반복</a:t>
                      </a:r>
                    </a:p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(90.0%)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이전 추론 고착과 일치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2104CF79-EF16-4624-AFA2-8492C1735AF0}"/>
              </a:ext>
            </a:extLst>
          </p:cNvPr>
          <p:cNvSpPr>
            <a:spLocks noGrp="1"/>
          </p:cNvSpPr>
          <p:nvPr/>
        </p:nvSpPr>
        <p:spPr>
          <a:xfrm>
            <a:off x="1714500" y="4124325"/>
            <a:ext cx="70294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42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인간 검수: 5명 × 각 50쌍에서 답에 중요한 차이를 모두 식별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7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8DB61F34-D34F-41C1-9FCD-76EA69974825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논문의 기여와 해석 범위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3607DF3-86E2-4AFB-B578-8A9413738EF7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18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8677004-31D9-4EF5-A161-B7DAB4A159CE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발표자 리뷰; 근거: Sec. 2–5, Appx. F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AD135AA-55E1-44E2-AC26-0A6DB1DD20F9}"/>
              </a:ext>
            </a:extLst>
          </p:cNvPr>
          <p:cNvSpPr>
            <a:spLocks noGrp="1"/>
          </p:cNvSpPr>
          <p:nvPr/>
        </p:nvSpPr>
        <p:spPr>
          <a:xfrm>
            <a:off x="1714500" y="1200150"/>
            <a:ext cx="70485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기여 1   자기성찰 문구를 행동 검증 문제로 바꾼 진단 설계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3DE1C3E-1DAE-4DB8-B5B5-0A90CCF61B85}"/>
              </a:ext>
            </a:extLst>
          </p:cNvPr>
          <p:cNvSpPr>
            <a:spLocks noGrp="1"/>
          </p:cNvSpPr>
          <p:nvPr/>
        </p:nvSpPr>
        <p:spPr>
          <a:xfrm>
            <a:off x="1714500" y="1981200"/>
            <a:ext cx="70485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기여 2   이미지 쌍 + Base / Probe / Multi-turn 대조로 실패 분리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F779763-4F60-4637-88E3-F99B58FE90AB}"/>
              </a:ext>
            </a:extLst>
          </p:cNvPr>
          <p:cNvSpPr>
            <a:spLocks noGrp="1"/>
          </p:cNvSpPr>
          <p:nvPr/>
        </p:nvSpPr>
        <p:spPr>
          <a:xfrm>
            <a:off x="1714500" y="2762250"/>
            <a:ext cx="70485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기여 3   Attention 관찰과 직접 증폭 개입을 함께 제시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98A95A1-7C54-4862-939F-97B2A8383F41}"/>
              </a:ext>
            </a:extLst>
          </p:cNvPr>
          <p:cNvSpPr>
            <a:spLocks noGrp="1"/>
          </p:cNvSpPr>
          <p:nvPr/>
        </p:nvSpPr>
        <p:spPr>
          <a:xfrm>
            <a:off x="1714500" y="3543300"/>
            <a:ext cx="70485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해석 범위   충돌하는 이전 추론 하의 시각 재접지 실패를 입증</a:t>
            </a:r>
          </a:p>
          <a:p>
            <a:pPr>
              <a:def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75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             일반적인 모든 자기성찰이 무용하다는 결론은 아님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4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5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DD74ABE8-CF16-411D-8C66-A97C3EC13B47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한계와 후속 실험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2D36D85-1AED-4AEE-A7BB-D6404039FB84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19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AF8975B-3F3A-4DD6-AE3E-EDD0A4E77E73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발표자 리뷰; 원문 내부 불일치는 Appendix 슬라이드 참조</a:t>
            </a:r>
          </a:p>
        </p:txBody>
      </p:sp>
      <p:graphicFrame>
        <p:nvGraphicFramePr>
          <p:cNvPr id="69" name="표 68"/>
          <p:cNvGraphicFramePr/>
          <p:nvPr/>
        </p:nvGraphicFramePr>
        <p:xfrm>
          <a:off x="1695450" y="1247775"/>
          <a:ext cx="7000875" cy="27813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검토 지점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필요한 후속 실험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Context 길이와 내용의 혼재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같은 길이의 무관 문맥 / 시각 사실 삭제 / 답 삭제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합성 편집·수학 중심 벤치마크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자연 이미지, 비수학 과제, 실제 초기 오인 교정으로 확대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Attention 개입의 제한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층·헤드·배율 sweep, 정규화 명시, no-swap 성능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집계 정확도의 해석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Droid Sans Fallback"/>
                          <a:ea typeface="Droid Sans Fallback"/>
                          <a:cs typeface="Droid Sans Fallback"/>
                        </a:rPr>
                        <a:t>정답 여부와 변화 감지 여부를 분리하고 paired CI 보고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77E1DA0F-FAF6-4F13-9DAF-7082B715D787}"/>
              </a:ext>
            </a:extLst>
          </p:cNvPr>
          <p:cNvSpPr>
            <a:spLocks noGrp="1"/>
          </p:cNvSpPr>
          <p:nvPr/>
        </p:nvSpPr>
        <p:spPr>
          <a:xfrm>
            <a:off x="1714500" y="4276725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50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진단 결과는 설득력 있지만 “단일 원인”이나 범용 해결책은 미확정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7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8FFB755D-78C8-455F-84F5-3EC48AD709EF}"/>
              </a:ext>
            </a:extLst>
          </p:cNvPr>
          <p:cNvSpPr>
            <a:spLocks noGrp="1"/>
          </p:cNvSpPr>
          <p:nvPr/>
        </p:nvSpPr>
        <p:spPr>
          <a:xfrm>
            <a:off x="1647825" y="447675"/>
            <a:ext cx="70866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80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핵심 정리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65B3D0FF-4AB6-4112-B3DB-1669A1F843BD}"/>
              </a:ext>
            </a:extLst>
          </p:cNvPr>
          <p:cNvSpPr>
            <a:spLocks noGrp="1"/>
          </p:cNvSpPr>
          <p:nvPr/>
        </p:nvSpPr>
        <p:spPr>
          <a:xfrm>
            <a:off x="8553450" y="48291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900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20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56F2173-6A3C-431E-AE3C-AACAD7DFB08E}"/>
              </a:ext>
            </a:extLst>
          </p:cNvPr>
          <p:cNvSpPr>
            <a:spLocks noGrp="1"/>
          </p:cNvSpPr>
          <p:nvPr/>
        </p:nvSpPr>
        <p:spPr>
          <a:xfrm>
            <a:off x="1647825" y="4676775"/>
            <a:ext cx="67246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825" b="0">
                <a:solidFill>
                  <a:srgbClr val="666666"/>
                </a:solidFill>
                <a:latin typeface="Droid Sans Fallback"/>
                <a:ea typeface="Droid Sans Fallback"/>
                <a:cs typeface="Droid Sans Fallback"/>
              </a:rPr>
              <a:t>Sec. 7; 발표자 요약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67B5289-1E32-44E6-86AF-4E9F9FCF0477}"/>
              </a:ext>
            </a:extLst>
          </p:cNvPr>
          <p:cNvSpPr>
            <a:spLocks noGrp="1"/>
          </p:cNvSpPr>
          <p:nvPr/>
        </p:nvSpPr>
        <p:spPr>
          <a:xfrm>
            <a:off x="1714500" y="1200150"/>
            <a:ext cx="703897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1   VLM은 “다시 본다”는 말 이후에도 이전 추론에 고착될 수 있음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24CAFBC-9CB7-4452-88DE-DE032CE61B66}"/>
              </a:ext>
            </a:extLst>
          </p:cNvPr>
          <p:cNvSpPr>
            <a:spLocks noGrp="1"/>
          </p:cNvSpPr>
          <p:nvPr/>
        </p:nvSpPr>
        <p:spPr>
          <a:xfrm>
            <a:off x="1714500" y="1990725"/>
            <a:ext cx="703897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2   Thinking 모델과 대형 모델에서도 이 문제가 지속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305A5BF-922E-4B0B-9A52-1FEF6A43C414}"/>
              </a:ext>
            </a:extLst>
          </p:cNvPr>
          <p:cNvSpPr>
            <a:spLocks noGrp="1"/>
          </p:cNvSpPr>
          <p:nvPr/>
        </p:nvSpPr>
        <p:spPr>
          <a:xfrm>
            <a:off x="1714500" y="2781300"/>
            <a:ext cx="703897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3   사용자 턴과 시각 attention 개입으로 상당 부분 회복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5AAD185-5024-4D45-89D4-2A38A464E7B7}"/>
              </a:ext>
            </a:extLst>
          </p:cNvPr>
          <p:cNvSpPr>
            <a:spLocks noGrp="1"/>
          </p:cNvSpPr>
          <p:nvPr/>
        </p:nvSpPr>
        <p:spPr>
          <a:xfrm>
            <a:off x="1714500" y="3571875"/>
            <a:ext cx="7038975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남는 질문</a:t>
            </a:r>
          </a:p>
          <a:p>
            <a:pPr>
              <a:def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1650" b="0">
                <a:solidFill>
                  <a:srgbClr val="111111"/>
                </a:solidFill>
                <a:latin typeface="Droid Sans Fallback"/>
                <a:ea typeface="Droid Sans Fallback"/>
                <a:cs typeface="Droid Sans Fallback"/>
              </a:rPr>
              <a:t>모델이 스스로 시각 증거를 재확인하도록 무엇을 학습해야 하는가?</a:t>
            </a: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C8D23BBD-51EF-2E21-7722-F73BB1DE8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81100" cy="51435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endParaRPr/>
          </a:p>
        </p:txBody>
      </p:sp>
      <p:cxnSp>
        <p:nvCxnSpPr>
          <p:cNvPr id="61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ln w="38100" cap="flat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57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ln>
            <a:noFill/>
          </a:ln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C13FE25C-D83F-4F9C-99EA-3619C9DD8E48}"/>
              </a:ext>
            </a:extLst>
          </p:cNvPr>
          <p:cNvSpPr>
            <a:spLocks noGrp="1"/>
          </p:cNvSpPr>
          <p:nvPr/>
        </p:nvSpPr>
        <p:spPr>
          <a:xfrm>
            <a:off x="4257675" y="2324100"/>
            <a:ext cx="3238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r>
              <a:rPr sz="2400" b="1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rPr>
              <a:t>감사합니다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CDB620B-6578-41FB-9052-7B6B9D1FC8CE}"/>
              </a:ext>
            </a:extLst>
          </p:cNvPr>
          <p:cNvSpPr>
            <a:spLocks noGrp="1"/>
          </p:cNvSpPr>
          <p:nvPr/>
        </p:nvSpPr>
        <p:spPr>
          <a:xfrm>
            <a:off x="4581525" y="3038475"/>
            <a:ext cx="261937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9264B"/>
                </a:solidFill>
                <a:latin typeface="Droid Sans Fallback"/>
                <a:ea typeface="Droid Sans Fallback"/>
                <a:cs typeface="Droid Sans Fallback"/>
              </a:defRPr>
            </a:pPr>
            <a:endParaRPr sz="1725" b="0" dirty="0">
              <a:solidFill>
                <a:srgbClr val="19264B"/>
              </a:solidFill>
              <a:latin typeface="Droid Sans Fallback"/>
              <a:ea typeface="Droid Sans Fallback"/>
              <a:cs typeface="Droid Sans Fallback"/>
            </a:endParaRPr>
          </a:p>
        </p:txBody>
      </p:sp>
    </p:spTree>
    <p:extLst>
      <p:ext uri="{BB962C8B-B14F-4D97-AF65-F5344CB8AC3E}">
        <p14:creationId xmlns:p14="http://schemas.microsoft.com/office/powerpoint/2010/main" val="413065288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2333</Words>
  <Application>Microsoft Macintosh PowerPoint</Application>
  <DocSecurity>0</DocSecurity>
  <PresentationFormat>화면 슬라이드 쇼(16:9)</PresentationFormat>
  <Paragraphs>345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Droid Sans Fallback</vt:lpstr>
      <vt:lpstr>NanumGothic 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강민성</cp:lastModifiedBy>
  <cp:revision>3</cp:revision>
  <dcterms:created xsi:type="dcterms:W3CDTF">2026-09-29T03:15:04Z</dcterms:created>
  <dcterms:modified xsi:type="dcterms:W3CDTF">2026-09-29T03:47:12Z</dcterms:modified>
</cp:coreProperties>
</file>