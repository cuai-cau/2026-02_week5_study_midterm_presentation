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7.xml" ContentType="application/vnd.openxmlformats-officedocument.presentationml.notesSlide+xml"/>
  <Override PartName="/ppt/ink/ink5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306" r:id="rId2"/>
    <p:sldId id="321" r:id="rId3"/>
    <p:sldId id="332" r:id="rId4"/>
    <p:sldId id="335" r:id="rId5"/>
    <p:sldId id="334" r:id="rId6"/>
    <p:sldId id="320" r:id="rId7"/>
    <p:sldId id="322" r:id="rId8"/>
    <p:sldId id="319" r:id="rId9"/>
    <p:sldId id="323" r:id="rId10"/>
    <p:sldId id="318" r:id="rId11"/>
    <p:sldId id="324" r:id="rId12"/>
    <p:sldId id="325" r:id="rId13"/>
    <p:sldId id="333" r:id="rId14"/>
    <p:sldId id="326" r:id="rId15"/>
    <p:sldId id="327" r:id="rId16"/>
    <p:sldId id="328" r:id="rId17"/>
    <p:sldId id="329" r:id="rId18"/>
    <p:sldId id="330" r:id="rId19"/>
    <p:sldId id="336" r:id="rId20"/>
    <p:sldId id="331" r:id="rId21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26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186" autoAdjust="0"/>
  </p:normalViewPr>
  <p:slideViewPr>
    <p:cSldViewPr>
      <p:cViewPr varScale="1">
        <p:scale>
          <a:sx n="97" d="100"/>
          <a:sy n="97" d="100"/>
        </p:scale>
        <p:origin x="485" y="67"/>
      </p:cViewPr>
      <p:guideLst>
        <p:guide orient="horz" pos="2880"/>
        <p:guide pos="518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07:41:41.3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2622 24575,'273'80'0,"-244"-75"0,1-1 0,0-1 0,-1-2 0,58-4 0,-7 0 0,-64 3 0,1 1 0,1-1 0,-1 0 0,1-2 0,-1 0 0,0-1 0,0 0 0,26-10 0,-10-1 0,59-34 0,-79 39 0,-1 0 0,0 0 0,0-1 0,-1 0 0,0-1 0,-1 0 0,11-16 0,-1-4 0,-1-1 0,28-69 0,16-75 0,-61 170 0,33-113 0,-20 61 0,27-63 0,55-138 0,17-43 0,-106 280 0,0 1 0,1 0 0,1 1 0,1 0 0,16-22 0,-23 36 0,1 0 0,-1 1 0,1 0 0,0 0 0,0 0 0,1 1 0,0-1 0,0 1 0,0 1 0,0-1 0,0 1 0,1 0 0,-1 0 0,1 1 0,0 0 0,0 0 0,0 1 0,0 0 0,0 0 0,12 0 0,0 3 0,0 1 0,0 0 0,0 1 0,0 1 0,-1 1 0,23 10 0,105 59 0,-104-52 0,1 1 0,64 48 0,-89-58 0,-1 0 0,0 2 0,-1-1 0,-1 2 0,25 36 0,-31-37 0,-1 0 0,-1 0 0,-1 1 0,0 0 0,-1 1 0,-1-1 0,0 1 0,1 26 0,-1 17 0,-6 67 0,2-120 0,-9 103 0,-6-1 0,-28 111 0,20-118 0,4 1 0,-7 159 0,27 231 0,-1-485 0,1 0 0,-1 1 0,1-1 0,1 0 0,0-1 0,0 1 0,1 0 0,-1-1 0,2 1 0,0-1 0,0 0 0,0 0 0,1 0 0,0-1 0,12 14 0,-9-13 0,0-1 0,0-1 0,1 1 0,0-2 0,0 1 0,1-1 0,0 0 0,0-1 0,0 0 0,0-1 0,0 0 0,1-1 0,13 2 0,31 2 0,1-2 0,0-2 0,96-10 0,-138 6 0,1 0 0,-1-1 0,0 0 0,0-1 0,0-1 0,0 0 0,-1-1 0,1-1 0,18-12 0,-24 13 0,0 0 0,-1-1 0,0 1 0,-1-2 0,1 1 0,-1-1 0,-1 0 0,1 0 0,-1 0 0,-1-1 0,1 0 0,-2 0 0,1 0 0,-1 0 0,2-12 0,10-41 0,-6 32 0,-2 0 0,5-60 0,-11 69 0,1 1 0,0-1 0,2 1 0,0-1 0,2 1 0,0 0 0,1 1 0,1 0 0,17-32 0,-21 46 0,0 0 0,0 0 0,0 0 0,1 1 0,0 0 0,0 0 0,0 0 0,0 0 0,0 1 0,1 0 0,0 0 0,-1 0 0,10-2 0,7-2 0,0 2 0,32-5 0,-32 7 0,4-6 0,-23 7 0,-1 1 0,0 0 0,0 0 0,1 0 0,-1 1 0,0-1 0,1 0 0,-1 1 0,1 0 0,-1 0 0,1-1 0,-1 1 0,1 1 0,-1-1 0,0 0 0,1 0 0,4 2 0,6 4 0,1 1 0,-1 1 0,0 0 0,0 0 0,-1 1 0,0 1 0,0 0 0,-2 0 0,1 1 0,-1 1 0,-1 0 0,16 25 0,-11-14 0,-7-11 0,0 0 0,18 20 0,-22-29 0,-1 0 0,1-1 0,0 1 0,0-1 0,1 1 0,-1-1 0,0 0 0,1 0 0,0-1 0,-1 1 0,1-1 0,0 0 0,0 0 0,6 1 0,23 1 0,0-3 0,54-4 0,-78 2 0,1 0 0,-1 0 0,0-1 0,1 0 0,-1-1 0,-1 0 0,1 0 0,-1-1 0,1 0 0,-1 0 0,-1-1 0,1 0 0,-1 0 0,0-1 0,0 0 0,6-10 0,4-6 0,-1 0 0,-1-1 0,-2 0 0,15-36 0,-5 0 0,-2 0 0,-3-2 0,-3 0 0,-3 0 0,6-81 0,-7-324 0,-7 100 0,115-590 0,-119 956 0,41-181 0,-34 159 0,1 0 0,2 1 0,0 0 0,1 0 0,23-33 0,-24 41 0,1-1 0,0 2 0,0-1 0,2 2 0,-1-1 0,2 2 0,0 0 0,0 0 0,1 1 0,0 1 0,0 1 0,23-9 0,-34 16 0,1 0 0,0 0 0,0 1 0,-1-1 0,1 1 0,0 0 0,0 1 0,0-1 0,-1 1 0,1 0 0,0 0 0,-1 1 0,1-1 0,-1 1 0,1 0 0,-1 0 0,0 0 0,0 1 0,0 0 0,7 6 0,6 5 0,-2 1 0,1 0 0,14 21 0,54 75 0,-5 5 0,79 153 0,-113-181 0,-4 1 0,39 129 0,35 195 0,-105-373 0,3 9 0,4 19 0,11 76 0,-19-90 0,2-1 0,2 0 0,3-1 0,1-1 0,3-1 0,48 87 0,-11-26 0,-22-41 0,62 94 0,-93-157 0,2-1 0,-1 1 0,1-1 0,0 0 0,0-1 0,1 1 0,-1-1 0,1-1 0,0 1 0,1-1 0,8 4 0,-3-3 0,1-1 0,-1-1 0,1 0 0,0 0 0,26 0 0,245-1 0,-143-4 0,-103 0 0,0-3 0,0 0 0,56-17 0,-56 12 0,0 2 0,1 1 0,48-1 0,-20 8-1365,-50 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07:42:01.1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0 138 24575,'0'0'0,"0"1"0,1 0 0,-1-1 0,0 1 0,1-1 0,-1 1 0,0-1 0,1 1 0,-1 0 0,0-1 0,1 0 0,-1 1 0,1-1 0,-1 1 0,1-1 0,-1 1 0,1-1 0,0 0 0,-1 1 0,1-1 0,-1 0 0,1 0 0,0 0 0,0 1 0,22 4 0,-17-4 0,97 19 0,107 7 0,101-23 0,-165-7 0,-79 2 0,-1-3 0,0-3 0,70-17 0,-66 9 0,-17 5 0,94-31 0,-79 17 0,1 3 0,0 4 0,95-13 0,-94 25 0,109 5 0,-67 2 0,-104-1 0,0 0 0,0 0 0,0 0 0,0 1 0,0 0 0,0 1 0,0 0 0,-1 0 0,1 0 0,-1 1 0,0 0 0,0 1 0,10 8 0,-2 0 0,0 2 0,-1 0 0,0 0 0,14 21 0,117 134 0,-108-130 0,66 84 0,-30-37 0,-48-56 0,1-1 0,31 28 0,-22-25 0,-17-16 0,41 31 0,-52-43 0,0-1 0,0 0 0,1 0 0,-1-1 0,1 0 0,0 0 0,0-1 0,0 0 0,0 0 0,10 0 0,195-1 0,-96-4 0,-101 3 0,1-2 0,29-7 0,-29 5 0,1 1 0,20-1 0,-33 4 0,20 0 0,0-1 0,0-1 0,-1-2 0,1 0 0,24-8 0,47-11 0,-74 19 0,1-1 0,-1-1 0,0-1 0,37-17 0,-14-3 0,-34 19 0,0 1 0,0 0 0,1 1 0,0 0 0,0 1 0,0 0 0,1 1 0,19-3 0,-17 5 0,-1-1 0,0 0 0,1-1 0,17-7 0,-24 8 0,-1 0 0,0-1 0,-1 1 0,1-1 0,0-1 0,-1 1 0,0-1 0,0 0 0,10-11 0,-8 7 0,0 1 0,1 1 0,0-1 0,1 2 0,-1-1 0,1 1 0,1 0 0,20-7 0,-19 9 0,0 1 0,0 0 0,1 1 0,-1 1 0,1 0 0,0 0 0,-1 2 0,17 1 0,-11 0 0,0 1 0,1 1 0,-2 1 0,1 0 0,17 8 0,26 19 0,-51-25 0,1 0 0,0-1 0,1-1 0,0 0 0,0 0 0,0-1 0,0-1 0,0 0 0,20 2 0,-23-4 0,-1 0 0,0-1 0,0 0 0,0-1 0,0 0 0,0 0 0,0 0 0,0-1 0,0 0 0,-1-1 0,1 0 0,-1 0 0,1-1 0,-1 1 0,0-2 0,0 1 0,-1-1 0,1 0 0,-1 0 0,5-7 0,-5 7 0,-1-1 0,1 1 0,-1-1 0,-1-1 0,1 1 0,-1-1 0,-1 0 0,1 0 0,-1 0 0,0 0 0,0 0 0,-1-1 0,0 1 0,-1-1 0,0 0 0,0 1 0,0-1 0,-1-10 0,2-17 0,2-1 0,1 1 0,1 1 0,20-59 0,-21 78 0,1 1 0,0 0 0,0 1 0,1 0 0,1 0 0,18-23 0,-23 33 0,1 0 0,-1 1 0,0 0 0,1-1 0,-1 1 0,1 1 0,0-1 0,0 0 0,-1 1 0,1 0 0,0 0 0,0 0 0,0 0 0,0 1 0,5-1 0,12 1 0,36 2 0,-24 0 0,-7-1 0,0 1 0,0 1 0,0 0 0,0 3 0,-1 0 0,0 1 0,0 1 0,33 17 0,-35-15 0,43 12 0,4 1 0,-31-8 0,-24-10 0,0 0 0,-1 2 0,25 14 0,-19-10 0,34 16 0,-39-20 0,-1-1 0,1 2 0,-2 0 0,1 1 0,16 13 0,56 67 0,-61-61 0,1-1 0,1-1 0,54 40 0,-74-62 0,0-1 0,1 1 0,-1-1 0,1 0 0,-1-1 0,1 0 0,0 0 0,8 1 0,69 1 0,-5 0 0,111 16 0,-97-11 0,99-4-546,-166-5-273,-8 0-6007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07:02:24.9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24575,'218'10'-2,"225"39"-1,-212-19-122,817 62-552,-325-34 704,297 75-27,180 77 0,-113 28-8,-853-182-18,272 86-71,-9 24 28,-332-110 63,223 66 6,-207-66 0,294 64 693,-354-93-579,269 83 82,29 7-213,-151-53 17,60 13 0,279 90 0,-590-162 0,55 21 0,-54-18 0,1-1 0,0 0 0,0-2 0,0 0 0,1-1 0,32 2 0,-11-2 0,-40-4 0,0 0 0,-1 0 0,1 0 0,0 0 0,0 1 0,-1-1 0,1 0 0,0 1 0,-1-1 0,1 0 0,0 1 0,-1-1 0,1 1 0,0-1 0,-1 1 0,1-1 0,-1 1 0,1 0 0,0 0 0,-2 0 0,1-1 0,0 1 0,0 0 0,0 0 0,0-1 0,0 1 0,-1 0 0,1-1 0,0 1 0,-1 0 0,1-1 0,-1 1 0,1-1 0,0 1 0,-1 0 0,1-1 0,-1 1 0,0-1 0,1 1 0,-1-1 0,1 0 0,-1 1 0,0-1 0,1 1 0,-2-1 0,-59 37 0,-2-3 0,-2-3 0,-68 23 0,19-7 0,-352 194 0,9-3 0,49-63 0,187-84 0,-3-10 0,-391 87 0,299-91 0,-228 47 0,192-52 0,-7 1 0,38-12 0,-346 48 0,42-40 0,56-5 0,-43 12 0,440-52 0,-223 2 0,-46 10 0,126-7 0,-34-8 0,180-13 0,-75 7 0,76-3 0,160-11 0,0 1 0,0 0 0,0 0 0,0 1 0,1 0 0,-9 4 0,-32 12 0,18-12 0,12-4 0,1 1 0,-1 1 0,1 1 0,-1 0 0,-24 14 0,7-5 0,29-13 0,0 0 0,0 1 0,1-1 0,-1 1 0,1 0 0,-1 0 0,1 1 0,0 0 0,0-1 0,-4 6 0,6 5-1365,6 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07:02:27.2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07:03:13.5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0C9F48-27BD-44D1-8F6E-E62D38544BB2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18300E-98C5-48BE-86E1-1E72245140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453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92F89-1ECB-3839-933A-4F3AA2D49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24F045-BF43-C593-EAC1-B6F865B0F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BACA31-8ED8-09B4-68DE-95F027735C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ddd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51A7DE-476F-21DB-0591-123ADB109F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8300E-98C5-48BE-86E1-1E72245140A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0699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FF903-9DB8-8504-DD2F-E2BC0BCBA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26F7E9-B5A6-BB6A-0869-81C6236F1C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E0F100-799B-5CF7-31FE-0B1E5EEFD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ddd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B0C948-EF2C-70B8-F931-4691BE2E32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8300E-98C5-48BE-86E1-1E72245140A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22585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F6DCC-6A98-FD34-0D9A-81DFEF6F5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2D9520-FF83-6867-5F0D-B463056F84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EF82B0-1069-B7ED-B7D5-EDA9524F0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ddd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0B662E-0342-82B8-A78D-6345ED0473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8300E-98C5-48BE-86E1-1E72245140A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3749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61703-7BE8-865A-D095-83BCDB3DA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9A70158-6380-2EDE-BCEC-397731FECC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5F98CD-D832-1793-2FCF-747D5DA79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ddd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6742C0-15DA-0323-8581-6D63ABCD87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8300E-98C5-48BE-86E1-1E72245140A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1887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3AE7E-2BC6-7F26-0ED3-867C69002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3B8354-3CF9-68ED-D4AB-9C1E0F3961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C72089-23C5-5E65-EC7E-69B02265B9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ddd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F624C6-9875-23C0-6110-4497F46500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8300E-98C5-48BE-86E1-1E72245140A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1495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F17AB-D12E-1696-F98A-797BF38DF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1BABAA-5687-6A96-9CB5-8496EFF9BE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065834-3486-807F-7A95-8908BBC307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ddd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D66CFD-8F37-8185-71C1-A32FA9BA84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8300E-98C5-48BE-86E1-1E72245140A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5832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70C51-104A-F41E-3821-8450ABDCF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16CF50-C712-1EBE-1088-EAC857DAFD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2219C2-ABE2-8DEA-67DF-B6D6EF6380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ddd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7FB95B-D946-7934-0B19-D967B3B231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8300E-98C5-48BE-86E1-1E72245140A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121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8FFF9-1902-C104-E3A2-859C02E95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7D1F03-BEF6-1017-F9B1-3FA68222B9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02665D-5203-0D5C-3E94-92B924091A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ddd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F0BFD5-277F-6761-91AE-3FD438564C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8300E-98C5-48BE-86E1-1E72245140A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8379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ddd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8300E-98C5-48BE-86E1-1E72245140A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10582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BE377-B3C3-B073-6A42-7B072F8DF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CBC9B8-11C4-6EEC-E700-2F049998FB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7749706-9342-A222-526D-6D7611B439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ddd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8803AB-A4F9-E71B-4037-6C003A9A2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8300E-98C5-48BE-86E1-1E72245140A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0629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434B4-C0EA-54C6-82B8-CB6059F2A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97D27C2-95B9-8D69-C2BB-834C3F4A11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FC5EBA-60BA-F2A3-0268-EE38930F6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ddd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C56C13-9209-B930-B341-15D82D3F82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8300E-98C5-48BE-86E1-1E72245140A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26735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1904D-3C79-1A0C-61D8-BB26277B1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21922B-37CB-7A30-8E01-2C8792CA3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97A3EF-8007-E29A-E8BE-4EB7932FB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ddd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C13BE0-0404-7423-C7C5-DFA212CA8B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8300E-98C5-48BE-86E1-1E72245140A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4222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34DCA-9D8D-D110-3769-E6DF9053A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0901A4-017C-52BC-74C7-42A5E8C8CC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F6B2A7-7FED-4F26-F0B0-1E6401BD6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ddd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7D026F-5830-7136-7847-7CB81298A0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8300E-98C5-48BE-86E1-1E72245140A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6546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18BF5-6B36-780F-5812-78E2079B7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102EC2-F184-C5E3-F2B4-630CBD24D4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078D97-8DE3-B83D-AB2F-01ABA78478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ddd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1D4AD9-EE18-8C2F-82D3-FE62AA7516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8300E-98C5-48BE-86E1-1E72245140A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29400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0B4FC-61B4-9744-8A4F-076A4BE74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4934BF-5611-986E-6BC7-8082134DE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0829091-32EF-1596-EC3E-E6AB5860E0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ddd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8C153A-BA1E-1865-F2A1-3723202242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8300E-98C5-48BE-86E1-1E72245140AE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54618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1422E-CA06-7BCF-2B91-FEEED3FE4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8A54F7-B7E4-1768-BE21-F2A23D8615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4E13AD-BF44-2859-36BD-E41582F5C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ddd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69392B-1199-0E70-EC6E-3320C7AA2E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8300E-98C5-48BE-86E1-1E72245140AE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4812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5CF58-59F5-24FC-33BA-00D1020DE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C87166-3D18-C9FB-DB75-94399F86EA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0058D8-1076-CB57-3500-91843B987A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ddd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0DADE5-EF2D-0B7D-865C-92D5C2163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8300E-98C5-48BE-86E1-1E72245140AE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7960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1FDDD-B2B1-C305-1010-C8AC6A262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9EDF30-666E-1CA2-D233-4B848F4625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EE7AFB-FB1C-AF73-5E59-ECE991EB65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ddd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9785D4-74C2-B4D1-E928-DD88164FCB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8300E-98C5-48BE-86E1-1E72245140AE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9518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93C70-B7FF-8522-A036-5B79E4D21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8933C6-5C94-A02E-4B49-8414994B9C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B9568B-1716-8FB7-91A4-3E7306D08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ddd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F7575E-ABE0-217D-8502-98882C5C3D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8300E-98C5-48BE-86E1-1E72245140AE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769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9912" y="250281"/>
            <a:ext cx="621665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9264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208737"/>
            <a:ext cx="1060037" cy="2934762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8685224" y="135475"/>
            <a:ext cx="335915" cy="335915"/>
          </a:xfrm>
          <a:custGeom>
            <a:avLst/>
            <a:gdLst/>
            <a:ahLst/>
            <a:cxnLst/>
            <a:rect l="l" t="t" r="r" b="b"/>
            <a:pathLst>
              <a:path w="335915" h="335915">
                <a:moveTo>
                  <a:pt x="335699" y="335699"/>
                </a:moveTo>
                <a:lnTo>
                  <a:pt x="0" y="335699"/>
                </a:lnTo>
                <a:lnTo>
                  <a:pt x="0" y="0"/>
                </a:lnTo>
                <a:lnTo>
                  <a:pt x="335699" y="0"/>
                </a:lnTo>
                <a:lnTo>
                  <a:pt x="335699" y="3356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685224" y="135475"/>
            <a:ext cx="335915" cy="335915"/>
          </a:xfrm>
          <a:custGeom>
            <a:avLst/>
            <a:gdLst/>
            <a:ahLst/>
            <a:cxnLst/>
            <a:rect l="l" t="t" r="r" b="b"/>
            <a:pathLst>
              <a:path w="335915" h="335915">
                <a:moveTo>
                  <a:pt x="0" y="0"/>
                </a:moveTo>
                <a:lnTo>
                  <a:pt x="335699" y="0"/>
                </a:lnTo>
                <a:lnTo>
                  <a:pt x="335699" y="335699"/>
                </a:lnTo>
                <a:lnTo>
                  <a:pt x="0" y="335699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685224" y="616374"/>
            <a:ext cx="335915" cy="335915"/>
          </a:xfrm>
          <a:custGeom>
            <a:avLst/>
            <a:gdLst/>
            <a:ahLst/>
            <a:cxnLst/>
            <a:rect l="l" t="t" r="r" b="b"/>
            <a:pathLst>
              <a:path w="335915" h="335915">
                <a:moveTo>
                  <a:pt x="0" y="0"/>
                </a:moveTo>
                <a:lnTo>
                  <a:pt x="335699" y="0"/>
                </a:lnTo>
                <a:lnTo>
                  <a:pt x="335699" y="335699"/>
                </a:lnTo>
                <a:lnTo>
                  <a:pt x="0" y="335699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8685224" y="1097274"/>
            <a:ext cx="335915" cy="335915"/>
          </a:xfrm>
          <a:custGeom>
            <a:avLst/>
            <a:gdLst/>
            <a:ahLst/>
            <a:cxnLst/>
            <a:rect l="l" t="t" r="r" b="b"/>
            <a:pathLst>
              <a:path w="335915" h="335915">
                <a:moveTo>
                  <a:pt x="0" y="0"/>
                </a:moveTo>
                <a:lnTo>
                  <a:pt x="335699" y="0"/>
                </a:lnTo>
                <a:lnTo>
                  <a:pt x="335699" y="335699"/>
                </a:lnTo>
                <a:lnTo>
                  <a:pt x="0" y="335699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46899" y="0"/>
            <a:ext cx="0" cy="2152650"/>
          </a:xfrm>
          <a:custGeom>
            <a:avLst/>
            <a:gdLst/>
            <a:ahLst/>
            <a:cxnLst/>
            <a:rect l="l" t="t" r="r" b="b"/>
            <a:pathLst>
              <a:path h="2152650">
                <a:moveTo>
                  <a:pt x="0" y="2152499"/>
                </a:moveTo>
                <a:lnTo>
                  <a:pt x="0" y="0"/>
                </a:lnTo>
              </a:path>
            </a:pathLst>
          </a:custGeom>
          <a:ln w="2857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542600" y="1335110"/>
            <a:ext cx="3203575" cy="3332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801650" y="1022136"/>
            <a:ext cx="3434079" cy="3451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208737"/>
            <a:ext cx="1060037" cy="293476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8685224" y="135475"/>
            <a:ext cx="335915" cy="335915"/>
          </a:xfrm>
          <a:custGeom>
            <a:avLst/>
            <a:gdLst/>
            <a:ahLst/>
            <a:cxnLst/>
            <a:rect l="l" t="t" r="r" b="b"/>
            <a:pathLst>
              <a:path w="335915" h="335915">
                <a:moveTo>
                  <a:pt x="0" y="0"/>
                </a:moveTo>
                <a:lnTo>
                  <a:pt x="335699" y="0"/>
                </a:lnTo>
                <a:lnTo>
                  <a:pt x="335699" y="335699"/>
                </a:lnTo>
                <a:lnTo>
                  <a:pt x="0" y="335699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685224" y="616374"/>
            <a:ext cx="335915" cy="335915"/>
          </a:xfrm>
          <a:custGeom>
            <a:avLst/>
            <a:gdLst/>
            <a:ahLst/>
            <a:cxnLst/>
            <a:rect l="l" t="t" r="r" b="b"/>
            <a:pathLst>
              <a:path w="335915" h="335915">
                <a:moveTo>
                  <a:pt x="335699" y="335699"/>
                </a:moveTo>
                <a:lnTo>
                  <a:pt x="0" y="335699"/>
                </a:lnTo>
                <a:lnTo>
                  <a:pt x="0" y="0"/>
                </a:lnTo>
                <a:lnTo>
                  <a:pt x="335699" y="0"/>
                </a:lnTo>
                <a:lnTo>
                  <a:pt x="335699" y="3356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685224" y="616374"/>
            <a:ext cx="335915" cy="335915"/>
          </a:xfrm>
          <a:custGeom>
            <a:avLst/>
            <a:gdLst/>
            <a:ahLst/>
            <a:cxnLst/>
            <a:rect l="l" t="t" r="r" b="b"/>
            <a:pathLst>
              <a:path w="335915" h="335915">
                <a:moveTo>
                  <a:pt x="0" y="0"/>
                </a:moveTo>
                <a:lnTo>
                  <a:pt x="335699" y="0"/>
                </a:lnTo>
                <a:lnTo>
                  <a:pt x="335699" y="335699"/>
                </a:lnTo>
                <a:lnTo>
                  <a:pt x="0" y="335699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685224" y="1097274"/>
            <a:ext cx="335915" cy="335915"/>
          </a:xfrm>
          <a:custGeom>
            <a:avLst/>
            <a:gdLst/>
            <a:ahLst/>
            <a:cxnLst/>
            <a:rect l="l" t="t" r="r" b="b"/>
            <a:pathLst>
              <a:path w="335915" h="335915">
                <a:moveTo>
                  <a:pt x="0" y="0"/>
                </a:moveTo>
                <a:lnTo>
                  <a:pt x="335699" y="0"/>
                </a:lnTo>
                <a:lnTo>
                  <a:pt x="335699" y="335699"/>
                </a:lnTo>
                <a:lnTo>
                  <a:pt x="0" y="335699"/>
                </a:lnTo>
                <a:lnTo>
                  <a:pt x="0" y="0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46899" y="0"/>
            <a:ext cx="0" cy="2152650"/>
          </a:xfrm>
          <a:custGeom>
            <a:avLst/>
            <a:gdLst/>
            <a:ahLst/>
            <a:cxnLst/>
            <a:rect l="l" t="t" r="r" b="b"/>
            <a:pathLst>
              <a:path h="2152650">
                <a:moveTo>
                  <a:pt x="0" y="2152499"/>
                </a:moveTo>
                <a:lnTo>
                  <a:pt x="0" y="0"/>
                </a:lnTo>
              </a:path>
            </a:pathLst>
          </a:custGeom>
          <a:ln w="2857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60050" y="211800"/>
            <a:ext cx="7420609" cy="4719955"/>
          </a:xfrm>
          <a:custGeom>
            <a:avLst/>
            <a:gdLst/>
            <a:ahLst/>
            <a:cxnLst/>
            <a:rect l="l" t="t" r="r" b="b"/>
            <a:pathLst>
              <a:path w="7420609" h="4719955">
                <a:moveTo>
                  <a:pt x="7420499" y="4719899"/>
                </a:moveTo>
                <a:lnTo>
                  <a:pt x="0" y="4719899"/>
                </a:lnTo>
                <a:lnTo>
                  <a:pt x="0" y="0"/>
                </a:lnTo>
                <a:lnTo>
                  <a:pt x="7420499" y="0"/>
                </a:lnTo>
                <a:lnTo>
                  <a:pt x="7420499" y="47198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11776" y="83124"/>
            <a:ext cx="5076190" cy="1076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99249" y="1262099"/>
            <a:ext cx="4288155" cy="34150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1.xml"/><Relationship Id="rId4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0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2.png"/><Relationship Id="rId7" Type="http://schemas.openxmlformats.org/officeDocument/2006/relationships/customXml" Target="../ink/ink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customXml" Target="../ink/ink3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customXml" Target="../ink/ink5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0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412774" y="2495550"/>
            <a:ext cx="5826226" cy="992579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lang="ko-KR" altLang="en-US" sz="1400" b="1" dirty="0">
                <a:solidFill>
                  <a:srgbClr val="19264B"/>
                </a:solidFill>
                <a:latin typeface="Arial"/>
                <a:cs typeface="Arial"/>
              </a:rPr>
              <a:t>교수님 질문 회피하기</a:t>
            </a:r>
            <a:endParaRPr lang="en-US" altLang="ko-KR" sz="1400" b="1" dirty="0">
              <a:solidFill>
                <a:srgbClr val="19264B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lang="en-US" altLang="ko-KR" sz="3200" b="1" dirty="0">
                <a:solidFill>
                  <a:srgbClr val="19264B"/>
                </a:solidFill>
                <a:latin typeface="Arial"/>
                <a:cs typeface="Arial"/>
              </a:rPr>
              <a:t>Why Use RMS Normalization?</a:t>
            </a:r>
            <a:endParaRPr lang="ko-KR" altLang="en-US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12774" y="3552179"/>
            <a:ext cx="346402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 err="1">
                <a:solidFill>
                  <a:srgbClr val="19264B"/>
                </a:solidFill>
                <a:latin typeface="Malgun Gothic"/>
                <a:cs typeface="Malgun Gothic"/>
              </a:rPr>
              <a:t>발표자</a:t>
            </a:r>
            <a:r>
              <a:rPr sz="1100" spc="-10" dirty="0">
                <a:solidFill>
                  <a:srgbClr val="19264B"/>
                </a:solidFill>
                <a:latin typeface="Malgun Gothic"/>
                <a:cs typeface="Malgun Gothic"/>
              </a:rPr>
              <a:t> </a:t>
            </a:r>
            <a:r>
              <a:rPr sz="1100" dirty="0">
                <a:solidFill>
                  <a:srgbClr val="19264B"/>
                </a:solidFill>
                <a:latin typeface="Arial MT"/>
                <a:cs typeface="Arial MT"/>
              </a:rPr>
              <a:t>:</a:t>
            </a:r>
            <a:r>
              <a:rPr lang="en-US" altLang="ko-KR" sz="1100" spc="-25" dirty="0">
                <a:solidFill>
                  <a:srgbClr val="19264B"/>
                </a:solidFill>
                <a:latin typeface="Malgun Gothic"/>
                <a:cs typeface="Arial MT"/>
              </a:rPr>
              <a:t> </a:t>
            </a:r>
            <a:r>
              <a:rPr lang="ko-KR" altLang="en-US" sz="1100" spc="-25" dirty="0">
                <a:solidFill>
                  <a:srgbClr val="19264B"/>
                </a:solidFill>
                <a:latin typeface="Malgun Gothic"/>
                <a:cs typeface="Arial MT"/>
              </a:rPr>
              <a:t>주찬진</a:t>
            </a:r>
            <a:endParaRPr sz="1100" dirty="0">
              <a:latin typeface="Malgun Gothic"/>
              <a:cs typeface="Malgun Gothic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B62957-6494-9EA0-D8B6-14419C2BF183}"/>
              </a:ext>
            </a:extLst>
          </p:cNvPr>
          <p:cNvSpPr txBox="1"/>
          <p:nvPr/>
        </p:nvSpPr>
        <p:spPr>
          <a:xfrm>
            <a:off x="8153400" y="4781550"/>
            <a:ext cx="9509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2026/09/08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C526E-A53B-4E7B-9536-DE58BADDD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34DE6D5-A86D-1097-2F10-3D89BACA05C9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153AEAE7-0664-63C5-817A-6532B2DA638A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43A56D3-DBB7-6063-81B6-0DB7F6A0D85D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CEA0BF40-8DF1-1857-ED57-122DBD15D4E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  <p:sp>
        <p:nvSpPr>
          <p:cNvPr id="8" name="object 6">
            <a:extLst>
              <a:ext uri="{FF2B5EF4-FFF2-40B4-BE49-F238E27FC236}">
                <a16:creationId xmlns:a16="http://schemas.microsoft.com/office/drawing/2014/main" id="{52272737-38B5-8608-60D4-FDBC803434C5}"/>
              </a:ext>
            </a:extLst>
          </p:cNvPr>
          <p:cNvSpPr txBox="1"/>
          <p:nvPr/>
        </p:nvSpPr>
        <p:spPr>
          <a:xfrm>
            <a:off x="1316531" y="133350"/>
            <a:ext cx="5826226" cy="495007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lang="en-US" altLang="ko-KR" sz="2400" b="1" dirty="0">
                <a:solidFill>
                  <a:srgbClr val="19264B"/>
                </a:solidFill>
                <a:latin typeface="Arial"/>
                <a:cs typeface="Arial"/>
              </a:rPr>
              <a:t>Start of Normalization </a:t>
            </a:r>
            <a:endParaRPr lang="ko-KR" altLang="en-US" sz="1400" dirty="0">
              <a:latin typeface="Arial MT"/>
              <a:cs typeface="Arial M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4BC71C-11A3-72BE-03E9-DFDA7FDC9FA8}"/>
              </a:ext>
            </a:extLst>
          </p:cNvPr>
          <p:cNvSpPr txBox="1"/>
          <p:nvPr/>
        </p:nvSpPr>
        <p:spPr>
          <a:xfrm>
            <a:off x="1447800" y="638210"/>
            <a:ext cx="2448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= Batch Normalization</a:t>
            </a:r>
            <a:endParaRPr lang="ko-KR" altLang="en-US" dirty="0"/>
          </a:p>
        </p:txBody>
      </p:sp>
      <p:pic>
        <p:nvPicPr>
          <p:cNvPr id="11" name="그림 10" descr="Batch Normalization and Dropout: Combined Regularization">
            <a:extLst>
              <a:ext uri="{FF2B5EF4-FFF2-40B4-BE49-F238E27FC236}">
                <a16:creationId xmlns:a16="http://schemas.microsoft.com/office/drawing/2014/main" id="{31AC2956-B5C0-D7E8-E0D7-B0BC83E252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1123951"/>
            <a:ext cx="3886200" cy="227720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DFFFAAD6-BE40-F34F-0165-0E56DC83AE49}"/>
                  </a:ext>
                </a:extLst>
              </p14:cNvPr>
              <p14:cNvContentPartPr/>
              <p14:nvPr/>
            </p14:nvContentPartPr>
            <p14:xfrm>
              <a:off x="2130836" y="3538524"/>
              <a:ext cx="2467440" cy="1253520"/>
            </p14:xfrm>
          </p:contentPart>
        </mc:Choice>
        <mc:Fallback xmlns=""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DFFFAAD6-BE40-F34F-0165-0E56DC83AE4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24716" y="3532404"/>
                <a:ext cx="2479680" cy="126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2E62A0A2-FA3F-8088-FD0A-E1C786D2217E}"/>
                  </a:ext>
                </a:extLst>
              </p14:cNvPr>
              <p14:cNvContentPartPr/>
              <p14:nvPr/>
            </p14:nvContentPartPr>
            <p14:xfrm>
              <a:off x="6019800" y="4248150"/>
              <a:ext cx="2538360" cy="294840"/>
            </p14:xfrm>
          </p:contentPart>
        </mc:Choice>
        <mc:Fallback xmlns=""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2E62A0A2-FA3F-8088-FD0A-E1C786D2217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13680" y="4242030"/>
                <a:ext cx="2550600" cy="30708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AE50EA61-A0AA-7D22-B446-74D1C419E654}"/>
              </a:ext>
            </a:extLst>
          </p:cNvPr>
          <p:cNvSpPr/>
          <p:nvPr/>
        </p:nvSpPr>
        <p:spPr>
          <a:xfrm>
            <a:off x="5029200" y="4165284"/>
            <a:ext cx="685800" cy="37770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67CA36-24DE-2FFD-F19C-137B254A0CE1}"/>
              </a:ext>
            </a:extLst>
          </p:cNvPr>
          <p:cNvSpPr txBox="1"/>
          <p:nvPr/>
        </p:nvSpPr>
        <p:spPr>
          <a:xfrm>
            <a:off x="1702807" y="351756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3. 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8D5AF2-0B8F-09C0-0617-6408A9587A41}"/>
              </a:ext>
            </a:extLst>
          </p:cNvPr>
          <p:cNvSpPr txBox="1"/>
          <p:nvPr/>
        </p:nvSpPr>
        <p:spPr>
          <a:xfrm>
            <a:off x="5867400" y="82287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endParaRPr lang="ko-KR" alt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A0C2356-0E35-90B0-13A2-662E4BCF60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64932" y="1123951"/>
            <a:ext cx="2248095" cy="51058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984AF57-BE1E-512F-CF75-9299FB2AEA5F}"/>
              </a:ext>
            </a:extLst>
          </p:cNvPr>
          <p:cNvSpPr txBox="1"/>
          <p:nvPr/>
        </p:nvSpPr>
        <p:spPr>
          <a:xfrm>
            <a:off x="5867400" y="226695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2.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ADA250-C60C-9885-0CFD-90F054187481}"/>
              </a:ext>
            </a:extLst>
          </p:cNvPr>
          <p:cNvSpPr txBox="1"/>
          <p:nvPr/>
        </p:nvSpPr>
        <p:spPr>
          <a:xfrm>
            <a:off x="6244426" y="2571209"/>
            <a:ext cx="2056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Activation </a:t>
            </a:r>
            <a:r>
              <a:rPr lang="en-US" altLang="ko-KR" dirty="0" err="1"/>
              <a:t>Scailing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7263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61349-EA99-725C-3005-5218D7CB7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2C395EC-DF49-3211-5340-CD3DF01E6CF1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7CF34183-3592-DEE8-69A2-E736F6BD28D1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D22ED29-0EBB-7E59-B088-966FC4AA0E15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2B49D007-51CD-AB23-8E23-5AA9A532D4D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  <p:pic>
        <p:nvPicPr>
          <p:cNvPr id="7" name="그림 6" descr="중앙대학교 AI학과 이재성 - 김박사넷">
            <a:extLst>
              <a:ext uri="{FF2B5EF4-FFF2-40B4-BE49-F238E27FC236}">
                <a16:creationId xmlns:a16="http://schemas.microsoft.com/office/drawing/2014/main" id="{9EE9CEF9-51BC-83C4-19B6-B05209A72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0" y="361950"/>
            <a:ext cx="969640" cy="1281221"/>
          </a:xfrm>
          <a:prstGeom prst="rect">
            <a:avLst/>
          </a:prstGeom>
        </p:spPr>
      </p:pic>
      <p:sp>
        <p:nvSpPr>
          <p:cNvPr id="9" name="말풍선: 모서리가 둥근 사각형 8">
            <a:extLst>
              <a:ext uri="{FF2B5EF4-FFF2-40B4-BE49-F238E27FC236}">
                <a16:creationId xmlns:a16="http://schemas.microsoft.com/office/drawing/2014/main" id="{21A82588-B497-924B-1FD3-1182BA2BD7E0}"/>
              </a:ext>
            </a:extLst>
          </p:cNvPr>
          <p:cNvSpPr/>
          <p:nvPr/>
        </p:nvSpPr>
        <p:spPr>
          <a:xfrm>
            <a:off x="3276600" y="507260"/>
            <a:ext cx="5410200" cy="990600"/>
          </a:xfrm>
          <a:prstGeom prst="wedgeRoundRectCallout">
            <a:avLst>
              <a:gd name="adj1" fmla="val -59199"/>
              <a:gd name="adj2" fmla="val -275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FNN</a:t>
            </a:r>
            <a:r>
              <a:rPr lang="ko-KR" altLang="en-US" sz="1600" dirty="0"/>
              <a:t>에서 </a:t>
            </a:r>
            <a:r>
              <a:rPr lang="en-US" altLang="ko-KR" sz="1600" dirty="0"/>
              <a:t>Batch Normalization</a:t>
            </a:r>
            <a:r>
              <a:rPr lang="ko-KR" altLang="en-US" sz="1600" dirty="0"/>
              <a:t>을 하는 이유가 </a:t>
            </a:r>
            <a:r>
              <a:rPr lang="ko-KR" altLang="en-US" sz="1600" dirty="0" err="1"/>
              <a:t>뭐죠</a:t>
            </a:r>
            <a:r>
              <a:rPr lang="en-US" altLang="ko-KR" sz="1600" dirty="0"/>
              <a:t>?</a:t>
            </a:r>
            <a:endParaRPr lang="ko-KR" alt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C58FE8-30F3-E92A-949D-A276DD573997}"/>
              </a:ext>
            </a:extLst>
          </p:cNvPr>
          <p:cNvSpPr txBox="1"/>
          <p:nvPr/>
        </p:nvSpPr>
        <p:spPr>
          <a:xfrm>
            <a:off x="2151297" y="2952750"/>
            <a:ext cx="6218370" cy="8715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/>
              <a:t>“</a:t>
            </a:r>
            <a:r>
              <a:rPr lang="ko-KR" altLang="en-US" b="1" dirty="0"/>
              <a:t>내부적 분산의 변화를 최소화 하여 </a:t>
            </a:r>
            <a:endParaRPr lang="en-US" altLang="ko-KR" b="1" dirty="0"/>
          </a:p>
          <a:p>
            <a:pPr algn="ctr">
              <a:lnSpc>
                <a:spcPct val="150000"/>
              </a:lnSpc>
            </a:pPr>
            <a:r>
              <a:rPr lang="ko-KR" altLang="en-US" b="1" dirty="0"/>
              <a:t>모델의 학습 속도를 향상시키기 위해서 </a:t>
            </a:r>
            <a:r>
              <a:rPr lang="en-US" altLang="ko-KR" b="1" dirty="0"/>
              <a:t>BN</a:t>
            </a:r>
            <a:r>
              <a:rPr lang="ko-KR" altLang="en-US" b="1" dirty="0"/>
              <a:t>을 적용합니다</a:t>
            </a:r>
            <a:r>
              <a:rPr lang="en-US" altLang="ko-KR" b="1" dirty="0"/>
              <a:t>.”</a:t>
            </a:r>
            <a:r>
              <a:rPr lang="ko-KR" altLang="en-US" b="1" dirty="0"/>
              <a:t> 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21D4D55-6F9E-8062-CE52-F8C46625353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20089134">
            <a:off x="3665703" y="1062678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744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4B32B-C328-8E23-CCD6-D3C473428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807AEF2-C0BC-D9DE-2B37-6D47516518E8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DBFA3071-CA94-3144-87D8-B0BF0194B337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90AC3B7-09F9-D873-3F68-644C837D32C9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DCA68F68-4CA3-75A5-81D3-0CBCC6576BC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  <p:sp>
        <p:nvSpPr>
          <p:cNvPr id="7" name="object 6">
            <a:extLst>
              <a:ext uri="{FF2B5EF4-FFF2-40B4-BE49-F238E27FC236}">
                <a16:creationId xmlns:a16="http://schemas.microsoft.com/office/drawing/2014/main" id="{033C6A2F-BB75-2CB0-BFC0-88A482B558EE}"/>
              </a:ext>
            </a:extLst>
          </p:cNvPr>
          <p:cNvSpPr txBox="1"/>
          <p:nvPr/>
        </p:nvSpPr>
        <p:spPr>
          <a:xfrm>
            <a:off x="1316531" y="133350"/>
            <a:ext cx="5826226" cy="495007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lang="en-US" altLang="ko-KR" sz="2400" b="1" dirty="0">
                <a:solidFill>
                  <a:srgbClr val="19264B"/>
                </a:solidFill>
                <a:latin typeface="Arial"/>
                <a:cs typeface="Arial"/>
              </a:rPr>
              <a:t>Batch Normalization</a:t>
            </a:r>
            <a:endParaRPr lang="ko-KR" altLang="en-US" sz="1400" dirty="0">
              <a:latin typeface="Arial MT"/>
              <a:cs typeface="Arial MT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64093AF-0C82-18AF-5612-98C8B5FB60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770964"/>
            <a:ext cx="6648071" cy="1784364"/>
          </a:xfrm>
          <a:prstGeom prst="rect">
            <a:avLst/>
          </a:prstGeom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06AF15C-803E-2158-A8D7-6130B74CB0AE}"/>
              </a:ext>
            </a:extLst>
          </p:cNvPr>
          <p:cNvCxnSpPr/>
          <p:nvPr/>
        </p:nvCxnSpPr>
        <p:spPr>
          <a:xfrm>
            <a:off x="3810000" y="1962150"/>
            <a:ext cx="2667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37F48FC-0022-7BEA-9923-482219438B9A}"/>
              </a:ext>
            </a:extLst>
          </p:cNvPr>
          <p:cNvSpPr txBox="1"/>
          <p:nvPr/>
        </p:nvSpPr>
        <p:spPr>
          <a:xfrm>
            <a:off x="1600200" y="3643230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Weight Initialization(He, Xavier)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895349-A498-B639-B737-B23D080F466B}"/>
              </a:ext>
            </a:extLst>
          </p:cNvPr>
          <p:cNvSpPr txBox="1"/>
          <p:nvPr/>
        </p:nvSpPr>
        <p:spPr>
          <a:xfrm>
            <a:off x="6248400" y="3639946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Covariate shift </a:t>
            </a:r>
            <a:r>
              <a:rPr lang="ko-KR" altLang="en-US" dirty="0"/>
              <a:t>안정화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DBFAF3F4-FC57-3C15-4DDD-11B96A0C9DC8}"/>
              </a:ext>
            </a:extLst>
          </p:cNvPr>
          <p:cNvCxnSpPr>
            <a:stCxn id="15" idx="1"/>
          </p:cNvCxnSpPr>
          <p:nvPr/>
        </p:nvCxnSpPr>
        <p:spPr>
          <a:xfrm flipH="1">
            <a:off x="5105400" y="3824612"/>
            <a:ext cx="1143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5143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DA951-7D24-0D11-A522-C8378DA20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A4A15AF-3BBC-AB3F-E991-12EC4F0646BF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37D8D4BA-258F-54BB-EE0B-BF70E8B475DB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8E13F73-5207-0198-F2A0-5166D2756FA3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4089D55E-6E6C-64C6-1FD5-1A6F55EB108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  <p:pic>
        <p:nvPicPr>
          <p:cNvPr id="7" name="그림 6" descr="중앙대학교 AI학과 이재성 - 김박사넷">
            <a:extLst>
              <a:ext uri="{FF2B5EF4-FFF2-40B4-BE49-F238E27FC236}">
                <a16:creationId xmlns:a16="http://schemas.microsoft.com/office/drawing/2014/main" id="{16A61802-A587-E2B2-9109-76E30C548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0" y="361950"/>
            <a:ext cx="969640" cy="1281221"/>
          </a:xfrm>
          <a:prstGeom prst="rect">
            <a:avLst/>
          </a:prstGeom>
        </p:spPr>
      </p:pic>
      <p:sp>
        <p:nvSpPr>
          <p:cNvPr id="9" name="말풍선: 모서리가 둥근 사각형 8">
            <a:extLst>
              <a:ext uri="{FF2B5EF4-FFF2-40B4-BE49-F238E27FC236}">
                <a16:creationId xmlns:a16="http://schemas.microsoft.com/office/drawing/2014/main" id="{80EFB1E2-9FEB-C952-F910-4B2BE3C8923A}"/>
              </a:ext>
            </a:extLst>
          </p:cNvPr>
          <p:cNvSpPr/>
          <p:nvPr/>
        </p:nvSpPr>
        <p:spPr>
          <a:xfrm>
            <a:off x="3276600" y="507260"/>
            <a:ext cx="5410200" cy="990600"/>
          </a:xfrm>
          <a:prstGeom prst="wedgeRoundRectCallout">
            <a:avLst>
              <a:gd name="adj1" fmla="val -59199"/>
              <a:gd name="adj2" fmla="val -275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FNN</a:t>
            </a:r>
            <a:r>
              <a:rPr lang="ko-KR" altLang="en-US" sz="1600" dirty="0"/>
              <a:t>에서 </a:t>
            </a:r>
            <a:r>
              <a:rPr lang="en-US" altLang="ko-KR" sz="1600" dirty="0"/>
              <a:t>Batch Normalization</a:t>
            </a:r>
            <a:r>
              <a:rPr lang="ko-KR" altLang="en-US" sz="1600" dirty="0"/>
              <a:t>을 하는 이유가 </a:t>
            </a:r>
            <a:r>
              <a:rPr lang="ko-KR" altLang="en-US" sz="1600" dirty="0" err="1"/>
              <a:t>뭐죠</a:t>
            </a:r>
            <a:r>
              <a:rPr lang="en-US" altLang="ko-KR" sz="1600" dirty="0"/>
              <a:t>?</a:t>
            </a:r>
            <a:endParaRPr lang="ko-KR" alt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9B92B4-94A3-ABA0-6622-E1C4D5A7F7D0}"/>
              </a:ext>
            </a:extLst>
          </p:cNvPr>
          <p:cNvSpPr txBox="1"/>
          <p:nvPr/>
        </p:nvSpPr>
        <p:spPr>
          <a:xfrm>
            <a:off x="1646918" y="3333750"/>
            <a:ext cx="7263527" cy="8715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/>
              <a:t>“</a:t>
            </a:r>
            <a:r>
              <a:rPr lang="ko-KR" altLang="ko-KR" b="1" dirty="0"/>
              <a:t>각 층의 입력 분포와 스케일을 안정적으로 유지해 </a:t>
            </a:r>
            <a:endParaRPr lang="en-US" altLang="ko-KR" b="1" dirty="0"/>
          </a:p>
          <a:p>
            <a:pPr algn="ctr">
              <a:lnSpc>
                <a:spcPct val="150000"/>
              </a:lnSpc>
            </a:pPr>
            <a:r>
              <a:rPr lang="ko-KR" altLang="ko-KR" b="1" dirty="0" err="1"/>
              <a:t>gradient</a:t>
            </a:r>
            <a:r>
              <a:rPr lang="ko-KR" altLang="ko-KR" b="1" dirty="0"/>
              <a:t> 흐름을 개선하고 학습을 더 빠르고 안정적으로 만들기 위해</a:t>
            </a:r>
            <a:r>
              <a:rPr lang="en-US" altLang="ko-KR" b="1" dirty="0"/>
              <a:t>”</a:t>
            </a:r>
            <a:endParaRPr lang="ko-KR" altLang="en-US" b="1" dirty="0"/>
          </a:p>
        </p:txBody>
      </p:sp>
      <p:pic>
        <p:nvPicPr>
          <p:cNvPr id="12" name="그림 11" descr="1077 칭찬스탬프 선생님 확인도장 트로닷 원형 자동스탬프 제작">
            <a:extLst>
              <a:ext uri="{FF2B5EF4-FFF2-40B4-BE49-F238E27FC236}">
                <a16:creationId xmlns:a16="http://schemas.microsoft.com/office/drawing/2014/main" id="{115880EB-C9BB-520D-1CC5-B4DCB96EFE1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19997599">
            <a:off x="2869227" y="643430"/>
            <a:ext cx="3860581" cy="386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800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D087D-BCD2-3617-75E6-9DF64E7F5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52AC6A8-35E3-FCE6-A561-AD28AEE3C943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74DD6F8A-590B-4680-65AE-0BC35DBFC307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9E4D8C0-0809-F6AC-F320-00BC077D0D31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9F07113B-0AEE-F891-A023-9D9626BFBCC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  <p:sp>
        <p:nvSpPr>
          <p:cNvPr id="8" name="object 6">
            <a:extLst>
              <a:ext uri="{FF2B5EF4-FFF2-40B4-BE49-F238E27FC236}">
                <a16:creationId xmlns:a16="http://schemas.microsoft.com/office/drawing/2014/main" id="{A76C8D87-59B9-E672-806D-0549C32B478F}"/>
              </a:ext>
            </a:extLst>
          </p:cNvPr>
          <p:cNvSpPr txBox="1"/>
          <p:nvPr/>
        </p:nvSpPr>
        <p:spPr>
          <a:xfrm>
            <a:off x="1316531" y="133350"/>
            <a:ext cx="5826226" cy="495007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lang="en-US" altLang="ko-KR" sz="2400" b="1" dirty="0">
                <a:solidFill>
                  <a:srgbClr val="19264B"/>
                </a:solidFill>
                <a:latin typeface="Arial"/>
                <a:cs typeface="Arial"/>
              </a:rPr>
              <a:t>Post Normalization</a:t>
            </a:r>
            <a:endParaRPr lang="ko-KR" altLang="en-US" sz="1400" dirty="0">
              <a:latin typeface="Arial MT"/>
              <a:cs typeface="Arial MT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618D21B-0B7E-2354-5296-8E77284258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1047750"/>
            <a:ext cx="2411820" cy="36221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B009CEB-D124-F1E1-850C-C8067125687B}"/>
                  </a:ext>
                </a:extLst>
              </p:cNvPr>
              <p:cNvSpPr txBox="1"/>
              <p:nvPr/>
            </p:nvSpPr>
            <p:spPr>
              <a:xfrm>
                <a:off x="4265036" y="1404767"/>
                <a:ext cx="4572000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ko-KR" alt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ko-KR" altLang="en-US" i="0">
                          <a:latin typeface="Cambria Math" panose="02040503050406030204" pitchFamily="18" charset="0"/>
                        </a:rPr>
                        <m:t>LayerNorm</m:t>
                      </m:r>
                      <m:d>
                        <m:d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ko-KR" altLang="en-US" i="0">
                              <a:latin typeface="Cambria Math" panose="02040503050406030204" pitchFamily="18" charset="0"/>
                            </a:rPr>
                            <m:t>SubLayer</m:t>
                          </m:r>
                          <m:d>
                            <m:dPr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B009CEB-D124-F1E1-850C-C80671256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5036" y="1404767"/>
                <a:ext cx="4572000" cy="404983"/>
              </a:xfrm>
              <a:prstGeom prst="rect">
                <a:avLst/>
              </a:prstGeom>
              <a:blipFill>
                <a:blip r:embed="rId5"/>
                <a:stretch>
                  <a:fillRect b="-89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A06FB6D9-ABE9-72E9-CE90-F4F0FC137AEA}"/>
              </a:ext>
            </a:extLst>
          </p:cNvPr>
          <p:cNvCxnSpPr>
            <a:cxnSpLocks/>
          </p:cNvCxnSpPr>
          <p:nvPr/>
        </p:nvCxnSpPr>
        <p:spPr>
          <a:xfrm flipV="1">
            <a:off x="4481651" y="2405526"/>
            <a:ext cx="434671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83C2359-BB6C-B933-0129-545A88E430A3}"/>
              </a:ext>
            </a:extLst>
          </p:cNvPr>
          <p:cNvSpPr txBox="1"/>
          <p:nvPr/>
        </p:nvSpPr>
        <p:spPr>
          <a:xfrm>
            <a:off x="8063290" y="2116643"/>
            <a:ext cx="7473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Forward</a:t>
            </a:r>
            <a:endParaRPr lang="ko-KR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3B32D7B-EC44-FBBB-EF2C-37AAC5AF9842}"/>
                  </a:ext>
                </a:extLst>
              </p:cNvPr>
              <p:cNvSpPr txBox="1"/>
              <p:nvPr/>
            </p:nvSpPr>
            <p:spPr>
              <a:xfrm>
                <a:off x="3034710" y="3031728"/>
                <a:ext cx="7086600" cy="835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ko-KR" altLang="en-US" sz="1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5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ko-KR" altLang="en-US" sz="15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ko-KR" altLang="en-US" sz="15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ko-KR" altLang="en-US" sz="15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ko-KR" altLang="en-US" sz="15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sz="1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500" i="1">
                              <a:latin typeface="Cambria Math" panose="02040503050406030204" pitchFamily="18" charset="0"/>
                            </a:rPr>
                            <m:t>𝛾</m:t>
                          </m:r>
                        </m:num>
                        <m:den>
                          <m:r>
                            <a:rPr lang="ko-KR" altLang="en-US" sz="1500" i="1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r>
                        <a:rPr lang="ko-KR" altLang="en-US" sz="1500" i="0">
                          <a:latin typeface="Cambria Math" panose="02040503050406030204" pitchFamily="18" charset="0"/>
                        </a:rPr>
                        <m:t>⊙</m:t>
                      </m:r>
                      <m:d>
                        <m:dPr>
                          <m:ctrlPr>
                            <a:rPr lang="ko-KR" altLang="en-US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ko-KR" altLang="en-US" sz="15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15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ko-KR" altLang="en-US" sz="15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ko-KR" altLang="en-US" sz="15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ko-KR" altLang="en-US" sz="15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  <m:r>
                            <a:rPr lang="ko-KR" altLang="en-US" sz="1500" i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ko-KR" altLang="en-US" sz="1500" i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en-US" sz="15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ko-KR" altLang="en-US" sz="15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ko-KR" altLang="en-US" sz="15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ko-KR" altLang="en-US" sz="15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ko-KR" altLang="en-US" sz="1500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ko-KR" altLang="en-US" sz="15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ko-KR" altLang="en-US" sz="15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ko-KR" altLang="en-US" sz="1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ko-KR" altLang="en-US" sz="15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ko-KR" altLang="en-US" sz="15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num>
                                    <m:den>
                                      <m:r>
                                        <a:rPr lang="ko-KR" altLang="en-US" sz="15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ko-KR" altLang="en-US" sz="15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den>
                                  </m:f>
                                </m:e>
                              </m:d>
                            </m:e>
                          </m:nary>
                          <m:r>
                            <a:rPr lang="ko-KR" altLang="en-US" sz="1500" i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ˆ"/>
                              <m:ctrlPr>
                                <a:rPr lang="ko-KR" altLang="en-US" sz="15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15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ko-KR" altLang="en-US" sz="1500" i="0">
                              <a:latin typeface="Cambria Math" panose="02040503050406030204" pitchFamily="18" charset="0"/>
                            </a:rPr>
                            <m:t>⊙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ko-KR" altLang="en-US" sz="1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ko-KR" altLang="en-US" sz="1500" i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sz="15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ko-KR" altLang="en-US" sz="15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ko-KR" altLang="en-US" sz="15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ko-KR" altLang="en-US" sz="15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ko-KR" altLang="en-US" sz="1500" i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ko-KR" altLang="en-US" sz="15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p>
                                <m:e>
                                  <m:d>
                                    <m:dPr>
                                      <m:ctrlPr>
                                        <a:rPr lang="ko-KR" altLang="en-US" sz="1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ko-KR" altLang="en-US" sz="15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ko-KR" altLang="en-US" sz="1500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ko-KR" altLang="en-US" sz="1500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num>
                                        <m:den>
                                          <m:r>
                                            <a:rPr lang="ko-KR" altLang="en-US" sz="1500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ko-KR" altLang="en-US" sz="15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den>
                                      </m:f>
                                      <m:r>
                                        <a:rPr lang="ko-KR" altLang="en-US" sz="1500" i="0">
                                          <a:latin typeface="Cambria Math" panose="02040503050406030204" pitchFamily="18" charset="0"/>
                                        </a:rPr>
                                        <m:t>⊙</m:t>
                                      </m:r>
                                      <m:acc>
                                        <m:accPr>
                                          <m:chr m:val="ˆ"/>
                                          <m:ctrlPr>
                                            <a:rPr lang="ko-KR" altLang="en-US" sz="15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ko-KR" altLang="en-US" sz="15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</m:d>
                    </m:oMath>
                  </m:oMathPara>
                </a14:m>
                <a:endParaRPr lang="ko-KR" altLang="ko-KR" sz="1500" dirty="0">
                  <a:effectLst/>
                  <a:latin typeface="Google Sans Tex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3B32D7B-EC44-FBBB-EF2C-37AAC5AF98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4710" y="3031728"/>
                <a:ext cx="7086600" cy="83542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05ABB2A2-09BD-92EF-0AEA-D593ED6E86C2}"/>
              </a:ext>
            </a:extLst>
          </p:cNvPr>
          <p:cNvSpPr txBox="1"/>
          <p:nvPr/>
        </p:nvSpPr>
        <p:spPr>
          <a:xfrm>
            <a:off x="8063290" y="2523351"/>
            <a:ext cx="51357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Backward</a:t>
            </a:r>
            <a:endParaRPr lang="ko-KR" alt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268455-A582-F39C-046B-96A7DA817E06}"/>
              </a:ext>
            </a:extLst>
          </p:cNvPr>
          <p:cNvSpPr txBox="1"/>
          <p:nvPr/>
        </p:nvSpPr>
        <p:spPr>
          <a:xfrm>
            <a:off x="5193933" y="4235616"/>
            <a:ext cx="27142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표준편차로 거듭해서 </a:t>
            </a:r>
            <a:r>
              <a:rPr lang="ko-KR" altLang="en-US" sz="1400" dirty="0" err="1">
                <a:sym typeface="Wingdings" panose="05000000000000000000" pitchFamily="2" charset="2"/>
              </a:rPr>
              <a:t>나눠짐</a:t>
            </a:r>
            <a:r>
              <a:rPr lang="en-US" altLang="ko-KR" sz="1400" dirty="0">
                <a:sym typeface="Wingdings" panose="05000000000000000000" pitchFamily="2" charset="2"/>
              </a:rPr>
              <a:t> 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37139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E221C-7EDC-8CA4-C4F5-0D13D3A43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19E5989F-7262-03D9-4FF0-770805E41C2F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C05B320F-9B44-20D3-5C5B-BDC92960F97D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FB2E424-E433-EC81-1BC8-C272C6B7067B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974455CC-613C-0D2E-EA51-79B71ED32F7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  <p:sp>
        <p:nvSpPr>
          <p:cNvPr id="7" name="object 6">
            <a:extLst>
              <a:ext uri="{FF2B5EF4-FFF2-40B4-BE49-F238E27FC236}">
                <a16:creationId xmlns:a16="http://schemas.microsoft.com/office/drawing/2014/main" id="{FA8CD81B-0461-4E0B-F2A2-FEE5CA148195}"/>
              </a:ext>
            </a:extLst>
          </p:cNvPr>
          <p:cNvSpPr txBox="1"/>
          <p:nvPr/>
        </p:nvSpPr>
        <p:spPr>
          <a:xfrm>
            <a:off x="1316531" y="133350"/>
            <a:ext cx="5826226" cy="495007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lang="en-US" altLang="ko-KR" sz="2400" b="1" dirty="0">
                <a:solidFill>
                  <a:srgbClr val="19264B"/>
                </a:solidFill>
                <a:latin typeface="Arial"/>
                <a:cs typeface="Arial"/>
              </a:rPr>
              <a:t>Post Normalization</a:t>
            </a:r>
            <a:endParaRPr lang="ko-KR" altLang="en-US" sz="1400" dirty="0">
              <a:latin typeface="Arial MT"/>
              <a:cs typeface="Arial MT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D78B3CF-8EEE-FCE1-6498-F83EE52E1F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438400" y="1200150"/>
            <a:ext cx="5492192" cy="25414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2F06208F-D707-5334-96B5-D701498B3ED0}"/>
                  </a:ext>
                </a:extLst>
              </p14:cNvPr>
              <p14:cNvContentPartPr/>
              <p14:nvPr/>
            </p14:nvContentPartPr>
            <p14:xfrm>
              <a:off x="3391137" y="3284399"/>
              <a:ext cx="3909240" cy="160740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2F06208F-D707-5334-96B5-D701498B3ED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85017" y="3278279"/>
                <a:ext cx="3921480" cy="161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A5699609-698C-19D6-84A5-72C0F1254800}"/>
                  </a:ext>
                </a:extLst>
              </p14:cNvPr>
              <p14:cNvContentPartPr/>
              <p14:nvPr/>
            </p14:nvContentPartPr>
            <p14:xfrm>
              <a:off x="-666063" y="949799"/>
              <a:ext cx="360" cy="36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A5699609-698C-19D6-84A5-72C0F125480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672183" y="943679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5101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4C9DE-DB1F-EBFE-3652-2AD24DC72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1E6A7FD-227F-6169-DE97-867054345B0B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7DDA5C23-0212-F52C-99F8-D45A35FBE586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5BEFD16-8FB5-D3E4-4190-9F48F953C6D4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8D84DF4B-5117-4B89-E93F-D221CD714D7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54B8F061-2D72-EFCE-D5A1-0361CE6357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1230435"/>
            <a:ext cx="6424217" cy="225571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FDD4FFB9-D536-F60F-0E2D-8E774316AE23}"/>
                  </a:ext>
                </a:extLst>
              </p14:cNvPr>
              <p14:cNvContentPartPr/>
              <p14:nvPr/>
            </p14:nvContentPartPr>
            <p14:xfrm>
              <a:off x="-1553823" y="1384679"/>
              <a:ext cx="360" cy="36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FDD4FFB9-D536-F60F-0E2D-8E774316AE2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1559943" y="1378559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object 6">
            <a:extLst>
              <a:ext uri="{FF2B5EF4-FFF2-40B4-BE49-F238E27FC236}">
                <a16:creationId xmlns:a16="http://schemas.microsoft.com/office/drawing/2014/main" id="{95A28E9A-C918-BE7C-C5E7-F64C8BAAA88B}"/>
              </a:ext>
            </a:extLst>
          </p:cNvPr>
          <p:cNvSpPr txBox="1"/>
          <p:nvPr/>
        </p:nvSpPr>
        <p:spPr>
          <a:xfrm>
            <a:off x="1316531" y="133350"/>
            <a:ext cx="5826226" cy="495007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lang="en-US" altLang="ko-KR" sz="2400" b="1" dirty="0">
                <a:solidFill>
                  <a:srgbClr val="19264B"/>
                </a:solidFill>
                <a:latin typeface="Arial"/>
                <a:cs typeface="Arial"/>
              </a:rPr>
              <a:t>Learning Rate Warming-up</a:t>
            </a:r>
            <a:endParaRPr lang="ko-KR" altLang="en-US" sz="1400" dirty="0">
              <a:latin typeface="Arial MT"/>
              <a:cs typeface="Arial M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FEB914-3874-931D-0EA9-AE55ACB7847E}"/>
              </a:ext>
            </a:extLst>
          </p:cNvPr>
          <p:cNvSpPr txBox="1"/>
          <p:nvPr/>
        </p:nvSpPr>
        <p:spPr>
          <a:xfrm>
            <a:off x="2829405" y="3867150"/>
            <a:ext cx="4423006" cy="872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/>
              <a:t>Bottleneck On Hyperparameter Tuning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/>
              <a:t>Can’t Train When It’s Deep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1428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A472B-3E7A-242D-15CA-79DB22E63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2BCE6CA3-EFDC-6B62-EEC2-AF907444984A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8410411F-5B71-D257-38FB-F86ABF692C6E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AF43401-ECB4-AF06-6B64-AC3274EC4EB4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4CB6191C-8357-6506-D99C-735D7EBA332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4BA1B8A3-409F-9071-C81F-4796E7349D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1042370"/>
            <a:ext cx="2411820" cy="36221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FE4247-16F4-BC61-8294-3035DD4BEBB0}"/>
                  </a:ext>
                </a:extLst>
              </p:cNvPr>
              <p:cNvSpPr txBox="1"/>
              <p:nvPr/>
            </p:nvSpPr>
            <p:spPr>
              <a:xfrm>
                <a:off x="4417436" y="2495550"/>
                <a:ext cx="4572000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ko-KR" alt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ko-KR" altLang="en-US" i="0">
                          <a:latin typeface="Cambria Math" panose="02040503050406030204" pitchFamily="18" charset="0"/>
                        </a:rPr>
                        <m:t>LayerNorm</m:t>
                      </m:r>
                      <m:d>
                        <m:d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ko-KR" altLang="en-US" i="0">
                              <a:latin typeface="Cambria Math" panose="02040503050406030204" pitchFamily="18" charset="0"/>
                            </a:rPr>
                            <m:t>SubLayer</m:t>
                          </m:r>
                          <m:d>
                            <m:dPr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FE4247-16F4-BC61-8294-3035DD4BE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7436" y="2495550"/>
                <a:ext cx="4572000" cy="404983"/>
              </a:xfrm>
              <a:prstGeom prst="rect">
                <a:avLst/>
              </a:prstGeom>
              <a:blipFill>
                <a:blip r:embed="rId5"/>
                <a:stretch>
                  <a:fillRect b="-89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타원 9">
            <a:extLst>
              <a:ext uri="{FF2B5EF4-FFF2-40B4-BE49-F238E27FC236}">
                <a16:creationId xmlns:a16="http://schemas.microsoft.com/office/drawing/2014/main" id="{8407DDB1-9AD1-BFE4-16F6-F51C0B2E6F5D}"/>
              </a:ext>
            </a:extLst>
          </p:cNvPr>
          <p:cNvSpPr/>
          <p:nvPr/>
        </p:nvSpPr>
        <p:spPr>
          <a:xfrm>
            <a:off x="2133600" y="2343150"/>
            <a:ext cx="457200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3161DB-9FFA-D881-78A6-44B03CDCC996}"/>
              </a:ext>
            </a:extLst>
          </p:cNvPr>
          <p:cNvSpPr txBox="1"/>
          <p:nvPr/>
        </p:nvSpPr>
        <p:spPr>
          <a:xfrm>
            <a:off x="1860483" y="1805285"/>
            <a:ext cx="9589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/>
              <a:t>Residuel</a:t>
            </a:r>
            <a:endParaRPr lang="en-US" altLang="ko-KR" sz="1200" dirty="0"/>
          </a:p>
          <a:p>
            <a:r>
              <a:rPr lang="en-US" altLang="ko-KR" sz="1200" dirty="0"/>
              <a:t>Connection</a:t>
            </a:r>
            <a:endParaRPr lang="ko-KR" altLang="en-US" sz="1200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31B570E2-3ADF-411F-C1A4-2A203236AE70}"/>
              </a:ext>
            </a:extLst>
          </p:cNvPr>
          <p:cNvSpPr/>
          <p:nvPr/>
        </p:nvSpPr>
        <p:spPr>
          <a:xfrm>
            <a:off x="6553200" y="2495550"/>
            <a:ext cx="457200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object 6">
            <a:extLst>
              <a:ext uri="{FF2B5EF4-FFF2-40B4-BE49-F238E27FC236}">
                <a16:creationId xmlns:a16="http://schemas.microsoft.com/office/drawing/2014/main" id="{74A070C2-F8FC-7C46-4D39-9B44C608B0CC}"/>
              </a:ext>
            </a:extLst>
          </p:cNvPr>
          <p:cNvSpPr txBox="1"/>
          <p:nvPr/>
        </p:nvSpPr>
        <p:spPr>
          <a:xfrm>
            <a:off x="1316531" y="133350"/>
            <a:ext cx="5826226" cy="495007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lang="en-US" altLang="ko-KR" sz="2400" b="1" dirty="0">
                <a:solidFill>
                  <a:srgbClr val="19264B"/>
                </a:solidFill>
                <a:latin typeface="Arial"/>
                <a:cs typeface="Arial"/>
              </a:rPr>
              <a:t>Post Normalization</a:t>
            </a:r>
            <a:endParaRPr lang="ko-KR" altLang="en-US" sz="14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656053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FF519-5EB8-3BAC-E52A-09B745F94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83BCF9E1-D6A5-A44C-38C1-367BE2D118B3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3DACE3D1-85BD-0D04-7F75-68875B2A1DD5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C840EFC-99B7-8C9B-2C82-AB28DD9AB2FC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2D3072EE-C8D8-892F-5FDA-0AD66DA191D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0EAC8016-C3C6-429F-E408-D9309F8B22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0313" y="1095069"/>
            <a:ext cx="2596487" cy="3457881"/>
          </a:xfrm>
          <a:prstGeom prst="rect">
            <a:avLst/>
          </a:prstGeom>
        </p:spPr>
      </p:pic>
      <p:sp>
        <p:nvSpPr>
          <p:cNvPr id="17" name="object 6">
            <a:extLst>
              <a:ext uri="{FF2B5EF4-FFF2-40B4-BE49-F238E27FC236}">
                <a16:creationId xmlns:a16="http://schemas.microsoft.com/office/drawing/2014/main" id="{981BD4A3-8F71-5001-1089-6CBCD126EB38}"/>
              </a:ext>
            </a:extLst>
          </p:cNvPr>
          <p:cNvSpPr txBox="1"/>
          <p:nvPr/>
        </p:nvSpPr>
        <p:spPr>
          <a:xfrm>
            <a:off x="1316531" y="133350"/>
            <a:ext cx="5826226" cy="495007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lang="en-US" altLang="ko-KR" sz="2400" b="1" dirty="0">
                <a:solidFill>
                  <a:srgbClr val="19264B"/>
                </a:solidFill>
                <a:latin typeface="Arial"/>
                <a:cs typeface="Arial"/>
              </a:rPr>
              <a:t>GPT-2 Architecture </a:t>
            </a:r>
            <a:endParaRPr lang="ko-KR" altLang="en-US" sz="1400" dirty="0">
              <a:latin typeface="Arial MT"/>
              <a:cs typeface="Arial MT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B9013E46-435D-37E0-EDAB-0F6D875846DA}"/>
              </a:ext>
            </a:extLst>
          </p:cNvPr>
          <p:cNvSpPr/>
          <p:nvPr/>
        </p:nvSpPr>
        <p:spPr>
          <a:xfrm>
            <a:off x="2438400" y="1809750"/>
            <a:ext cx="990600" cy="1752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AD1801-D9A8-3854-A435-5231CE22D7B5}"/>
              </a:ext>
            </a:extLst>
          </p:cNvPr>
          <p:cNvSpPr txBox="1"/>
          <p:nvPr/>
        </p:nvSpPr>
        <p:spPr>
          <a:xfrm>
            <a:off x="5341475" y="1574848"/>
            <a:ext cx="3044423" cy="22224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dirty="0"/>
              <a:t>Decoder Only Model</a:t>
            </a:r>
          </a:p>
          <a:p>
            <a:pPr marL="342900" indent="-342900" algn="l">
              <a:lnSpc>
                <a:spcPct val="200000"/>
              </a:lnSpc>
              <a:buAutoNum type="arabicPeriod"/>
            </a:pPr>
            <a:r>
              <a:rPr lang="en-US" altLang="ko-KR" u="sng" dirty="0"/>
              <a:t>Pre-Layer Norm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u="sng" dirty="0"/>
              <a:t>Output Normalization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dirty="0"/>
              <a:t>Initial</a:t>
            </a:r>
            <a:r>
              <a:rPr lang="ko-KR" altLang="en-US" dirty="0"/>
              <a:t> </a:t>
            </a:r>
            <a:r>
              <a:rPr lang="en-US" altLang="ko-KR" dirty="0"/>
              <a:t>Weight Downscale</a:t>
            </a:r>
          </a:p>
        </p:txBody>
      </p:sp>
    </p:spTree>
    <p:extLst>
      <p:ext uri="{BB962C8B-B14F-4D97-AF65-F5344CB8AC3E}">
        <p14:creationId xmlns:p14="http://schemas.microsoft.com/office/powerpoint/2010/main" val="2811618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20858-30D1-58B3-499B-4191F624B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8DAFF09-AE36-87A0-3835-05AC2A8F64AB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371D6CDB-2365-3430-3494-075FE0F74873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B08211D-AF5C-B124-33DD-AC24BEFA2098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4C846F89-F3C8-3C4F-5C66-B8F74C0E08C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F3276C4E-AB0F-5C1A-545C-20017E298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0313" y="1095069"/>
            <a:ext cx="2596487" cy="3457881"/>
          </a:xfrm>
          <a:prstGeom prst="rect">
            <a:avLst/>
          </a:prstGeom>
        </p:spPr>
      </p:pic>
      <p:sp>
        <p:nvSpPr>
          <p:cNvPr id="9" name="object 6">
            <a:extLst>
              <a:ext uri="{FF2B5EF4-FFF2-40B4-BE49-F238E27FC236}">
                <a16:creationId xmlns:a16="http://schemas.microsoft.com/office/drawing/2014/main" id="{6F5BD297-A77F-2683-2352-AD5B4F4C68C6}"/>
              </a:ext>
            </a:extLst>
          </p:cNvPr>
          <p:cNvSpPr txBox="1"/>
          <p:nvPr/>
        </p:nvSpPr>
        <p:spPr>
          <a:xfrm>
            <a:off x="1316531" y="133350"/>
            <a:ext cx="5826226" cy="495007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lang="en-US" altLang="ko-KR" sz="2400" b="1" dirty="0">
                <a:solidFill>
                  <a:srgbClr val="19264B"/>
                </a:solidFill>
                <a:latin typeface="Arial"/>
                <a:cs typeface="Arial"/>
              </a:rPr>
              <a:t>Pre Normalization</a:t>
            </a:r>
            <a:endParaRPr lang="ko-KR" altLang="en-US" sz="1400" dirty="0">
              <a:latin typeface="Arial MT"/>
              <a:cs typeface="Arial M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35FA8E-F11F-76ED-C225-A497F23502F8}"/>
                  </a:ext>
                </a:extLst>
              </p:cNvPr>
              <p:cNvSpPr txBox="1"/>
              <p:nvPr/>
            </p:nvSpPr>
            <p:spPr>
              <a:xfrm>
                <a:off x="4256365" y="1369411"/>
                <a:ext cx="4572000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ko-KR" alt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ko-KR" alt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ko-KR" altLang="en-US" i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ko-KR" altLang="en-US" i="0">
                              <a:latin typeface="Cambria Math" panose="02040503050406030204" pitchFamily="18" charset="0"/>
                            </a:rPr>
                            <m:t>LayerNorm</m:t>
                          </m:r>
                          <m:d>
                            <m:dPr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ko-KR" altLang="ko-KR" dirty="0">
                  <a:effectLst/>
                  <a:latin typeface="Google Sans Tex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35FA8E-F11F-76ED-C225-A497F23502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6365" y="1369411"/>
                <a:ext cx="4572000" cy="404983"/>
              </a:xfrm>
              <a:prstGeom prst="rect">
                <a:avLst/>
              </a:prstGeom>
              <a:blipFill>
                <a:blip r:embed="rId5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21E318-92AF-DB9F-3E33-4200BD39279F}"/>
                  </a:ext>
                </a:extLst>
              </p:cNvPr>
              <p:cNvSpPr txBox="1"/>
              <p:nvPr/>
            </p:nvSpPr>
            <p:spPr>
              <a:xfrm>
                <a:off x="4267200" y="3262808"/>
                <a:ext cx="4572000" cy="6020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ko-KR" alt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ko-KR" alt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ko-KR" altLang="en-US" sz="16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ko-KR" altLang="en-US" sz="16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ko-KR" alt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ko-KR" altLang="en-US" sz="16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ko-KR" altLang="en-US" sz="1600" i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den>
                      </m:f>
                      <m:r>
                        <a:rPr lang="ko-KR" altLang="en-US" sz="1600" i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ko-KR" altLang="en-US" sz="1600" b="1" i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ko-KR" altLang="en-US" sz="1600" b="1" i="0">
                              <a:latin typeface="Cambria Math" panose="02040503050406030204" pitchFamily="18" charset="0"/>
                            </a:rPr>
                            <m:t>𝐉</m:t>
                          </m:r>
                        </m:e>
                        <m:sub>
                          <m:r>
                            <a:rPr lang="ko-KR" altLang="en-US" sz="1600" b="0" i="1">
                              <a:latin typeface="Cambria Math" panose="02040503050406030204" pitchFamily="18" charset="0"/>
                            </a:rPr>
                            <m:t>𝐿𝑁</m:t>
                          </m:r>
                        </m:sub>
                        <m:sup>
                          <m:r>
                            <a:rPr lang="ko-KR" altLang="en-US" sz="1600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ko-KR" altLang="en-US" sz="1600" b="0" i="0"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ko-KR" altLang="en-US" sz="1600" b="1" i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ko-KR" altLang="en-US" sz="1600" b="1" i="0">
                              <a:latin typeface="Cambria Math" panose="02040503050406030204" pitchFamily="18" charset="0"/>
                            </a:rPr>
                            <m:t>𝐉</m:t>
                          </m:r>
                        </m:e>
                        <m:sub>
                          <m:r>
                            <a:rPr lang="ko-KR" altLang="en-US" sz="1600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ko-KR" altLang="en-US" sz="1600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ko-KR" altLang="en-US" sz="1600" b="0" i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ko-KR" altLang="en-US" sz="16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600" b="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ko-KR" altLang="en-US" sz="1600" b="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ko-KR" altLang="en-US" sz="1600" b="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ko-KR" altLang="en-US" sz="16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6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ko-KR" altLang="en-US" sz="1600" b="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ko-KR" altLang="en-US" sz="1600" b="0" i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ko-KR" altLang="ko-KR" sz="1600" dirty="0">
                  <a:effectLst/>
                  <a:latin typeface="Google Sans Text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21E318-92AF-DB9F-3E33-4200BD392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3262808"/>
                <a:ext cx="4572000" cy="6020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CED3027-97F8-6B7A-CC0D-53BB262C4783}"/>
              </a:ext>
            </a:extLst>
          </p:cNvPr>
          <p:cNvCxnSpPr>
            <a:cxnSpLocks/>
          </p:cNvCxnSpPr>
          <p:nvPr/>
        </p:nvCxnSpPr>
        <p:spPr>
          <a:xfrm flipV="1">
            <a:off x="4481651" y="2405526"/>
            <a:ext cx="434671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EC86EF7-D114-1B39-E0F8-11A75293EDEB}"/>
              </a:ext>
            </a:extLst>
          </p:cNvPr>
          <p:cNvSpPr txBox="1"/>
          <p:nvPr/>
        </p:nvSpPr>
        <p:spPr>
          <a:xfrm>
            <a:off x="8063290" y="2116643"/>
            <a:ext cx="7473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Forward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8F3791-BFA6-032A-2980-9BA42709708A}"/>
              </a:ext>
            </a:extLst>
          </p:cNvPr>
          <p:cNvSpPr txBox="1"/>
          <p:nvPr/>
        </p:nvSpPr>
        <p:spPr>
          <a:xfrm>
            <a:off x="8063290" y="2523351"/>
            <a:ext cx="51357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Backward</a:t>
            </a:r>
            <a:endParaRPr lang="ko-KR" altLang="en-US" sz="1200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19C7F7EC-5D81-FDC5-C45E-C24B7A248B78}"/>
              </a:ext>
            </a:extLst>
          </p:cNvPr>
          <p:cNvSpPr/>
          <p:nvPr/>
        </p:nvSpPr>
        <p:spPr>
          <a:xfrm>
            <a:off x="6420990" y="3336379"/>
            <a:ext cx="468035" cy="45494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4241DF7-F12A-649B-568F-E6B2DC0312EF}"/>
                  </a:ext>
                </a:extLst>
              </p:cNvPr>
              <p:cNvSpPr txBox="1"/>
              <p:nvPr/>
            </p:nvSpPr>
            <p:spPr>
              <a:xfrm>
                <a:off x="3354734" y="3882056"/>
                <a:ext cx="6600546" cy="612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ko-KR" altLang="en-US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4241DF7-F12A-649B-568F-E6B2DC031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4734" y="3882056"/>
                <a:ext cx="6600546" cy="6127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7931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718E3-C5F1-4E59-A239-3865533C4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D3B5AA7B-F086-9039-E6B9-69D0CA79AE45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B1398F2D-4F31-9584-8C45-845B5B3D9F36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D010054-99E7-5458-EF67-125561926E98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7F7573F9-205F-755B-9C80-99D5FBD2BB4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48A8D906-63AD-3C39-C723-8F75B3DD5F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952181"/>
            <a:ext cx="6248400" cy="3239137"/>
          </a:xfrm>
          <a:prstGeom prst="rect">
            <a:avLst/>
          </a:prstGeom>
        </p:spPr>
      </p:pic>
      <p:sp>
        <p:nvSpPr>
          <p:cNvPr id="9" name="object 6">
            <a:extLst>
              <a:ext uri="{FF2B5EF4-FFF2-40B4-BE49-F238E27FC236}">
                <a16:creationId xmlns:a16="http://schemas.microsoft.com/office/drawing/2014/main" id="{4715BFD6-D4BF-A64A-180A-088C21404C80}"/>
              </a:ext>
            </a:extLst>
          </p:cNvPr>
          <p:cNvSpPr txBox="1"/>
          <p:nvPr/>
        </p:nvSpPr>
        <p:spPr>
          <a:xfrm>
            <a:off x="1316531" y="133350"/>
            <a:ext cx="5826226" cy="495007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lang="en-US" altLang="ko-KR" sz="2400" b="1" dirty="0">
                <a:solidFill>
                  <a:srgbClr val="19264B"/>
                </a:solidFill>
                <a:latin typeface="Arial"/>
                <a:cs typeface="Arial"/>
              </a:rPr>
              <a:t>Pre Normalization</a:t>
            </a:r>
            <a:endParaRPr lang="ko-KR" altLang="en-US" sz="1400" dirty="0">
              <a:latin typeface="Arial MT"/>
              <a:cs typeface="Arial M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FFBCF3-1FEE-1AA1-253B-A924EEA85459}"/>
              </a:ext>
            </a:extLst>
          </p:cNvPr>
          <p:cNvSpPr txBox="1"/>
          <p:nvPr/>
        </p:nvSpPr>
        <p:spPr>
          <a:xfrm>
            <a:off x="3791579" y="4476750"/>
            <a:ext cx="2627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+) Output Normalization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7770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99988-17C8-4578-A815-ED495DC32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D4D56E1-509C-DB7B-7096-A63F01E8E3AD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D123CA5D-C3B6-5F88-E42E-246B14C9D51A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E9A9707-EDEF-59F8-F466-50D489952FE2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26049FBD-DEDF-9C60-D18B-8AD9ABFFD0A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  <p:pic>
        <p:nvPicPr>
          <p:cNvPr id="7" name="그림 6" descr="중앙대학교 AI학과 이재성 - 김박사넷">
            <a:extLst>
              <a:ext uri="{FF2B5EF4-FFF2-40B4-BE49-F238E27FC236}">
                <a16:creationId xmlns:a16="http://schemas.microsoft.com/office/drawing/2014/main" id="{40DA00A4-74EE-8696-7A67-923EC26FA2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0" y="361950"/>
            <a:ext cx="969640" cy="1281221"/>
          </a:xfrm>
          <a:prstGeom prst="rect">
            <a:avLst/>
          </a:prstGeom>
        </p:spPr>
      </p:pic>
      <p:sp>
        <p:nvSpPr>
          <p:cNvPr id="9" name="말풍선: 모서리가 둥근 사각형 8">
            <a:extLst>
              <a:ext uri="{FF2B5EF4-FFF2-40B4-BE49-F238E27FC236}">
                <a16:creationId xmlns:a16="http://schemas.microsoft.com/office/drawing/2014/main" id="{BC176EAB-154C-DB35-1BB1-371AADDAA383}"/>
              </a:ext>
            </a:extLst>
          </p:cNvPr>
          <p:cNvSpPr/>
          <p:nvPr/>
        </p:nvSpPr>
        <p:spPr>
          <a:xfrm>
            <a:off x="3276600" y="507260"/>
            <a:ext cx="5410200" cy="990600"/>
          </a:xfrm>
          <a:prstGeom prst="wedgeRoundRectCallout">
            <a:avLst>
              <a:gd name="adj1" fmla="val -59199"/>
              <a:gd name="adj2" fmla="val -275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Normalization</a:t>
            </a:r>
            <a:r>
              <a:rPr lang="ko-KR" altLang="en-US" sz="1600" dirty="0"/>
              <a:t>을 </a:t>
            </a:r>
            <a:r>
              <a:rPr lang="en-US" altLang="ko-KR" sz="1600" dirty="0"/>
              <a:t>Network </a:t>
            </a:r>
            <a:r>
              <a:rPr lang="ko-KR" altLang="en-US" sz="1600" dirty="0"/>
              <a:t>이후에 적용하는 이유가 </a:t>
            </a:r>
            <a:r>
              <a:rPr lang="ko-KR" altLang="en-US" sz="1600" dirty="0" err="1"/>
              <a:t>뭐죠</a:t>
            </a:r>
            <a:r>
              <a:rPr lang="en-US" altLang="ko-KR" sz="1600" dirty="0"/>
              <a:t>?</a:t>
            </a:r>
            <a:endParaRPr lang="ko-KR" alt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A1E69C-BFB2-4D40-E6B2-FE66739FD7B5}"/>
              </a:ext>
            </a:extLst>
          </p:cNvPr>
          <p:cNvSpPr txBox="1"/>
          <p:nvPr/>
        </p:nvSpPr>
        <p:spPr>
          <a:xfrm>
            <a:off x="2514600" y="3177164"/>
            <a:ext cx="5686172" cy="8715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/>
              <a:t>“R</a:t>
            </a:r>
            <a:r>
              <a:rPr lang="ko-KR" altLang="ko-KR" b="1" dirty="0" err="1"/>
              <a:t>esidual</a:t>
            </a:r>
            <a:r>
              <a:rPr lang="ko-KR" altLang="ko-KR" b="1" dirty="0"/>
              <a:t> 경로를 </a:t>
            </a:r>
            <a:r>
              <a:rPr lang="ko-KR" altLang="ko-KR" b="1" dirty="0" err="1"/>
              <a:t>normalization</a:t>
            </a:r>
            <a:r>
              <a:rPr lang="ko-KR" altLang="ko-KR" b="1" dirty="0"/>
              <a:t> 없이 그대로 보존해 </a:t>
            </a:r>
            <a:endParaRPr lang="en-US" altLang="ko-KR" b="1" dirty="0"/>
          </a:p>
          <a:p>
            <a:pPr algn="ctr">
              <a:lnSpc>
                <a:spcPct val="150000"/>
              </a:lnSpc>
            </a:pPr>
            <a:r>
              <a:rPr lang="en-US" altLang="ko-KR" b="1" dirty="0"/>
              <a:t>G</a:t>
            </a:r>
            <a:r>
              <a:rPr lang="ko-KR" altLang="ko-KR" b="1" dirty="0" err="1"/>
              <a:t>radient가</a:t>
            </a:r>
            <a:r>
              <a:rPr lang="ko-KR" altLang="ko-KR" b="1" dirty="0"/>
              <a:t> </a:t>
            </a:r>
            <a:r>
              <a:rPr lang="ko-KR" altLang="en-US" b="1" dirty="0"/>
              <a:t>안정적으로 흐르게 하기 </a:t>
            </a:r>
            <a:r>
              <a:rPr lang="ko-KR" altLang="en-US" b="1" dirty="0" err="1"/>
              <a:t>위함</a:t>
            </a:r>
            <a:r>
              <a:rPr lang="ko-KR" altLang="ko-KR" b="1" dirty="0" err="1"/>
              <a:t>입니다</a:t>
            </a:r>
            <a:r>
              <a:rPr lang="ko-KR" altLang="ko-KR" b="1" dirty="0"/>
              <a:t>.</a:t>
            </a:r>
            <a:r>
              <a:rPr lang="en-US" altLang="ko-KR" b="1" dirty="0"/>
              <a:t>”</a:t>
            </a:r>
            <a:endParaRPr lang="ko-KR" altLang="en-US" b="1" dirty="0"/>
          </a:p>
        </p:txBody>
      </p:sp>
      <p:pic>
        <p:nvPicPr>
          <p:cNvPr id="11" name="그림 10" descr="1077 칭찬스탬프 선생님 확인도장 트로닷 원형 자동스탬프 제작">
            <a:extLst>
              <a:ext uri="{FF2B5EF4-FFF2-40B4-BE49-F238E27FC236}">
                <a16:creationId xmlns:a16="http://schemas.microsoft.com/office/drawing/2014/main" id="{697BE5BF-982B-D7A3-FDEF-8C4936D10C6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19997599">
            <a:off x="2869227" y="643430"/>
            <a:ext cx="3860581" cy="386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241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A36F1-9994-957C-0945-A4003E473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3FDAA36F-F4C3-612D-6394-6A3AC99C035A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9C7EE0BC-D028-52FE-7511-50299C956A03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17421F4-1F2D-45DF-42DF-8AE3BB9276BD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5A94DE23-5A7D-6143-AB32-537145512E0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  <p:sp>
        <p:nvSpPr>
          <p:cNvPr id="6" name="말풍선: 모서리가 둥근 사각형 5">
            <a:extLst>
              <a:ext uri="{FF2B5EF4-FFF2-40B4-BE49-F238E27FC236}">
                <a16:creationId xmlns:a16="http://schemas.microsoft.com/office/drawing/2014/main" id="{E60FF77E-6131-EADF-7540-618A30F21DC3}"/>
              </a:ext>
            </a:extLst>
          </p:cNvPr>
          <p:cNvSpPr/>
          <p:nvPr/>
        </p:nvSpPr>
        <p:spPr>
          <a:xfrm>
            <a:off x="3276600" y="1276350"/>
            <a:ext cx="3581400" cy="1676400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Can’t standard deviation adjust by itself at non-linear layer? 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6F4B30-CE90-FC33-C450-1C83F63FB352}"/>
              </a:ext>
            </a:extLst>
          </p:cNvPr>
          <p:cNvSpPr txBox="1"/>
          <p:nvPr/>
        </p:nvSpPr>
        <p:spPr>
          <a:xfrm>
            <a:off x="3124200" y="3543984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>
              <a:buNone/>
            </a:pPr>
            <a:r>
              <a:rPr lang="ko-KR" altLang="ko-KR" sz="1800" b="1" i="0" dirty="0" err="1">
                <a:effectLst/>
                <a:latin typeface="Hanken Grotesk"/>
              </a:rPr>
              <a:t>On</a:t>
            </a:r>
            <a:r>
              <a:rPr lang="ko-KR" altLang="ko-KR" sz="1800" b="1" i="0" dirty="0">
                <a:effectLst/>
                <a:latin typeface="Hanken Grotesk"/>
              </a:rPr>
              <a:t> </a:t>
            </a:r>
            <a:r>
              <a:rPr lang="ko-KR" altLang="ko-KR" sz="1800" b="1" i="0" dirty="0" err="1">
                <a:effectLst/>
                <a:latin typeface="Hanken Grotesk"/>
              </a:rPr>
              <a:t>Layer</a:t>
            </a:r>
            <a:r>
              <a:rPr lang="ko-KR" altLang="ko-KR" sz="1800" b="1" i="0" dirty="0">
                <a:effectLst/>
                <a:latin typeface="Hanken Grotesk"/>
              </a:rPr>
              <a:t> </a:t>
            </a:r>
            <a:r>
              <a:rPr lang="ko-KR" altLang="ko-KR" sz="1800" b="1" i="0" dirty="0" err="1">
                <a:effectLst/>
                <a:latin typeface="Hanken Grotesk"/>
              </a:rPr>
              <a:t>Normalization</a:t>
            </a:r>
            <a:r>
              <a:rPr lang="ko-KR" altLang="ko-KR" sz="1800" b="1" i="0" dirty="0">
                <a:effectLst/>
                <a:latin typeface="Hanken Grotesk"/>
              </a:rPr>
              <a:t> </a:t>
            </a:r>
            <a:r>
              <a:rPr lang="ko-KR" altLang="ko-KR" sz="1800" b="1" i="0" dirty="0" err="1">
                <a:effectLst/>
                <a:latin typeface="Hanken Grotesk"/>
              </a:rPr>
              <a:t>in</a:t>
            </a:r>
            <a:r>
              <a:rPr lang="ko-KR" altLang="ko-KR" sz="1800" b="1" i="0" dirty="0">
                <a:effectLst/>
                <a:latin typeface="Hanken Grotesk"/>
              </a:rPr>
              <a:t> </a:t>
            </a:r>
            <a:r>
              <a:rPr lang="ko-KR" altLang="ko-KR" sz="1800" b="1" i="0" dirty="0" err="1">
                <a:effectLst/>
                <a:latin typeface="Hanken Grotesk"/>
              </a:rPr>
              <a:t>the</a:t>
            </a:r>
            <a:r>
              <a:rPr lang="ko-KR" altLang="ko-KR" sz="1800" b="1" i="0" dirty="0">
                <a:effectLst/>
                <a:latin typeface="Hanken Grotesk"/>
              </a:rPr>
              <a:t> </a:t>
            </a:r>
            <a:r>
              <a:rPr lang="ko-KR" altLang="ko-KR" sz="1800" b="1" i="0" dirty="0" err="1">
                <a:effectLst/>
                <a:latin typeface="Hanken Grotesk"/>
              </a:rPr>
              <a:t>Transformer</a:t>
            </a:r>
            <a:r>
              <a:rPr lang="ko-KR" altLang="ko-KR" sz="1800" b="1" i="0" dirty="0">
                <a:effectLst/>
                <a:latin typeface="Hanken Grotesk"/>
              </a:rPr>
              <a:t> </a:t>
            </a:r>
            <a:r>
              <a:rPr lang="ko-KR" altLang="ko-KR" sz="1800" b="1" i="0" dirty="0" err="1">
                <a:effectLst/>
                <a:latin typeface="Hanken Grotesk"/>
              </a:rPr>
              <a:t>Architecture</a:t>
            </a:r>
            <a:r>
              <a:rPr lang="en-US" altLang="ko-KR" sz="1800" b="1" i="0" dirty="0">
                <a:effectLst/>
                <a:latin typeface="Hanken Grotesk"/>
              </a:rPr>
              <a:t>(Xiong, 2020)</a:t>
            </a:r>
            <a:endParaRPr lang="ko-KR" altLang="ko-KR" sz="2700" b="1" i="0" dirty="0">
              <a:effectLst/>
              <a:latin typeface="Hanken Grotesk"/>
            </a:endParaRPr>
          </a:p>
        </p:txBody>
      </p:sp>
    </p:spTree>
    <p:extLst>
      <p:ext uri="{BB962C8B-B14F-4D97-AF65-F5344CB8AC3E}">
        <p14:creationId xmlns:p14="http://schemas.microsoft.com/office/powerpoint/2010/main" val="2472848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44BA3-CD71-FFB8-692A-052D31339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DF87980-7145-3F9C-96DC-D568B5E9D82E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F7088573-ECF4-C38A-D15F-A7EBE3F46B2A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ED88924-4002-70E6-14E9-8EE717F7A94F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AD296387-6115-6738-D221-0871CA22B0F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1E4003C-AB3D-8458-0A4A-E7E660089E68}"/>
              </a:ext>
            </a:extLst>
          </p:cNvPr>
          <p:cNvSpPr txBox="1"/>
          <p:nvPr/>
        </p:nvSpPr>
        <p:spPr>
          <a:xfrm>
            <a:off x="1334924" y="13335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lang="en-US" altLang="ko-KR" sz="2400" b="1" dirty="0">
                <a:solidFill>
                  <a:srgbClr val="19264B"/>
                </a:solidFill>
                <a:latin typeface="Arial"/>
                <a:cs typeface="Arial"/>
              </a:rPr>
              <a:t>RMS Normalization</a:t>
            </a:r>
            <a:endParaRPr lang="ko-KR" altLang="en-US" sz="1400" dirty="0">
              <a:latin typeface="Arial MT"/>
              <a:cs typeface="Arial M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51067B-9CA9-8083-0AF6-5FE153613202}"/>
              </a:ext>
            </a:extLst>
          </p:cNvPr>
          <p:cNvSpPr txBox="1"/>
          <p:nvPr/>
        </p:nvSpPr>
        <p:spPr>
          <a:xfrm>
            <a:off x="1524000" y="890071"/>
            <a:ext cx="55723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Standard LN: N(0, 1)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 ‘</a:t>
            </a:r>
            <a:r>
              <a:rPr lang="ko-KR" altLang="en-US" dirty="0">
                <a:sym typeface="Wingdings" panose="05000000000000000000" pitchFamily="2" charset="2"/>
              </a:rPr>
              <a:t>평균과 얼마나 떨어져 있는가</a:t>
            </a:r>
            <a:r>
              <a:rPr lang="en-US" altLang="ko-KR" dirty="0">
                <a:sym typeface="Wingdings" panose="05000000000000000000" pitchFamily="2" charset="2"/>
              </a:rPr>
              <a:t>?’ + Mean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Centering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02BF74-E34E-163F-2AFA-E273DF9C7B06}"/>
              </a:ext>
            </a:extLst>
          </p:cNvPr>
          <p:cNvSpPr txBox="1"/>
          <p:nvPr/>
        </p:nvSpPr>
        <p:spPr>
          <a:xfrm>
            <a:off x="1569832" y="1831458"/>
            <a:ext cx="58977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RMS LN: N(</a:t>
            </a:r>
            <a:r>
              <a:rPr lang="en-US" altLang="ko-KR" b="1" i="1" dirty="0"/>
              <a:t>mean, 0)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--&gt; ‘</a:t>
            </a:r>
            <a:r>
              <a:rPr lang="ko-KR" altLang="en-US" dirty="0">
                <a:sym typeface="Wingdings" panose="05000000000000000000" pitchFamily="2" charset="2"/>
              </a:rPr>
              <a:t>원점과 얼마나 떨어져 있는가</a:t>
            </a:r>
            <a:r>
              <a:rPr lang="en-US" altLang="ko-KR" dirty="0">
                <a:sym typeface="Wingdings" panose="05000000000000000000" pitchFamily="2" charset="2"/>
              </a:rPr>
              <a:t>?’ (No mean centering)</a:t>
            </a:r>
            <a:endParaRPr lang="en-US" altLang="ko-KR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D645829F-CF0E-0C9F-E95E-CC124D9E5AE8}"/>
              </a:ext>
            </a:extLst>
          </p:cNvPr>
          <p:cNvSpPr/>
          <p:nvPr/>
        </p:nvSpPr>
        <p:spPr>
          <a:xfrm>
            <a:off x="3276600" y="3181350"/>
            <a:ext cx="4038600" cy="15811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Reduced Computational Complexity by 7~50%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4363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25B21-EACA-7E33-EB3D-6C6238077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A816BDE-F5B5-7E8A-4960-26C310168095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8016A5A1-0551-0FB7-FCA8-5FFFC6DF3468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E29254F-CF12-3477-DE42-70E4AAAA6BC9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05444570-0A27-1E35-15E8-CA2CADA0414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047FC17-4DB4-1B69-BA4C-5597CBB54F8D}"/>
              </a:ext>
            </a:extLst>
          </p:cNvPr>
          <p:cNvSpPr txBox="1"/>
          <p:nvPr/>
        </p:nvSpPr>
        <p:spPr>
          <a:xfrm>
            <a:off x="1334924" y="13335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lang="en-US" altLang="ko-KR" sz="2400" b="1" dirty="0">
                <a:solidFill>
                  <a:srgbClr val="19264B"/>
                </a:solidFill>
                <a:latin typeface="Arial"/>
                <a:cs typeface="Arial"/>
              </a:rPr>
              <a:t>RMS Normalization Limitation</a:t>
            </a:r>
            <a:endParaRPr lang="ko-KR" altLang="en-US" sz="1400" dirty="0">
              <a:latin typeface="Arial MT"/>
              <a:cs typeface="Arial M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1DB350-2128-0EAC-983E-70B0192D5F79}"/>
              </a:ext>
            </a:extLst>
          </p:cNvPr>
          <p:cNvSpPr txBox="1"/>
          <p:nvPr/>
        </p:nvSpPr>
        <p:spPr>
          <a:xfrm>
            <a:off x="1524000" y="678418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Critical to Outlier</a:t>
            </a:r>
            <a:endParaRPr lang="ko-KR" altLang="en-US" dirty="0"/>
          </a:p>
        </p:txBody>
      </p:sp>
      <p:pic>
        <p:nvPicPr>
          <p:cNvPr id="10" name="그림 9" descr="3D 공간상의 이상치 시각화, AI로 생성">
            <a:extLst>
              <a:ext uri="{FF2B5EF4-FFF2-40B4-BE49-F238E27FC236}">
                <a16:creationId xmlns:a16="http://schemas.microsoft.com/office/drawing/2014/main" id="{82B5F72B-5F93-EF90-1EDC-EE7153791E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200" y="1407850"/>
            <a:ext cx="3741395" cy="329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682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7495E-475D-796D-EBB1-529741865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23838E76-5346-A78E-48D8-42462E99D9B7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6E2D6B44-E502-FE2D-9449-95405CF02E6C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6629C1F-79C7-DB22-C5D0-51E1F467CA4A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63FEF9D6-421A-88C0-3CC6-8892F16632F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D14818F-905E-A1F6-39BA-476611601E18}"/>
              </a:ext>
            </a:extLst>
          </p:cNvPr>
          <p:cNvSpPr txBox="1"/>
          <p:nvPr/>
        </p:nvSpPr>
        <p:spPr>
          <a:xfrm>
            <a:off x="1334924" y="13335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lang="en-US" altLang="ko-KR" sz="2400" b="1" dirty="0">
                <a:solidFill>
                  <a:srgbClr val="19264B"/>
                </a:solidFill>
                <a:latin typeface="Arial"/>
                <a:cs typeface="Arial"/>
              </a:rPr>
              <a:t>RMS Normalization Limitation</a:t>
            </a:r>
            <a:endParaRPr lang="ko-KR" altLang="en-US" sz="1400" dirty="0">
              <a:latin typeface="Arial MT"/>
              <a:cs typeface="Arial M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CA35CC-C703-DE6A-1115-6D2D782BEA3C}"/>
              </a:ext>
            </a:extLst>
          </p:cNvPr>
          <p:cNvSpPr txBox="1"/>
          <p:nvPr/>
        </p:nvSpPr>
        <p:spPr>
          <a:xfrm>
            <a:off x="1524000" y="678418"/>
            <a:ext cx="4647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2. Critical to Shifting, Expressivity Limitation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3452F21-BA6E-D42F-A0AC-481F4F25D297}"/>
                  </a:ext>
                </a:extLst>
              </p:cNvPr>
              <p:cNvSpPr txBox="1"/>
              <p:nvPr/>
            </p:nvSpPr>
            <p:spPr>
              <a:xfrm>
                <a:off x="2514600" y="2343150"/>
                <a:ext cx="4572000" cy="10021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ko-KR" altLang="en-US" sz="2000" i="0" smtClean="0">
                          <a:latin typeface="Cambria Math" panose="02040503050406030204" pitchFamily="18" charset="0"/>
                        </a:rPr>
                        <m:t>RMSNorm</m:t>
                      </m:r>
                      <m:d>
                        <m:dPr>
                          <m:ctrlPr>
                            <a:rPr lang="ko-KR" alt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ko-KR" altLang="en-US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ko-KR" altLang="en-US" sz="2000" i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sz="20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ko-KR" altLang="en-US" sz="20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ko-KR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ko-KR" alt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ko-KR" altLang="en-US" sz="2000" i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ko-KR" altLang="en-US" sz="20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ko-KR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ko-KR" alt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ko-KR" alt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ko-KR" altLang="en-US" sz="20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  <m:r>
                                <a:rPr lang="ko-KR" altLang="en-US" sz="20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ko-KR" altLang="en-US" sz="2000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</m:rad>
                        </m:den>
                      </m:f>
                      <m:r>
                        <a:rPr lang="ko-KR" altLang="en-US" sz="2000" i="0">
                          <a:latin typeface="Cambria Math" panose="02040503050406030204" pitchFamily="18" charset="0"/>
                        </a:rPr>
                        <m:t>⊙</m:t>
                      </m:r>
                      <m:r>
                        <a:rPr lang="ko-KR" altLang="en-US" sz="2000" i="1"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ko-KR" altLang="ko-KR" sz="2000" dirty="0">
                  <a:effectLst/>
                  <a:latin typeface="Google Sans Tex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3452F21-BA6E-D42F-A0AC-481F4F25D2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2343150"/>
                <a:ext cx="4572000" cy="10021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029A502-155A-619A-A714-CBB2CD348B89}"/>
              </a:ext>
            </a:extLst>
          </p:cNvPr>
          <p:cNvSpPr txBox="1"/>
          <p:nvPr/>
        </p:nvSpPr>
        <p:spPr>
          <a:xfrm>
            <a:off x="6781800" y="2263973"/>
            <a:ext cx="8627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No Bias!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54556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A7D71-5D87-0DB7-2003-BB5F8D6F5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915D100-A23A-9B58-A163-DD8CD8AEEF06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01A96F31-CA22-B8FA-D443-81D5CD277878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C5CDB80-8CAE-949E-BD76-2790712621B1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A8C483B9-4CC8-45EA-DAA1-A51BE29E520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6F0E31C-671E-70D5-9CB7-4EA8A13BCC1D}"/>
              </a:ext>
            </a:extLst>
          </p:cNvPr>
          <p:cNvSpPr txBox="1"/>
          <p:nvPr/>
        </p:nvSpPr>
        <p:spPr>
          <a:xfrm>
            <a:off x="3505200" y="2121753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lang="en-US" altLang="ko-KR" sz="2400" b="1" dirty="0" err="1">
                <a:solidFill>
                  <a:srgbClr val="19264B"/>
                </a:solidFill>
                <a:latin typeface="Arial"/>
                <a:cs typeface="Arial"/>
              </a:rPr>
              <a:t>Qauntization</a:t>
            </a:r>
            <a:r>
              <a:rPr lang="en-US" altLang="ko-KR" sz="2400" b="1" dirty="0">
                <a:solidFill>
                  <a:srgbClr val="19264B"/>
                </a:solidFill>
                <a:latin typeface="Arial"/>
                <a:cs typeface="Arial"/>
              </a:rPr>
              <a:t>, Model Compression </a:t>
            </a:r>
            <a:r>
              <a:rPr lang="en-US" altLang="ko-KR" sz="2400" b="1" dirty="0" err="1">
                <a:solidFill>
                  <a:srgbClr val="19264B"/>
                </a:solidFill>
                <a:latin typeface="Arial"/>
                <a:cs typeface="Arial"/>
              </a:rPr>
              <a:t>etc</a:t>
            </a:r>
            <a:r>
              <a:rPr lang="en-US" altLang="ko-KR" sz="2400" b="1" dirty="0">
                <a:solidFill>
                  <a:srgbClr val="19264B"/>
                </a:solidFill>
                <a:latin typeface="Arial"/>
                <a:cs typeface="Arial"/>
              </a:rPr>
              <a:t>…</a:t>
            </a:r>
            <a:endParaRPr lang="ko-KR" altLang="en-US" sz="1400" dirty="0">
              <a:latin typeface="Arial MT"/>
              <a:cs typeface="Arial M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F77F3F-FC3A-9D80-272A-5633C36189A6}"/>
              </a:ext>
            </a:extLst>
          </p:cNvPr>
          <p:cNvSpPr txBox="1"/>
          <p:nvPr/>
        </p:nvSpPr>
        <p:spPr>
          <a:xfrm>
            <a:off x="2743200" y="3130984"/>
            <a:ext cx="49487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+) Normalization free </a:t>
            </a:r>
            <a:r>
              <a:rPr lang="en-US" altLang="ko-KR" sz="2400" b="1" dirty="0" err="1"/>
              <a:t>Trasformer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885551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0898A-BD56-164C-F17D-84DEC2F53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DEE2FF32-83D3-3116-7B6B-12675E971972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9C504CAA-AACF-41AF-D820-9884847D8AA6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85E59DA-1235-B642-1BCF-EDA1E8434DC0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280FD0B5-382A-EB9B-827D-D3478E799DE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  <p:pic>
        <p:nvPicPr>
          <p:cNvPr id="7" name="그림 6" descr="중앙대학교 AI학과 이재성 - 김박사넷">
            <a:extLst>
              <a:ext uri="{FF2B5EF4-FFF2-40B4-BE49-F238E27FC236}">
                <a16:creationId xmlns:a16="http://schemas.microsoft.com/office/drawing/2014/main" id="{C825957F-D79E-D136-3BF0-5938195F23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0" y="361950"/>
            <a:ext cx="969640" cy="1281221"/>
          </a:xfrm>
          <a:prstGeom prst="rect">
            <a:avLst/>
          </a:prstGeom>
        </p:spPr>
      </p:pic>
      <p:sp>
        <p:nvSpPr>
          <p:cNvPr id="9" name="말풍선: 모서리가 둥근 사각형 8">
            <a:extLst>
              <a:ext uri="{FF2B5EF4-FFF2-40B4-BE49-F238E27FC236}">
                <a16:creationId xmlns:a16="http://schemas.microsoft.com/office/drawing/2014/main" id="{B90A7077-73B5-3E91-E415-7683566AE4BB}"/>
              </a:ext>
            </a:extLst>
          </p:cNvPr>
          <p:cNvSpPr/>
          <p:nvPr/>
        </p:nvSpPr>
        <p:spPr>
          <a:xfrm>
            <a:off x="3276600" y="507260"/>
            <a:ext cx="5410200" cy="990600"/>
          </a:xfrm>
          <a:prstGeom prst="wedgeRoundRectCallout">
            <a:avLst>
              <a:gd name="adj1" fmla="val -59199"/>
              <a:gd name="adj2" fmla="val -275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어떤 논문이 </a:t>
            </a:r>
            <a:r>
              <a:rPr lang="ko-KR" altLang="en-US" sz="1600" dirty="0" err="1"/>
              <a:t>어셉된다고</a:t>
            </a:r>
            <a:r>
              <a:rPr lang="ko-KR" altLang="en-US" sz="1600" dirty="0"/>
              <a:t> 생각하나요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D28A80-E97F-7671-2A9D-CAC735232620}"/>
              </a:ext>
            </a:extLst>
          </p:cNvPr>
          <p:cNvSpPr txBox="1"/>
          <p:nvPr/>
        </p:nvSpPr>
        <p:spPr>
          <a:xfrm>
            <a:off x="2327279" y="3500330"/>
            <a:ext cx="5711821" cy="4560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/>
              <a:t>“</a:t>
            </a:r>
            <a:r>
              <a:rPr lang="ko-KR" altLang="en-US" b="1" dirty="0"/>
              <a:t>예쁜 그림과 그래프 그리고 리뷰어의 그 날의 컨디션</a:t>
            </a:r>
            <a:r>
              <a:rPr lang="en-US" altLang="ko-KR" b="1" dirty="0"/>
              <a:t>”</a:t>
            </a:r>
            <a:endParaRPr lang="ko-KR" altLang="en-US" b="1" dirty="0"/>
          </a:p>
        </p:txBody>
      </p:sp>
      <p:pic>
        <p:nvPicPr>
          <p:cNvPr id="11" name="그림 10" descr="1077 칭찬스탬프 선생님 확인도장 트로닷 원형 자동스탬프 제작">
            <a:extLst>
              <a:ext uri="{FF2B5EF4-FFF2-40B4-BE49-F238E27FC236}">
                <a16:creationId xmlns:a16="http://schemas.microsoft.com/office/drawing/2014/main" id="{9A8139A5-4FA9-E5D9-7E14-C7029A96A67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19997599">
            <a:off x="3097827" y="643430"/>
            <a:ext cx="3860581" cy="386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239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EAE05-4AAB-D32A-0244-28AC9341E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DAAB60D-778D-4597-6BCA-2E756B41E486}"/>
              </a:ext>
            </a:extLst>
          </p:cNvPr>
          <p:cNvGrpSpPr/>
          <p:nvPr/>
        </p:nvGrpSpPr>
        <p:grpSpPr>
          <a:xfrm>
            <a:off x="-12" y="0"/>
            <a:ext cx="1181735" cy="5143500"/>
            <a:chOff x="-12" y="0"/>
            <a:chExt cx="1181735" cy="51435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EC2E4A1E-CC24-F114-DCB6-1BE3E8F8D588}"/>
                </a:ext>
              </a:extLst>
            </p:cNvPr>
            <p:cNvSpPr/>
            <p:nvPr/>
          </p:nvSpPr>
          <p:spPr>
            <a:xfrm>
              <a:off x="0" y="0"/>
              <a:ext cx="1181100" cy="5143500"/>
            </a:xfrm>
            <a:custGeom>
              <a:avLst/>
              <a:gdLst/>
              <a:ahLst/>
              <a:cxnLst/>
              <a:rect l="l" t="t" r="r" b="b"/>
              <a:pathLst>
                <a:path w="1181100" h="5143500">
                  <a:moveTo>
                    <a:pt x="0" y="5143499"/>
                  </a:moveTo>
                  <a:lnTo>
                    <a:pt x="0" y="0"/>
                  </a:lnTo>
                  <a:lnTo>
                    <a:pt x="1181099" y="0"/>
                  </a:lnTo>
                  <a:lnTo>
                    <a:pt x="1181099" y="5143499"/>
                  </a:lnTo>
                  <a:lnTo>
                    <a:pt x="0" y="5143499"/>
                  </a:lnTo>
                  <a:close/>
                </a:path>
              </a:pathLst>
            </a:custGeom>
            <a:solidFill>
              <a:srgbClr val="192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9257C97-6CB4-CA29-3AB5-55C09BD8421E}"/>
                </a:ext>
              </a:extLst>
            </p:cNvPr>
            <p:cNvSpPr/>
            <p:nvPr/>
          </p:nvSpPr>
          <p:spPr>
            <a:xfrm>
              <a:off x="153824" y="0"/>
              <a:ext cx="38100" cy="2149475"/>
            </a:xfrm>
            <a:custGeom>
              <a:avLst/>
              <a:gdLst/>
              <a:ahLst/>
              <a:cxnLst/>
              <a:rect l="l" t="t" r="r" b="b"/>
              <a:pathLst>
                <a:path w="38100" h="2149475">
                  <a:moveTo>
                    <a:pt x="38099" y="2149049"/>
                  </a:moveTo>
                  <a:lnTo>
                    <a:pt x="0" y="21490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149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18EC01AF-B325-990B-20FE-F89E77D46D6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12" y="2142962"/>
              <a:ext cx="1181099" cy="3000537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5196440-54FF-EED3-7289-5FB1AA2F38CB}"/>
              </a:ext>
            </a:extLst>
          </p:cNvPr>
          <p:cNvSpPr txBox="1"/>
          <p:nvPr/>
        </p:nvSpPr>
        <p:spPr>
          <a:xfrm>
            <a:off x="4572000" y="2248584"/>
            <a:ext cx="133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감사합니다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779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2060</TotalTime>
  <Words>351</Words>
  <Application>Microsoft Office PowerPoint</Application>
  <PresentationFormat>화면 슬라이드 쇼(16:9)</PresentationFormat>
  <Paragraphs>106</Paragraphs>
  <Slides>20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30" baseType="lpstr">
      <vt:lpstr>Arial MT</vt:lpstr>
      <vt:lpstr>Google Sans Text</vt:lpstr>
      <vt:lpstr>Hanken Grotesk</vt:lpstr>
      <vt:lpstr>Malgun Gothic</vt:lpstr>
      <vt:lpstr>Malgun Gothic</vt:lpstr>
      <vt:lpstr>Arial</vt:lpstr>
      <vt:lpstr>Calibri</vt:lpstr>
      <vt:lpstr>Cambria Math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0303 OT</dc:title>
  <dc:creator>주찬진</dc:creator>
  <cp:lastModifiedBy>주찬진</cp:lastModifiedBy>
  <cp:revision>11</cp:revision>
  <dcterms:created xsi:type="dcterms:W3CDTF">2026-05-19T16:25:40Z</dcterms:created>
  <dcterms:modified xsi:type="dcterms:W3CDTF">2026-09-29T09:14:36Z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2026-05-19T00:00:00Z</vt:filetime>
  </property>
  <property fmtid="{D5CDD505-2E9C-101B-9397-08002B2CF9AE}" pid="3" name="Creator">
    <vt:lpwstr>Google</vt:lpwstr>
  </property>
  <property fmtid="{D5CDD505-2E9C-101B-9397-08002B2CF9AE}" pid="4" name="LastSaved">
    <vt:filetime>2026-05-19T00:00:00Z</vt:filetime>
  </property>
</Properties>
</file>