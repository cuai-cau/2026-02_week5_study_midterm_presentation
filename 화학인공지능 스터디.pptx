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67" r:id="rId4"/>
    <p:sldId id="257" r:id="rId5"/>
    <p:sldId id="259" r:id="rId6"/>
    <p:sldId id="260" r:id="rId7"/>
    <p:sldId id="262" r:id="rId8"/>
    <p:sldId id="263" r:id="rId9"/>
    <p:sldId id="265" r:id="rId10"/>
    <p:sldId id="266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4905"/>
    <p:restoredTop sz="5880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161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presProps" Target="presProps.xml"  /><Relationship Id="rId13" Type="http://schemas.openxmlformats.org/officeDocument/2006/relationships/viewProps" Target="viewProps.xml"  /><Relationship Id="rId14" Type="http://schemas.openxmlformats.org/officeDocument/2006/relationships/theme" Target="theme/theme1.xml"  /><Relationship Id="rId15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drawings/_rels/vmlDrawing1.vml.rels><?xml version="1.0" encoding="UTF-8" standalone="yes" ?><Relationships xmlns="http://schemas.openxmlformats.org/package/2006/relationships"><Relationship Id="rId1" Type="http://schemas.openxmlformats.org/officeDocument/2006/relationships/image" Target="../media/image6.emf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8918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 안녕하세요. 저희 스터디는 화학과에서 진행된 ‘인공지능 응용화학’ 과목의 내용을 바탕으로, 인공지능의 기본 개념을 다시 정리하고 화학 분야에서는 이런 개념들이 어떻게 활용될 수 있는지 함께 이야기해보는 것을 목표로 진행하고 있습니다.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이번 중간발표에서는 아직 CNN이나 그래프 신경망처럼 본격적인 응용 모델을 배우기 전 단계이고, 머신러닝이 어떤 기준으로 학습하고, 기초적인 </a:t>
            </a:r>
            <a:r>
              <a:rPr lang="en-US" altLang="ko-KR"/>
              <a:t>raw </a:t>
            </a:r>
            <a:r>
              <a:rPr lang="ko-KR" altLang="en-US"/>
              <a:t>데이터를 어떻게 준비하고, 그 학습을 어떻게 최적화하는지에 대한 기초 내용을 다뤘습니다.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269165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 안녕하세요. 저희 스터디는 화학과에서 진행된 ‘인공지능 응용화학’ 과목의 내용을 바탕으로, 인공지능의 기본 개념을 다시 정리하고 화학 분야에서는 이런 개념들이 어떻게 활용될 수 있는지 함께 이야기해보는 것을 목표로 진행하고 있습니다.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이번 중간발표에서는 아직 CNN이나 그래프 신경망처럼 본격적인 응용 모델을 배우기 전 단계이고, 머신러닝이 어떤 기준으로 학습하고, 기초적인 </a:t>
            </a:r>
            <a:r>
              <a:rPr lang="en-US" altLang="ko-KR"/>
              <a:t>raw </a:t>
            </a:r>
            <a:r>
              <a:rPr lang="ko-KR" altLang="en-US"/>
              <a:t>데이터를 어떻게 준비하고, 그 학습을 어떻게 최적화하는지에 대한 기초 내용을 다뤘습니다.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8651225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발표는 다섯 부분으로 구성했습니다.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먼저 왜 화학에서 인공지능을 배우는지에 대해 말씀드리고, 그다음 저희가 실제로 어떤 방식으로 스터디를 진행했는지를 소개하겠습니다.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이후에는 그 과정에서 다룬 머신러닝의 기초 개념을 간단히 보여드리고, 마지막으로 저희가 스터디를 통해 배운 점과 다른 부원들과 공유하고 싶은 점을 말씀드리겠습니다.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668664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저희 스터디의 출발점은 “화학과 학생이 왜 인공지능을 배워야 할까?”라는 질문이었습니다.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화학에서는 스펙트럼, 분자 구조, 현미경 이미지처럼 형태가 매우 다른 데이터를 다루게 됩니다.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이런 데이터에 인공지능을 활용하면 예측이나 분류를 수행할 수 있고, 사람이 직접 찾기 어려운 패턴을 데이터에서 추출할 수도 있습니다.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하지만 저희는 단순히 AI 모델을 가져와 사용하는 것만으로는 충분하지 않다고 생각했습니다.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예를 들어 같은 화학 데이터라도 스펙트럼과 분자 구조는 표현 방식 자체가 다르고, 데이터를 모델에 어떤 형태로 넣는지에 따라 결과도 달라질 수 있습니다.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그래서 저희는 처음부터 복잡한 모델을 공부하기보다는, 모델이 무엇을 기준으로 학습하는지, 데이터를 어떻게 준비해야 하는지, 그리고 parameter가 어떤 원리로 바뀌는지와 같은 기초를 먼저 이해하는 것을 목표로 했습니다.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즉, 저희의 목표는 단순히 “모델을 쓸 줄 아는 것”보다 “왜 그렇게 학습되는지를 이해하는 것”이었습니다.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331300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이 목표에 맞춰 저희는 개념을 순서대로 외우기보다는 질문에서 시작하는 방식으로 공부했습니다.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첫 번째 질문은 “무엇을 좋은 예측이라고 할 것인가?”였습니다.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이를 통해 Likelihood와 MLE를 공부하고, 이것이 실제로 사용하는 Loss function과 어떻게 연결되는지 살펴봤습니다.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두 번째는 “어떤 데이터를 모델에 넣어야 하는가?”였습니다.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여기에서는 feature selection, outlier, PCA, validation처럼 데이터를 학습 가능한 형태로 준비하는 과정을 공부했습니다.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마지막은 “모델은 어떻게 더 나은 방향으로 학습되는가?”였고, 이를 이해하기 위해 Gradient와 parameter update를 공부했습니다.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저희는 이 과정에서 단순히 정의나 수식을 외우기보다는,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질문을 먼저 던지고, 개념과 수식을 본 뒤, 그것이 실제 학습 과정에서 어떤 의미를 가지는지 서로 설명하고 연결하는 방식으로 스터디를 진행했습니다.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그래서 처음에는 따로 보이던 개념들이 점점 하나의 학습 과정으로 연결되기 시작했습니다.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963767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첫 번째로 공부한 것은 좋은 예측의 기준을 어떻게 정할 것인가였습니다.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여기서 Likelihood와 MLE를 배웠습니다.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Likelihood는 현재의 parameter를 가진 모델이 관측한 데이터를 얼마나 잘 설명하는지를 나타내고, MLE는 그 likelihood가 가장 커지는 parameter를 찾는 방법입니다.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저희에게 중요했던 것은 수식 자체보다, “모델 학습은 결국 데이터를 가장 잘 설명하는 parameter를 찾는 과정이다”라는 관점이었습니다.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그리고 이 관점이 Loss function으로 이어집니다.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예를 들어 regression에서는 MSE, classification에서는 Cross Entropy를 사용합니다.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처음에는 이런 loss function을 그냥 외워야 하는 공식처럼 생각할 수 있지만, 스터디에서는 어떤 확률모델을 가정했는지에 따라 이러한 loss가 자연스럽게 연결된다는 점을 이해하려고 했습니다.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그래서 저희는 “MSE가 무엇인가?”보다 “왜 이 문제에서는 MSE를 사용하는가?”라는 질문을 더 중요하게 봤습니다.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174008"/>
      </p:ext>
    </p:extLst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앞에서는 모델이 무엇을 기준으로 학습하는지를 정했다면, 이번에는 그 모델에 어떤 데이터를 넣을 것인지가 문제입니다.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Raw data를 그대로 사용하는 것이 항상 좋은 것은 아닙니다. 실제 스펙트럼에는 같은 물질이라도 환경</a:t>
            </a:r>
            <a:r>
              <a:rPr lang="en-US" altLang="ko-KR"/>
              <a:t>,</a:t>
            </a:r>
            <a:r>
              <a:rPr lang="ko-KR" altLang="en-US"/>
              <a:t> 조건에 따라  noise나 outlier 천치만별로 존재하기 때문에, 화학 데이터를 그대로 모델에 넣는 것이 아니라 전처리 과정이 필요합니다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먼저 Feature Selection은 많은 입력 변수 중에서 label과 관련성이 높은 feature를 우선적으로 선택하는 과정입니다.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eature Selection은 많은 입력 변수 중에서 label과 관련성이 높은 feature를 골라내는 과정입니다.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강의에서는 각 feature와 label을 표준화한 뒤,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$$ \omega = X^T y $$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형태로 feature-label correlation을 계산하고, 그 값이 큰 feature를 우선적으로 선택하는 Sure Independence Screening 방법을 다뤘습니다.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즉, 각 feature가 예측하고자 하는 값과 얼마나 강하게 관련되어 있는지를 수치화해서 중요한 feature만 남기는 방식입니다.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화학 데이터에 연결해서 보면, 예를 들어 spectrum에서는 각 파장이나 Raman shift의 intensity가 하나의 feature가 될 수 있는데, 모든 구간을 그대로 사용하는 대신 target property와 관련성이 큰 spectral region을 먼저 선별하는 방식으로 생각할 수 있습니다.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다음은 Outlier Detection입니다.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기본적으로 Z-score를 이용해서 평균으로부터 얼마나 멀리 떨어져 있는지를 볼 수 있지만, 평균과 표준편차 자체가 이상치의 영향을 받는다는 문제가 있습니다.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그래서 median과 MAD를 사용하는 Modified Z-score처럼 더 robust한 방법도 배웠습니다.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그리고 값이 아예 없는 missing value의 경우에는 단순히 데이터를 버리는 것이 아니라 Imputation을 통해 값을 추정할 수 있습니다.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또 feature가 너무 많은 경우에는 PCA를 사용할 수 있습니다.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PCA는 기존 feature를 단순히 삭제하는 것이 아니라 기존 feature의 linear combination으로 새로운 축을 만들어 차원을 줄인다는 점이 중요합니다.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결국 이 과정의 목적은 raw data를 바로 넣는 것이 아니라, 모델이 학습하기 좋은 data representation으로 만들어주는 것이라고 볼 수 있습니다.”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672642"/>
      </p:ext>
    </p:extLst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그리고 Optimization의 기초인 Gradient Descent를 배웠습니다.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Gradient는 여러 parameter에 대한 편미분을 하나의 vector로 모은 것입니다.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실제 머신러닝 모델에는 많은 parameter가 존재합니다.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그래서 각 parameter에 대한 partial derivative를 모두 계산하고, 이를 하나의 vector로 모은 것이 Gradient입니다.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Gradient는 현재 위치에서 함수값이 가장 빠르게 증가하는 방향을 가리킵니다.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우리가 원하는 것은 loss를 증가시키는 것이 아니라 감소시키는 것이기 때문에 gradient와 반대 방향으로 움직이면 됩니다.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그래서 parameter update는 theta에서 learning rate alpha와 gradient의 곱을 빼는 식으로 표현됩니다.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여기서 learning rate는 한 번 업데이트할 때 얼마나 크게 이동할지를 결정합니다.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그리고 중요한 점은 gradient를 한 번만 계산하는 것이 아니라는 점입니다.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parameter가 이동하면 함수에서의 현재 위치가 달라지기 때문에 새로운 위치에서 다시 gradient를 계산하고, 다시 이동하는 과정을 반복합니다.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이렇게 정의된 loss를 줄이는 방향으로 모델의 parameter를 계속 수정하면서, 스펙트럼이나 분자 데이터의 패턴을 학습하게 됩니다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997058"/>
      </p:ext>
    </p:extLst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기초적으로 다루는 내용이지만 이번 스터디를 통해 가장 크게 배운 점은 세 가지였습니다.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첫 번째는 여러 개념이 하나의 흐름으로 연결되어 있다는 점입니다.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처음에는 Likelihood, PCA, Gradient 같은 내용들이 서로 다른 개념처럼 보였지만, 정리해보면 결국 데이터를 준비하고, 예측을 하고, Loss를 계산하고, Gradient를 통해 parameter를 바꾸는 하나의 학습 과정이었습니다.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두 번째는 화학 데이터의 특성을 이해하는 것이 중요하다는 점입니다.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스펙트럼, molecular graph, image처럼 데이터의 구조가 다르면 이를 표현하고 처리하는 방식도 달라질 수 있기 때문에, AI 모델만 아는 것이 아니라 화학 데이터 자체에 대한 이해도 중요하다는 것을 느꼈습니다.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마지막으로 다른 부원들과 가장 공유하고 싶은 점은, AI를 처음 배울 때 복잡한 모델부터 공부하려고 하기보다 “왜 이 loss를 사용하는가?”, “왜 이 전처리가 필요한가?”, “왜 parameter를 이 방향으로 바꾸는가?” 같은 기본적인 질문부터 이해하는 것이 도움이 된다는 점입니다.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이런 기초를 이해하고 나면 이후 Neural Network, CNN, Graph Neural Network, Attention과 Transformer 같은 모델을 공부할 때도 각각이 왜 필요한지 조금 더 쉽게 연결해서 볼 수 있다고 생각합니다.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앞으로는 지금까지 공부한 기초를 바탕으로 실제 화학 데이터의 구조에 맞는 AI 모델들이 어떻게 적용되는지를 더 공부해보고자 합니다.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이상으로 발표를 마치겠습니다. 감사합니다.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5236586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jpe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7.xml"  /><Relationship Id="rId3" Type="http://schemas.openxmlformats.org/officeDocument/2006/relationships/vmlDrawing" Target="../drawings/vmlDrawing1.vml"  /><Relationship Id="rId4" Type="http://schemas.openxmlformats.org/officeDocument/2006/relationships/image" Target="../media/image1.png"  /><Relationship Id="rId5" Type="http://schemas.openxmlformats.org/officeDocument/2006/relationships/image" Target="../media/image7.emf"  /><Relationship Id="rId6" Type="http://schemas.openxmlformats.org/officeDocument/2006/relationships/oleObject" Target="../embeddings/oleObject1.bin"  /><Relationship Id="rId7" Type="http://schemas.openxmlformats.org/officeDocument/2006/relationships/image" Target="../media/image8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.png"  /><Relationship Id="rId4" Type="http://schemas.openxmlformats.org/officeDocument/2006/relationships/image" Target="../media/image9.png"  /><Relationship Id="rId5" Type="http://schemas.openxmlformats.org/officeDocument/2006/relationships/image" Target="../media/image10.jpe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8404"/>
            <a:ext cx="1181404" cy="5221224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72821" y="-36576"/>
            <a:ext cx="0" cy="2185416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hu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929030" y="3071469"/>
            <a:ext cx="3038551" cy="11814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44168" y="2468880"/>
            <a:ext cx="6949440" cy="10172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sz="2500" b="1">
                <a:solidFill>
                  <a:srgbClr val="19264b"/>
                </a:solidFill>
                <a:latin typeface="나눔고딕 ExtraBold"/>
              </a:rPr>
              <a:t>인공지능 응용화학 스터디</a:t>
            </a:r>
            <a:endParaRPr sz="2500" b="1">
              <a:solidFill>
                <a:srgbClr val="19264b"/>
              </a:solidFill>
              <a:latin typeface="나눔고딕 ExtraBold"/>
            </a:endParaRPr>
          </a:p>
          <a:p>
            <a:pPr lvl="0">
              <a:spcBef>
                <a:spcPts val="600"/>
              </a:spcBef>
              <a:defRPr/>
            </a:pPr>
            <a:r>
              <a:rPr sz="1400">
                <a:solidFill>
                  <a:srgbClr val="3f6fa8"/>
                </a:solidFill>
                <a:latin typeface="나눔고딕"/>
              </a:rPr>
              <a:t>중간발표 | 화학 데이터 분석을 위한 Machine Learning 기초</a:t>
            </a:r>
            <a:endParaRPr sz="1400">
              <a:solidFill>
                <a:srgbClr val="3f6fa8"/>
              </a:solidFill>
              <a:latin typeface="나눔고딕"/>
            </a:endParaRPr>
          </a:p>
          <a:p>
            <a:pPr lvl="0">
              <a:spcBef>
                <a:spcPts val="1400"/>
              </a:spcBef>
              <a:defRPr/>
            </a:pPr>
            <a:r>
              <a:rPr sz="1100">
                <a:solidFill>
                  <a:srgbClr val="19264b"/>
                </a:solidFill>
                <a:latin typeface="나눔고딕"/>
              </a:rPr>
              <a:t>2026.09.2</a:t>
            </a:r>
            <a:r>
              <a:rPr lang="en-US" altLang="ko-KR" sz="1100">
                <a:solidFill>
                  <a:srgbClr val="19264b"/>
                </a:solidFill>
                <a:latin typeface="나눔고딕"/>
              </a:rPr>
              <a:t>9</a:t>
            </a:r>
            <a:endParaRPr sz="1100">
              <a:solidFill>
                <a:srgbClr val="19264b"/>
              </a:solidFill>
              <a:latin typeface="나눔고딕"/>
            </a:endParaRP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8404"/>
            <a:ext cx="1181404" cy="5221224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cxnSp>
        <p:nvCxnSpPr>
          <p:cNvPr id="3" name="Connector 2"/>
          <p:cNvCxnSpPr/>
          <p:nvPr/>
        </p:nvCxnSpPr>
        <p:spPr>
          <a:xfrm>
            <a:off x="172821" y="-36576"/>
            <a:ext cx="0" cy="2185416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hung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-929030" y="3071469"/>
            <a:ext cx="3038551" cy="11814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99271" y="162413"/>
            <a:ext cx="6949440" cy="4281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ko-KR" altLang="en-US" sz="2800">
                <a:solidFill>
                  <a:srgbClr val="19264b"/>
                </a:solidFill>
                <a:latin typeface="나눔고딕"/>
              </a:rPr>
              <a:t>스터디 조원 소개</a:t>
            </a:r>
            <a:endParaRPr lang="ko-KR" altLang="en-US" sz="2800">
              <a:solidFill>
                <a:srgbClr val="19264b"/>
              </a:solidFill>
              <a:latin typeface="나눔고딕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800659" y="865890"/>
            <a:ext cx="2362931" cy="170585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683567" y="2449442"/>
            <a:ext cx="2597115" cy="2425457"/>
          </a:xfrm>
          <a:prstGeom prst="rect">
            <a:avLst/>
          </a:prstGeom>
        </p:spPr>
      </p:pic>
      <p:sp>
        <p:nvSpPr>
          <p:cNvPr id="8" name="Google Shape;76;p14"/>
          <p:cNvSpPr txBox="1"/>
          <p:nvPr/>
        </p:nvSpPr>
        <p:spPr>
          <a:xfrm>
            <a:off x="6586298" y="1794651"/>
            <a:ext cx="2282100" cy="155419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스터디원 1 : 김</a:t>
            </a:r>
            <a:r>
              <a:rPr lang="ko-KR" altLang="en-US"/>
              <a:t>강민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스터디원 2 : 이</a:t>
            </a:r>
            <a:r>
              <a:rPr lang="ko-KR" altLang="en-US"/>
              <a:t>다은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스터디원 3 : </a:t>
            </a:r>
            <a:r>
              <a:rPr lang="ko-KR" altLang="en-US"/>
              <a:t>정효림</a:t>
            </a:r>
            <a:endParaRPr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163591" y="1481757"/>
            <a:ext cx="2329094" cy="293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210166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8404"/>
            <a:ext cx="1181404" cy="5221224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72821" y="-36576"/>
            <a:ext cx="0" cy="2185416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hu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929030" y="3071469"/>
            <a:ext cx="3038551" cy="11814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08176" y="301752"/>
            <a:ext cx="7360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B315B"/>
                </a:solidFill>
              </a:rPr>
              <a:t>발표 흐름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81328" y="1078992"/>
            <a:ext cx="512064" cy="402336"/>
          </a:xfrm>
          <a:prstGeom prst="roundRect">
            <a:avLst/>
          </a:prstGeom>
          <a:solidFill>
            <a:srgbClr val="19264B"/>
          </a:solidFill>
          <a:ln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9696" y="1092707"/>
            <a:ext cx="5897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>
                <a:solidFill>
                  <a:srgbClr val="2B3340"/>
                </a:solidFill>
              </a:rPr>
              <a:t>왜 화학에서 AI를 배우는가?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37360" y="1490472"/>
            <a:ext cx="0" cy="246888"/>
          </a:xfrm>
          <a:prstGeom prst="line">
            <a:avLst/>
          </a:prstGeom>
          <a:ln w="13970">
            <a:solidFill>
              <a:srgbClr val="D7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481328" y="1737360"/>
            <a:ext cx="512064" cy="402336"/>
          </a:xfrm>
          <a:prstGeom prst="roundRect">
            <a:avLst/>
          </a:prstGeom>
          <a:solidFill>
            <a:srgbClr val="19264B"/>
          </a:solidFill>
          <a:ln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9696" y="1744980"/>
            <a:ext cx="3291727" cy="3771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sz="1900" b="1">
                <a:solidFill>
                  <a:srgbClr val="2b3340"/>
                </a:solidFill>
              </a:rPr>
              <a:t>우리는 어떻게</a:t>
            </a:r>
            <a:r>
              <a:rPr lang="ko-KR" altLang="en-US" sz="1900" b="1">
                <a:solidFill>
                  <a:srgbClr val="2b3340"/>
                </a:solidFill>
              </a:rPr>
              <a:t> </a:t>
            </a:r>
            <a:r>
              <a:rPr sz="1900" b="1">
                <a:solidFill>
                  <a:srgbClr val="2b3340"/>
                </a:solidFill>
              </a:rPr>
              <a:t>공부했는가?</a:t>
            </a:r>
            <a:endParaRPr sz="1900" b="1">
              <a:solidFill>
                <a:srgbClr val="2b3340"/>
              </a:solidFill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737360" y="2148840"/>
            <a:ext cx="0" cy="246888"/>
          </a:xfrm>
          <a:prstGeom prst="line">
            <a:avLst/>
          </a:prstGeom>
          <a:ln w="13970">
            <a:solidFill>
              <a:srgbClr val="D7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481328" y="2395728"/>
            <a:ext cx="512064" cy="402336"/>
          </a:xfrm>
          <a:prstGeom prst="roundRect">
            <a:avLst/>
          </a:prstGeom>
          <a:solidFill>
            <a:srgbClr val="19264B"/>
          </a:solidFill>
          <a:ln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9696" y="2402205"/>
            <a:ext cx="3060608" cy="3771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sz="1900" b="1">
                <a:solidFill>
                  <a:srgbClr val="2b3340"/>
                </a:solidFill>
              </a:rPr>
              <a:t>어떤 기초를 다뤘는가?</a:t>
            </a:r>
            <a:endParaRPr sz="1500" b="1">
              <a:solidFill>
                <a:srgbClr val="1f2937"/>
              </a:solidFill>
              <a:latin typeface="나눔고딕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737360" y="2807208"/>
            <a:ext cx="0" cy="246888"/>
          </a:xfrm>
          <a:prstGeom prst="line">
            <a:avLst/>
          </a:prstGeom>
          <a:ln w="13970">
            <a:solidFill>
              <a:srgbClr val="D7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81328" y="3054096"/>
            <a:ext cx="512064" cy="402336"/>
          </a:xfrm>
          <a:prstGeom prst="roundRect">
            <a:avLst/>
          </a:prstGeom>
          <a:solidFill>
            <a:srgbClr val="19264B"/>
          </a:solidFill>
          <a:ln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9696" y="3059430"/>
            <a:ext cx="2772811" cy="3771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sz="1900" b="1">
                <a:solidFill>
                  <a:srgbClr val="2b3340"/>
                </a:solidFill>
              </a:rPr>
              <a:t>무엇을 배웠는가?</a:t>
            </a:r>
            <a:endParaRPr sz="1500" b="1">
              <a:solidFill>
                <a:srgbClr val="1f2937"/>
              </a:solidFill>
              <a:latin typeface="나눔고딕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737360" y="3465576"/>
            <a:ext cx="0" cy="246887"/>
          </a:xfrm>
          <a:prstGeom prst="line">
            <a:avLst/>
          </a:prstGeom>
          <a:ln w="13970">
            <a:solidFill>
              <a:srgbClr val="D7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481328" y="3712463"/>
            <a:ext cx="512064" cy="402336"/>
          </a:xfrm>
          <a:prstGeom prst="roundRect">
            <a:avLst/>
          </a:prstGeom>
          <a:solidFill>
            <a:srgbClr val="19264B"/>
          </a:solidFill>
          <a:ln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9696" y="3726179"/>
            <a:ext cx="5897880" cy="3676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ko-KR" altLang="en-US" sz="1900" b="1">
                <a:solidFill>
                  <a:srgbClr val="2b3340"/>
                </a:solidFill>
              </a:rPr>
              <a:t>앞으로 계획</a:t>
            </a:r>
            <a:endParaRPr lang="ko-KR" altLang="en-US" sz="1900" b="1">
              <a:solidFill>
                <a:srgbClr val="2b334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8404"/>
            <a:ext cx="1181404" cy="5221224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72821" y="-36576"/>
            <a:ext cx="0" cy="2185416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hu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929030" y="3071469"/>
            <a:ext cx="3038551" cy="11814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08176" y="301752"/>
            <a:ext cx="7229268" cy="7555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l">
              <a:defRPr/>
            </a:pPr>
            <a:r>
              <a:rPr sz="2500" b="1">
                <a:solidFill>
                  <a:srgbClr val="1b315b"/>
                </a:solidFill>
              </a:rPr>
              <a:t>스터디의 출발점 | 왜 화학에서 인공지능을 배우는가?</a:t>
            </a:r>
            <a:endParaRPr sz="2000" b="1">
              <a:solidFill>
                <a:srgbClr val="19264b"/>
              </a:solidFill>
              <a:latin typeface="나눔고딕 Extra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359074" y="1090422"/>
            <a:ext cx="2219610" cy="2061972"/>
          </a:xfrm>
          <a:prstGeom prst="roundRect">
            <a:avLst>
              <a:gd name="adj" fmla="val 16667"/>
            </a:avLst>
          </a:prstGeom>
          <a:solidFill>
            <a:srgbClr val="e9f0f8"/>
          </a:solidFill>
          <a:ln w="10160">
            <a:solidFill>
              <a:srgbClr val="3f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anchor="t"/>
          <a:lstStyle/>
          <a:p>
            <a:pPr lvl="0" algn="ctr">
              <a:defRPr/>
            </a:pPr>
            <a:r>
              <a:rPr sz="1350" b="1">
                <a:solidFill>
                  <a:srgbClr val="19264b"/>
                </a:solidFill>
                <a:latin typeface="나눔고딕"/>
              </a:rPr>
              <a:t>Spectrum</a:t>
            </a:r>
            <a:endParaRPr sz="1350" b="1">
              <a:solidFill>
                <a:srgbClr val="19264b"/>
              </a:solidFill>
              <a:latin typeface="나눔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858768" y="1124712"/>
            <a:ext cx="1993392" cy="1993392"/>
          </a:xfrm>
          <a:prstGeom prst="roundRect">
            <a:avLst/>
          </a:prstGeom>
          <a:solidFill>
            <a:srgbClr val="E9F3EF"/>
          </a:solidFill>
          <a:ln w="10160">
            <a:solidFill>
              <a:srgbClr val="4F7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ctr"/>
            <a:r>
              <a:rPr sz="1350" b="1">
                <a:solidFill>
                  <a:srgbClr val="19264B"/>
                </a:solidFill>
                <a:latin typeface="NanumGothic"/>
              </a:rPr>
              <a:t>Molecular 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9546" y="1146199"/>
            <a:ext cx="1993392" cy="1993392"/>
          </a:xfrm>
          <a:prstGeom prst="roundRect">
            <a:avLst>
              <a:gd name="adj" fmla="val 16667"/>
            </a:avLst>
          </a:prstGeom>
          <a:solidFill>
            <a:srgbClr val="fbf0e6"/>
          </a:solidFill>
          <a:ln w="10160">
            <a:solidFill>
              <a:srgbClr val="d97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anchor="t"/>
          <a:lstStyle/>
          <a:p>
            <a:pPr lvl="0" algn="ctr">
              <a:defRPr/>
            </a:pPr>
            <a:r>
              <a:rPr sz="1350" b="1">
                <a:solidFill>
                  <a:srgbClr val="19264b"/>
                </a:solidFill>
                <a:latin typeface="나눔고딕"/>
              </a:rPr>
              <a:t>Image </a:t>
            </a:r>
            <a:endParaRPr sz="1350" b="1">
              <a:solidFill>
                <a:srgbClr val="19264b"/>
              </a:solidFill>
              <a:latin typeface="나눔고딕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2468880" y="3410712"/>
            <a:ext cx="4590288" cy="0"/>
          </a:xfrm>
          <a:prstGeom prst="line">
            <a:avLst/>
          </a:prstGeom>
          <a:ln w="1778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186684" y="3223259"/>
            <a:ext cx="3337560" cy="438912"/>
          </a:xfrm>
          <a:prstGeom prst="roundRect">
            <a:avLst>
              <a:gd name="adj" fmla="val 16667"/>
            </a:avLst>
          </a:prstGeom>
          <a:solidFill>
            <a:srgbClr val="19264b"/>
          </a:solidFill>
          <a:ln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anchor="ctr"/>
          <a:lstStyle/>
          <a:p>
            <a:pPr lvl="0" algn="ctr">
              <a:defRPr/>
            </a:pPr>
            <a:r>
              <a:rPr sz="1250" b="1">
                <a:solidFill>
                  <a:srgbClr val="ffffff"/>
                </a:solidFill>
                <a:latin typeface="나눔고딕"/>
              </a:rPr>
              <a:t>AI를 이용한 예측 · 분류 · 패턴 추출</a:t>
            </a:r>
            <a:endParaRPr sz="1250" b="1">
              <a:solidFill>
                <a:srgbClr val="ffffff"/>
              </a:solidFill>
              <a:latin typeface="나눔고딕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528559" y="3791694"/>
            <a:ext cx="7396943" cy="5211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lvl="0" algn="ctr">
              <a:spcAft>
                <a:spcPts val="500"/>
              </a:spcAft>
              <a:defRPr sz="1250">
                <a:solidFill>
                  <a:srgbClr val="19264b"/>
                </a:solidFill>
                <a:latin typeface="나눔고딕"/>
              </a:defRPr>
            </a:pPr>
            <a:r>
              <a:rPr sz="1600" b="1">
                <a:solidFill>
                  <a:srgbClr val="2b3340"/>
                </a:solidFill>
              </a:rPr>
              <a:t>화학 데이터는 형태가 다양함 → AI 적용을 위해 데이터 표현·학습 기준·최적화 원리를 먼저 이해</a:t>
            </a:r>
            <a:endParaRPr b="1"/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39096" y="1549324"/>
            <a:ext cx="2059566" cy="1436775"/>
          </a:xfrm>
          <a:prstGeom prst="rect">
            <a:avLst/>
          </a:prstGeom>
        </p:spPr>
      </p:pic>
      <p:graphicFrame>
        <p:nvGraphicFramePr>
          <p:cNvPr id="46" name="개체 45"/>
          <p:cNvGraphicFramePr>
            <a:graphicFrameLocks noChangeAspect="1"/>
          </p:cNvGraphicFramePr>
          <p:nvPr/>
        </p:nvGraphicFramePr>
        <p:xfrm>
          <a:off x="4053118" y="1662050"/>
          <a:ext cx="1604691" cy="1211323"/>
        </p:xfrm>
        <a:graphic>
          <a:graphicData uri="http://schemas.openxmlformats.org/presentationml/2006/ole">
            <p:oleObj spid="_x0000_s6151" name="CS ChemDraw Drawing" r:id="rId6" imgW="2040255" imgH="1540383" progId="ChemDraw.Document.6.0">
              <p:embed/>
            </p:oleObj>
          </a:graphicData>
        </a:graphic>
      </p:graphicFrame>
      <p:pic>
        <p:nvPicPr>
          <p:cNvPr id="48" name="그림 47"/>
          <p:cNvPicPr/>
          <p:nvPr/>
        </p:nvPicPr>
        <p:blipFill rotWithShape="1">
          <a:blip r:embed="rId7"/>
          <a:srcRect l="25040" b="16400"/>
          <a:stretch>
            <a:fillRect/>
          </a:stretch>
        </p:blipFill>
        <p:spPr>
          <a:xfrm>
            <a:off x="6709669" y="1625853"/>
            <a:ext cx="1113145" cy="1247519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814024" y="4501467"/>
            <a:ext cx="6448914" cy="360000"/>
          </a:xfrm>
          <a:prstGeom prst="roundRect">
            <a:avLst>
              <a:gd name="adj" fmla="val 16667"/>
            </a:avLst>
          </a:prstGeom>
          <a:solidFill>
            <a:srgbClr val="eef3f9"/>
          </a:solidFill>
          <a:ln w="15240">
            <a:solidFill>
              <a:srgbClr val="457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r>
              <a:rPr sz="1500" b="1">
                <a:solidFill>
                  <a:srgbClr val="1b315b"/>
                </a:solidFill>
              </a:rPr>
              <a:t>스터디 목표  |  “모델을 쓰는 것”보다 “왜 그렇게 학습되는지” 이해하기</a:t>
            </a:r>
            <a:endParaRPr sz="1500" b="1">
              <a:solidFill>
                <a:srgbClr val="1b315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8404"/>
            <a:ext cx="1181404" cy="5221224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72821" y="-36576"/>
            <a:ext cx="0" cy="2185416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hu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929030" y="3071469"/>
            <a:ext cx="3038551" cy="11814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08176" y="301752"/>
            <a:ext cx="7360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315B"/>
                </a:solidFill>
              </a:rPr>
              <a:t>우리의 스터디 방식 | 질문에서 시작해 수식으로 연결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81328" y="1024128"/>
            <a:ext cx="676656" cy="347472"/>
          </a:xfrm>
          <a:prstGeom prst="roundRect">
            <a:avLst/>
          </a:prstGeom>
          <a:solidFill>
            <a:srgbClr val="3F6FA8"/>
          </a:solidFill>
          <a:ln>
            <a:solidFill>
              <a:srgbClr val="3F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NanumGothic"/>
              </a:rPr>
              <a:t>03.11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81328" y="1463040"/>
            <a:ext cx="2139696" cy="1664208"/>
          </a:xfrm>
          <a:prstGeom prst="roundRect">
            <a:avLst/>
          </a:prstGeom>
          <a:solidFill>
            <a:srgbClr val="E9F0F8"/>
          </a:solidFill>
          <a:ln w="10160">
            <a:solidFill>
              <a:srgbClr val="3F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ctr"/>
            <a:r>
              <a:rPr sz="1800" b="1">
                <a:solidFill>
                  <a:srgbClr val="4571A4"/>
                </a:solidFill>
              </a:rPr>
              <a:t>1. 좋은 예측의 기준은?</a:t>
            </a:r>
          </a:p>
          <a:p>
            <a:pPr algn="ctr"/>
            <a:r>
              <a:rPr sz="1800" b="1">
                <a:solidFill>
                  <a:srgbClr val="4571A4"/>
                </a:solidFill>
              </a:rPr>
              <a:t>Likelihood → MLE → Loss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30168" y="2286000"/>
            <a:ext cx="246888" cy="0"/>
          </a:xfrm>
          <a:prstGeom prst="line">
            <a:avLst/>
          </a:prstGeom>
          <a:ln w="1651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913632" y="1024128"/>
            <a:ext cx="676656" cy="347472"/>
          </a:xfrm>
          <a:prstGeom prst="roundRect">
            <a:avLst/>
          </a:prstGeom>
          <a:solidFill>
            <a:srgbClr val="4F7C6A"/>
          </a:solidFill>
          <a:ln>
            <a:solidFill>
              <a:srgbClr val="4F7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NanumGothic"/>
              </a:rPr>
              <a:t>03.18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13632" y="1463040"/>
            <a:ext cx="2139696" cy="1664208"/>
          </a:xfrm>
          <a:prstGeom prst="roundRect">
            <a:avLst/>
          </a:prstGeom>
          <a:solidFill>
            <a:srgbClr val="E9F3EF"/>
          </a:solidFill>
          <a:ln w="10160">
            <a:solidFill>
              <a:srgbClr val="4F7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ctr"/>
            <a:r>
              <a:rPr sz="1700" b="1">
                <a:solidFill>
                  <a:srgbClr val="4F7E6F"/>
                </a:solidFill>
              </a:rPr>
              <a:t>2. 데이터를 어떻게 준비할까?</a:t>
            </a:r>
          </a:p>
          <a:p>
            <a:pPr algn="ctr"/>
            <a:r>
              <a:rPr sz="1700" b="1">
                <a:solidFill>
                  <a:srgbClr val="4F7E6F"/>
                </a:solidFill>
              </a:rPr>
              <a:t>Selection · Outlier · PCA · Validation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62472" y="2286000"/>
            <a:ext cx="246888" cy="0"/>
          </a:xfrm>
          <a:prstGeom prst="line">
            <a:avLst/>
          </a:prstGeom>
          <a:ln w="1651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45936" y="1024128"/>
            <a:ext cx="676656" cy="347472"/>
          </a:xfrm>
          <a:prstGeom prst="roundRect">
            <a:avLst/>
          </a:prstGeom>
          <a:solidFill>
            <a:srgbClr val="D97A32"/>
          </a:solidFill>
          <a:ln>
            <a:solidFill>
              <a:srgbClr val="D97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NanumGothic"/>
              </a:rPr>
              <a:t>03.30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1463040"/>
            <a:ext cx="2139696" cy="1664208"/>
          </a:xfrm>
          <a:prstGeom prst="roundRect">
            <a:avLst/>
          </a:prstGeom>
          <a:solidFill>
            <a:srgbClr val="FBF0E6"/>
          </a:solidFill>
          <a:ln w="10160">
            <a:solidFill>
              <a:srgbClr val="D97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ctr"/>
            <a:r>
              <a:rPr sz="1800" b="1">
                <a:solidFill>
                  <a:srgbClr val="D5823D"/>
                </a:solidFill>
              </a:rPr>
              <a:t>3. 모델은 어떻게 개선될까?</a:t>
            </a:r>
          </a:p>
          <a:p>
            <a:pPr algn="ctr"/>
            <a:r>
              <a:rPr sz="1800" b="1">
                <a:solidFill>
                  <a:srgbClr val="D5823D"/>
                </a:solidFill>
              </a:rPr>
              <a:t>Gradient → Parameter Update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36192" y="3749039"/>
            <a:ext cx="841248" cy="438912"/>
          </a:xfrm>
          <a:prstGeom prst="roundRect">
            <a:avLst/>
          </a:prstGeom>
          <a:solidFill>
            <a:srgbClr val="F5F7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600" b="1">
                <a:solidFill>
                  <a:srgbClr val="1B315B"/>
                </a:solidFill>
              </a:rPr>
              <a:t>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77440" y="3968496"/>
            <a:ext cx="429768" cy="0"/>
          </a:xfrm>
          <a:prstGeom prst="line">
            <a:avLst/>
          </a:prstGeom>
          <a:ln w="15240">
            <a:solidFill>
              <a:srgbClr val="3F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852928" y="3749039"/>
            <a:ext cx="841248" cy="438912"/>
          </a:xfrm>
          <a:prstGeom prst="roundRect">
            <a:avLst/>
          </a:prstGeom>
          <a:solidFill>
            <a:srgbClr val="F5F7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600" b="1">
                <a:solidFill>
                  <a:srgbClr val="1B315B"/>
                </a:solidFill>
              </a:rPr>
              <a:t>개념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94176" y="3968496"/>
            <a:ext cx="420624" cy="0"/>
          </a:xfrm>
          <a:prstGeom prst="line">
            <a:avLst/>
          </a:prstGeom>
          <a:ln w="15240">
            <a:solidFill>
              <a:srgbClr val="3F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60520" y="3749039"/>
            <a:ext cx="1078992" cy="438912"/>
          </a:xfrm>
          <a:prstGeom prst="roundRect">
            <a:avLst/>
          </a:prstGeom>
          <a:solidFill>
            <a:srgbClr val="F5F7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600" b="1">
                <a:solidFill>
                  <a:srgbClr val="1B315B"/>
                </a:solidFill>
              </a:rPr>
              <a:t>수식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239512" y="3968496"/>
            <a:ext cx="310896" cy="0"/>
          </a:xfrm>
          <a:prstGeom prst="line">
            <a:avLst/>
          </a:prstGeom>
          <a:ln w="15240">
            <a:solidFill>
              <a:srgbClr val="3F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596128" y="3749039"/>
            <a:ext cx="841248" cy="438912"/>
          </a:xfrm>
          <a:prstGeom prst="roundRect">
            <a:avLst/>
          </a:prstGeom>
          <a:solidFill>
            <a:srgbClr val="F5F7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600" b="1">
                <a:solidFill>
                  <a:srgbClr val="1B315B"/>
                </a:solidFill>
              </a:rPr>
              <a:t>직관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37376" y="3968496"/>
            <a:ext cx="347472" cy="0"/>
          </a:xfrm>
          <a:prstGeom prst="line">
            <a:avLst/>
          </a:prstGeom>
          <a:ln w="15240">
            <a:solidFill>
              <a:srgbClr val="3F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30568" y="3749039"/>
            <a:ext cx="841248" cy="438912"/>
          </a:xfrm>
          <a:prstGeom prst="roundRect">
            <a:avLst/>
          </a:prstGeom>
          <a:solidFill>
            <a:srgbClr val="F5F7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600" b="1">
                <a:solidFill>
                  <a:srgbClr val="1B315B"/>
                </a:solidFill>
              </a:rPr>
              <a:t>토의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71816" y="3968496"/>
            <a:ext cx="365759" cy="0"/>
          </a:xfrm>
          <a:prstGeom prst="line">
            <a:avLst/>
          </a:prstGeom>
          <a:ln w="15240">
            <a:solidFill>
              <a:srgbClr val="3F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083296" y="3749039"/>
            <a:ext cx="841248" cy="438912"/>
          </a:xfrm>
          <a:prstGeom prst="roundRect">
            <a:avLst/>
          </a:prstGeom>
          <a:solidFill>
            <a:srgbClr val="F5F7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600" b="1">
                <a:solidFill>
                  <a:srgbClr val="1B315B"/>
                </a:solidFill>
              </a:rPr>
              <a:t>연결</a:t>
            </a: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8404"/>
            <a:ext cx="1181404" cy="5221224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72821" y="-36576"/>
            <a:ext cx="0" cy="2185416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hu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929030" y="3071469"/>
            <a:ext cx="3038551" cy="11814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08176" y="301752"/>
            <a:ext cx="7360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B315B"/>
                </a:solidFill>
              </a:rPr>
              <a:t>스터디에서 다룬 기초 ① | 좋은 예측의 기준을 수식으로 이해하기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969264"/>
            <a:ext cx="5074920" cy="493776"/>
          </a:xfrm>
          <a:prstGeom prst="roundRect">
            <a:avLst/>
          </a:prstGeom>
          <a:solidFill>
            <a:srgbClr val="19264B"/>
          </a:solidFill>
          <a:ln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확률모델 → Likelihood / MLE → Loss function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81328" y="1719072"/>
            <a:ext cx="3383280" cy="2395728"/>
          </a:xfrm>
          <a:prstGeom prst="roundRect">
            <a:avLst>
              <a:gd name="adj" fmla="val 16667"/>
            </a:avLst>
          </a:prstGeom>
          <a:solidFill>
            <a:srgbClr val="e9f0f8"/>
          </a:solidFill>
          <a:ln w="10160">
            <a:solidFill>
              <a:srgbClr val="3f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anchor="t"/>
          <a:lstStyle/>
          <a:p>
            <a:pPr lvl="0" algn="l">
              <a:defRPr/>
            </a:pPr>
            <a:r>
              <a:rPr sz="1500" b="1">
                <a:solidFill>
                  <a:srgbClr val="4571a4"/>
                </a:solidFill>
              </a:rPr>
              <a:t>Likelihood &amp; MLE</a:t>
            </a:r>
            <a:endParaRPr sz="1500" b="1">
              <a:solidFill>
                <a:srgbClr val="4571a4"/>
              </a:solidFill>
            </a:endParaRPr>
          </a:p>
          <a:p>
            <a:pPr lvl="0" algn="l">
              <a:defRPr/>
            </a:pPr>
            <a:endParaRPr sz="1500" b="1">
              <a:solidFill>
                <a:srgbClr val="4571a4"/>
              </a:solidFill>
            </a:endParaRPr>
          </a:p>
          <a:p>
            <a:pPr lvl="0" algn="l">
              <a:defRPr/>
            </a:pPr>
            <a:r>
              <a:rPr sz="1500" b="0">
                <a:solidFill>
                  <a:srgbClr val="2b3340"/>
                </a:solidFill>
              </a:rPr>
              <a:t>관측한 데이터를 얼마나 잘 설명하는가?</a:t>
            </a:r>
            <a:endParaRPr sz="1500" b="0">
              <a:solidFill>
                <a:srgbClr val="2b3340"/>
              </a:solidFill>
            </a:endParaRPr>
          </a:p>
          <a:p>
            <a:pPr lvl="0" algn="l">
              <a:defRPr/>
            </a:pPr>
            <a:r>
              <a:rPr sz="1500" b="0">
                <a:solidFill>
                  <a:srgbClr val="2b3340"/>
                </a:solidFill>
              </a:rPr>
              <a:t>→ likelihood를 가장 크게 만드는 parameter를 찾음</a:t>
            </a:r>
            <a:endParaRPr sz="1500" b="0">
              <a:solidFill>
                <a:srgbClr val="2b3340"/>
              </a:solidFill>
            </a:endParaRPr>
          </a:p>
          <a:p>
            <a:pPr lvl="0" algn="l">
              <a:defRPr/>
            </a:pPr>
            <a:r>
              <a:rPr sz="1500" b="0">
                <a:solidFill>
                  <a:srgbClr val="2b3340"/>
                </a:solidFill>
              </a:rPr>
              <a:t>θ̂ = arg maxθ P(X | θ)</a:t>
            </a:r>
            <a:endParaRPr sz="1500" b="0">
              <a:solidFill>
                <a:srgbClr val="2b3340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206991" y="1719072"/>
            <a:ext cx="3383280" cy="2395728"/>
          </a:xfrm>
          <a:prstGeom prst="roundRect">
            <a:avLst>
              <a:gd name="adj" fmla="val 16667"/>
            </a:avLst>
          </a:prstGeom>
          <a:solidFill>
            <a:srgbClr val="fbf0e6"/>
          </a:solidFill>
          <a:ln w="10160">
            <a:solidFill>
              <a:srgbClr val="d97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anchor="t"/>
          <a:lstStyle/>
          <a:p>
            <a:pPr lvl="0" algn="l">
              <a:defRPr/>
            </a:pPr>
            <a:r>
              <a:rPr sz="1500" b="1">
                <a:solidFill>
                  <a:srgbClr val="d5823d"/>
                </a:solidFill>
              </a:rPr>
              <a:t>Loss</a:t>
            </a:r>
            <a:endParaRPr sz="1500" b="1">
              <a:solidFill>
                <a:srgbClr val="d5823d"/>
              </a:solidFill>
            </a:endParaRPr>
          </a:p>
          <a:p>
            <a:pPr lvl="0" algn="l">
              <a:defRPr/>
            </a:pPr>
            <a:r>
              <a:rPr sz="1500" b="0">
                <a:solidFill>
                  <a:srgbClr val="2b3340"/>
                </a:solidFill>
              </a:rPr>
              <a:t>Regression  →  MSE</a:t>
            </a:r>
            <a:endParaRPr sz="1500" b="0">
              <a:solidFill>
                <a:srgbClr val="2b3340"/>
              </a:solidFill>
            </a:endParaRPr>
          </a:p>
          <a:p>
            <a:pPr lvl="0" algn="l">
              <a:defRPr/>
            </a:pPr>
            <a:r>
              <a:rPr sz="1500" b="0">
                <a:solidFill>
                  <a:srgbClr val="2b3340"/>
                </a:solidFill>
              </a:rPr>
              <a:t>Classification  →  Cross Entropy</a:t>
            </a:r>
            <a:endParaRPr sz="1500" b="0">
              <a:solidFill>
                <a:srgbClr val="2b3340"/>
              </a:solidFill>
            </a:endParaRPr>
          </a:p>
          <a:p>
            <a:pPr lvl="0" algn="l">
              <a:defRPr/>
            </a:pPr>
            <a:endParaRPr sz="1500" b="0">
              <a:solidFill>
                <a:srgbClr val="2b3340"/>
              </a:solidFill>
            </a:endParaRPr>
          </a:p>
          <a:p>
            <a:pPr lvl="0" algn="l">
              <a:defRPr/>
            </a:pPr>
            <a:r>
              <a:rPr sz="1500" b="0">
                <a:solidFill>
                  <a:srgbClr val="2b3340"/>
                </a:solidFill>
              </a:rPr>
              <a:t>핵심은 “어떤 확률모델을 가정했는가?”에서 loss가 연결된다는 점</a:t>
            </a:r>
            <a:endParaRPr sz="1500" b="0">
              <a:solidFill>
                <a:srgbClr val="2b334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920240" y="4315968"/>
            <a:ext cx="6236208" cy="393192"/>
          </a:xfrm>
          <a:prstGeom prst="roundRect">
            <a:avLst/>
          </a:prstGeom>
          <a:solidFill>
            <a:srgbClr val="F5F7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600" b="1">
                <a:solidFill>
                  <a:srgbClr val="1B315B"/>
                </a:solidFill>
              </a:rPr>
              <a:t>공식을 외우기보다  “왜 이 loss가 나오는가?”  를 연결해서 이해</a:t>
            </a:r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8404"/>
            <a:ext cx="1181404" cy="5221224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72821" y="-36576"/>
            <a:ext cx="0" cy="2185416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hu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929030" y="3071469"/>
            <a:ext cx="3038551" cy="11814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08176" y="301752"/>
            <a:ext cx="7360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B315B"/>
                </a:solidFill>
              </a:rPr>
              <a:t>스터디에서 다룬 기초 ② | 데이터 준비와 일반화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81328" y="987552"/>
            <a:ext cx="1152144" cy="603504"/>
          </a:xfrm>
          <a:prstGeom prst="roundRect">
            <a:avLst/>
          </a:prstGeom>
          <a:solidFill>
            <a:srgbClr val="E9F0F8"/>
          </a:solidFill>
          <a:ln>
            <a:solidFill>
              <a:srgbClr val="3F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070" b="1">
                <a:solidFill>
                  <a:srgbClr val="3F6FA8"/>
                </a:solidFill>
                <a:latin typeface="NanumGothic"/>
              </a:rPr>
              <a:t>Feature</a:t>
            </a:r>
            <a:br/>
            <a:r>
              <a:t>Selection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1289304"/>
            <a:ext cx="192024" cy="0"/>
          </a:xfrm>
          <a:prstGeom prst="line">
            <a:avLst/>
          </a:prstGeom>
          <a:ln w="1270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98648" y="987552"/>
            <a:ext cx="1152144" cy="603504"/>
          </a:xfrm>
          <a:prstGeom prst="roundRect">
            <a:avLst/>
          </a:prstGeom>
          <a:solidFill>
            <a:srgbClr val="FBF0E6"/>
          </a:solidFill>
          <a:ln>
            <a:solidFill>
              <a:srgbClr val="D97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070" b="1">
                <a:solidFill>
                  <a:srgbClr val="D97A32"/>
                </a:solidFill>
                <a:latin typeface="NanumGothic"/>
              </a:rPr>
              <a:t>Outlier</a:t>
            </a:r>
            <a:br/>
            <a:r>
              <a:t>Detection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69080" y="1289304"/>
            <a:ext cx="192024" cy="0"/>
          </a:xfrm>
          <a:prstGeom prst="line">
            <a:avLst/>
          </a:prstGeom>
          <a:ln w="1270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15968" y="987552"/>
            <a:ext cx="1152144" cy="603504"/>
          </a:xfrm>
          <a:prstGeom prst="roundRect">
            <a:avLst/>
          </a:prstGeom>
          <a:solidFill>
            <a:srgbClr val="E9F3EF"/>
          </a:solidFill>
          <a:ln>
            <a:solidFill>
              <a:srgbClr val="4F7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070" b="1">
                <a:solidFill>
                  <a:srgbClr val="4F7C6A"/>
                </a:solidFill>
                <a:latin typeface="NanumGothic"/>
              </a:rPr>
              <a:t>Imputation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0" y="1289304"/>
            <a:ext cx="192024" cy="0"/>
          </a:xfrm>
          <a:prstGeom prst="line">
            <a:avLst/>
          </a:prstGeom>
          <a:ln w="1270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733288" y="987552"/>
            <a:ext cx="1152144" cy="603504"/>
          </a:xfrm>
          <a:prstGeom prst="roundRect">
            <a:avLst/>
          </a:prstGeom>
          <a:solidFill>
            <a:srgbClr val="E9F0F8"/>
          </a:solidFill>
          <a:ln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070" b="1">
                <a:solidFill>
                  <a:srgbClr val="19264B"/>
                </a:solidFill>
                <a:latin typeface="NanumGothic"/>
              </a:rPr>
              <a:t>Scaling /</a:t>
            </a:r>
            <a:br/>
            <a:r>
              <a:t>PCA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03720" y="1289304"/>
            <a:ext cx="192024" cy="0"/>
          </a:xfrm>
          <a:prstGeom prst="line">
            <a:avLst/>
          </a:prstGeom>
          <a:ln w="1270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150608" y="987552"/>
            <a:ext cx="1152144" cy="603504"/>
          </a:xfrm>
          <a:prstGeom prst="roundRect">
            <a:avLst/>
          </a:prstGeom>
          <a:solidFill>
            <a:srgbClr val="F5F7FA"/>
          </a:solidFill>
          <a:ln>
            <a:solidFill>
              <a:srgbClr val="3F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070" b="1">
                <a:solidFill>
                  <a:srgbClr val="3F6FA8"/>
                </a:solidFill>
                <a:latin typeface="NanumGothic"/>
              </a:rPr>
              <a:t>Train / Val /</a:t>
            </a:r>
            <a:br/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1883664"/>
            <a:ext cx="3090672" cy="20112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lvl="0">
              <a:spcAft>
                <a:spcPts val="500"/>
              </a:spcAft>
              <a:defRPr sz="1170">
                <a:solidFill>
                  <a:srgbClr val="1f2937"/>
                </a:solidFill>
                <a:latin typeface="나눔고딕"/>
              </a:defRPr>
            </a:pPr>
            <a:r>
              <a:rPr sz="1400" b="0">
                <a:solidFill>
                  <a:srgbClr val="2b3340"/>
                </a:solidFill>
              </a:rPr>
              <a:t>• Feature selection: 필요한 정보를 남기기</a:t>
            </a:r>
            <a:endParaRPr sz="1400" b="0">
              <a:solidFill>
                <a:srgbClr val="2b3340"/>
              </a:solidFill>
            </a:endParaRPr>
          </a:p>
          <a:p>
            <a:pPr lvl="0">
              <a:defRPr sz="1170">
                <a:solidFill>
                  <a:srgbClr val="1f2937"/>
                </a:solidFill>
                <a:latin typeface="나눔고딕"/>
              </a:defRPr>
            </a:pPr>
            <a:r>
              <a:rPr sz="1400" b="0">
                <a:solidFill>
                  <a:srgbClr val="2b3340"/>
                </a:solidFill>
              </a:rPr>
              <a:t>• Outlier / missing value: 실험 데이터의 이상과 결측 처리</a:t>
            </a:r>
            <a:endParaRPr sz="1400" b="0">
              <a:solidFill>
                <a:srgbClr val="2b3340"/>
              </a:solidFill>
            </a:endParaRPr>
          </a:p>
          <a:p>
            <a:pPr lvl="0">
              <a:defRPr sz="1170">
                <a:solidFill>
                  <a:srgbClr val="1f2937"/>
                </a:solidFill>
                <a:latin typeface="나눔고딕"/>
              </a:defRPr>
            </a:pPr>
            <a:r>
              <a:rPr sz="1400" b="0">
                <a:solidFill>
                  <a:srgbClr val="2b3340"/>
                </a:solidFill>
              </a:rPr>
              <a:t>• PCA / scaling: 학습하기 좋은 형태로 표현</a:t>
            </a:r>
            <a:endParaRPr sz="1400" b="0">
              <a:solidFill>
                <a:srgbClr val="2b3340"/>
              </a:solidFill>
            </a:endParaRPr>
          </a:p>
          <a:p>
            <a:pPr lvl="0">
              <a:defRPr sz="1170">
                <a:solidFill>
                  <a:srgbClr val="1f2937"/>
                </a:solidFill>
                <a:latin typeface="나눔고딕"/>
              </a:defRPr>
            </a:pPr>
            <a:endParaRPr sz="1400" b="0">
              <a:solidFill>
                <a:srgbClr val="2b3340"/>
              </a:solidFill>
            </a:endParaRPr>
          </a:p>
          <a:p>
            <a:pPr lvl="0">
              <a:defRPr sz="1170">
                <a:solidFill>
                  <a:srgbClr val="1f2937"/>
                </a:solidFill>
                <a:latin typeface="나눔고딕"/>
              </a:defRPr>
            </a:pPr>
            <a:r>
              <a:rPr sz="1400" b="0">
                <a:solidFill>
                  <a:srgbClr val="2b3340"/>
                </a:solidFill>
              </a:rPr>
              <a:t>모델 자체만큼 “어떤 데이터를 넣는가”도 중요</a:t>
            </a:r>
            <a:endParaRPr sz="1400" b="0">
              <a:solidFill>
                <a:srgbClr val="2b334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809744" y="1828800"/>
            <a:ext cx="1856231" cy="1993392"/>
          </a:xfrm>
          <a:prstGeom prst="rect">
            <a:avLst/>
          </a:prstGeom>
          <a:noFill/>
          <a:ln w="889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l">
              <a:defRPr/>
            </a:pPr>
            <a:r>
              <a:rPr sz="1300" b="1">
                <a:solidFill>
                  <a:srgbClr val="4f7e6f"/>
                </a:solidFill>
              </a:rPr>
              <a:t>Train / Validation / Test</a:t>
            </a:r>
            <a:endParaRPr sz="1300" b="1">
              <a:solidFill>
                <a:srgbClr val="4f7e6f"/>
              </a:solidFill>
            </a:endParaRPr>
          </a:p>
          <a:p>
            <a:pPr lvl="0" algn="l">
              <a:defRPr/>
            </a:pPr>
            <a:endParaRPr sz="1300" b="1">
              <a:solidFill>
                <a:srgbClr val="4f7e6f"/>
              </a:solidFill>
            </a:endParaRPr>
          </a:p>
          <a:p>
            <a:pPr lvl="0" algn="l">
              <a:defRPr/>
            </a:pPr>
            <a:r>
              <a:rPr sz="1300" b="0">
                <a:solidFill>
                  <a:srgbClr val="2b3340"/>
                </a:solidFill>
              </a:rPr>
              <a:t>Train: parameter 학습</a:t>
            </a:r>
            <a:endParaRPr sz="1300" b="0">
              <a:solidFill>
                <a:srgbClr val="2b3340"/>
              </a:solidFill>
            </a:endParaRPr>
          </a:p>
          <a:p>
            <a:pPr lvl="0" algn="l">
              <a:defRPr/>
            </a:pPr>
            <a:r>
              <a:rPr sz="1300" b="0">
                <a:solidFill>
                  <a:srgbClr val="2b3340"/>
                </a:solidFill>
              </a:rPr>
              <a:t>Validation: model / hyperparameter 선택</a:t>
            </a:r>
            <a:endParaRPr sz="1300" b="0">
              <a:solidFill>
                <a:srgbClr val="2b3340"/>
              </a:solidFill>
            </a:endParaRPr>
          </a:p>
          <a:p>
            <a:pPr lvl="0" algn="l">
              <a:defRPr/>
            </a:pPr>
            <a:r>
              <a:rPr sz="1300" b="0">
                <a:solidFill>
                  <a:srgbClr val="2b3340"/>
                </a:solidFill>
              </a:rPr>
              <a:t>Test: 최종 성능 평가</a:t>
            </a:r>
            <a:endParaRPr sz="1300" b="0">
              <a:solidFill>
                <a:srgbClr val="2b334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793992" y="1828800"/>
            <a:ext cx="1856231" cy="1993392"/>
          </a:xfrm>
          <a:prstGeom prst="rect">
            <a:avLst/>
          </a:prstGeom>
          <a:noFill/>
          <a:ln w="889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l">
              <a:defRPr/>
            </a:pPr>
            <a:r>
              <a:rPr sz="1300" b="1">
                <a:solidFill>
                  <a:srgbClr val="d5823d"/>
                </a:solidFill>
              </a:rPr>
              <a:t>Generalization</a:t>
            </a:r>
            <a:endParaRPr sz="1300" b="1">
              <a:solidFill>
                <a:srgbClr val="d5823d"/>
              </a:solidFill>
            </a:endParaRPr>
          </a:p>
          <a:p>
            <a:pPr lvl="0" algn="l">
              <a:defRPr/>
            </a:pPr>
            <a:endParaRPr sz="1300" b="1">
              <a:solidFill>
                <a:srgbClr val="d5823d"/>
              </a:solidFill>
            </a:endParaRPr>
          </a:p>
          <a:p>
            <a:pPr lvl="0" algn="l">
              <a:defRPr/>
            </a:pPr>
            <a:r>
              <a:rPr sz="1300" b="0">
                <a:solidFill>
                  <a:srgbClr val="2b3340"/>
                </a:solidFill>
              </a:rPr>
              <a:t>training data만 외우는 모델이 아니라</a:t>
            </a:r>
            <a:endParaRPr sz="1300" b="0">
              <a:solidFill>
                <a:srgbClr val="2b3340"/>
              </a:solidFill>
            </a:endParaRPr>
          </a:p>
          <a:p>
            <a:pPr lvl="0" algn="l">
              <a:defRPr/>
            </a:pPr>
            <a:r>
              <a:rPr sz="1300" b="0">
                <a:solidFill>
                  <a:srgbClr val="2b3340"/>
                </a:solidFill>
              </a:rPr>
              <a:t>unseen data에서도 성능을 유지하는 모델</a:t>
            </a:r>
            <a:endParaRPr sz="1300" b="0">
              <a:solidFill>
                <a:srgbClr val="2b3340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147123" y="4152093"/>
            <a:ext cx="3883026" cy="625293"/>
          </a:xfrm>
          <a:prstGeom prst="roundRect">
            <a:avLst>
              <a:gd name="adj" fmla="val 16667"/>
            </a:avLst>
          </a:prstGeom>
          <a:solidFill>
            <a:srgbClr val="e9f0f8"/>
          </a:solidFill>
          <a:ln>
            <a:solidFill>
              <a:srgbClr val="3f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anchor="ctr"/>
          <a:lstStyle/>
          <a:p>
            <a:pPr lvl="0" algn="ctr">
              <a:defRPr/>
            </a:pPr>
            <a:r>
              <a:rPr sz="1500" b="1">
                <a:solidFill>
                  <a:srgbClr val="1b315b"/>
                </a:solidFill>
              </a:rPr>
              <a:t>Raw data → 학습 가능한 representation → unseen data에서도 안정적인 성능</a:t>
            </a:r>
            <a:endParaRPr sz="1500" b="1">
              <a:solidFill>
                <a:srgbClr val="1b315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8404"/>
            <a:ext cx="1181404" cy="5221224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72821" y="-36576"/>
            <a:ext cx="0" cy="2185416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hu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929030" y="3071469"/>
            <a:ext cx="3038551" cy="11814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08176" y="301752"/>
            <a:ext cx="7360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B315B"/>
                </a:solidFill>
              </a:rPr>
              <a:t>스터디에서 다룬 기초 ③ | Loss를 줄이며 모델이 학습하는 원리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81328" y="1005840"/>
            <a:ext cx="1353312" cy="384048"/>
          </a:xfrm>
          <a:prstGeom prst="roundRect">
            <a:avLst/>
          </a:prstGeom>
          <a:solidFill>
            <a:srgbClr val="3F6FA8"/>
          </a:solidFill>
          <a:ln>
            <a:solidFill>
              <a:srgbClr val="3F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NanumGothic"/>
              </a:rPr>
              <a:t>Gradient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393506"/>
            <a:ext cx="2919077" cy="217760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lvl="0">
              <a:spcAft>
                <a:spcPts val="500"/>
              </a:spcAft>
              <a:defRPr sz="1200">
                <a:solidFill>
                  <a:srgbClr val="1f2937"/>
                </a:solidFill>
                <a:latin typeface="나눔고딕"/>
              </a:defRPr>
            </a:pPr>
            <a:r>
              <a:rPr sz="1600" b="0">
                <a:solidFill>
                  <a:srgbClr val="2b3340"/>
                </a:solidFill>
              </a:rPr>
              <a:t>Gradient는 parameter를 어느 방향으로 바꾸면 loss가 변하는지를 알려주는 vector</a:t>
            </a:r>
            <a:endParaRPr sz="1600" b="0">
              <a:solidFill>
                <a:srgbClr val="2b3340"/>
              </a:solidFill>
            </a:endParaRPr>
          </a:p>
          <a:p>
            <a:pPr lvl="0">
              <a:spcAft>
                <a:spcPts val="500"/>
              </a:spcAft>
              <a:defRPr sz="1200">
                <a:solidFill>
                  <a:srgbClr val="1f2937"/>
                </a:solidFill>
                <a:latin typeface="나눔고딕"/>
              </a:defRPr>
            </a:pPr>
            <a:endParaRPr sz="1600" b="0">
              <a:solidFill>
                <a:srgbClr val="2b3340"/>
              </a:solidFill>
            </a:endParaRPr>
          </a:p>
          <a:p>
            <a:pPr lvl="0">
              <a:spcAft>
                <a:spcPts val="500"/>
              </a:spcAft>
              <a:defRPr sz="1200">
                <a:solidFill>
                  <a:srgbClr val="1f2937"/>
                </a:solidFill>
                <a:latin typeface="나눔고딕"/>
              </a:defRPr>
            </a:pPr>
            <a:endParaRPr sz="1600" b="0">
              <a:solidFill>
                <a:srgbClr val="2b3340"/>
              </a:solidFill>
            </a:endParaRPr>
          </a:p>
          <a:p>
            <a:pPr lvl="0">
              <a:defRPr sz="1200">
                <a:solidFill>
                  <a:srgbClr val="1f2937"/>
                </a:solidFill>
                <a:latin typeface="나눔고딕"/>
              </a:defRPr>
            </a:pPr>
            <a:r>
              <a:rPr sz="1600" b="0">
                <a:solidFill>
                  <a:srgbClr val="2b3340"/>
                </a:solidFill>
              </a:rPr>
              <a:t>가장 빠르게 증가하는 방향이 gradient이므로, 반대 방향으로 이동하면 loss를 줄일 수 있</a:t>
            </a:r>
            <a:r>
              <a:rPr lang="ko-KR" altLang="en-US" sz="1600" b="0">
                <a:solidFill>
                  <a:srgbClr val="2b3340"/>
                </a:solidFill>
              </a:rPr>
              <a:t>음</a:t>
            </a:r>
            <a:r>
              <a:rPr lang="en-US" altLang="ko-KR" sz="1600" b="0">
                <a:solidFill>
                  <a:srgbClr val="2b3340"/>
                </a:solidFill>
              </a:rPr>
              <a:t>.</a:t>
            </a:r>
            <a:endParaRPr lang="en-US" altLang="ko-KR" sz="1600" b="0">
              <a:solidFill>
                <a:srgbClr val="2b3340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481328" y="2379726"/>
            <a:ext cx="1874519" cy="384048"/>
          </a:xfrm>
          <a:prstGeom prst="roundRect">
            <a:avLst>
              <a:gd name="adj" fmla="val 16667"/>
            </a:avLst>
          </a:prstGeom>
          <a:solidFill>
            <a:srgbClr val="19264b"/>
          </a:solidFill>
          <a:ln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anchor="ctr"/>
          <a:lstStyle/>
          <a:p>
            <a:pPr lvl="0" algn="ctr">
              <a:defRPr/>
            </a:pPr>
            <a:r>
              <a:rPr sz="1150" b="1">
                <a:solidFill>
                  <a:srgbClr val="ffffff"/>
                </a:solidFill>
                <a:latin typeface="나눔고딕"/>
              </a:rPr>
              <a:t>Gradient Descent</a:t>
            </a:r>
            <a:endParaRPr sz="1150" b="1">
              <a:solidFill>
                <a:srgbClr val="ffffff"/>
              </a:solidFill>
              <a:latin typeface="나눔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08176" y="3675888"/>
            <a:ext cx="3328416" cy="12573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lvl="0">
              <a:spcAft>
                <a:spcPts val="500"/>
              </a:spcAft>
              <a:defRPr sz="1220">
                <a:solidFill>
                  <a:srgbClr val="1f2937"/>
                </a:solidFill>
                <a:latin typeface="나눔고딕"/>
              </a:defRPr>
            </a:pPr>
            <a:r>
              <a:rPr sz="1800" b="0">
                <a:solidFill>
                  <a:srgbClr val="2b3340"/>
                </a:solidFill>
              </a:rPr>
              <a:t>θ ← θ − α∇J(θ)</a:t>
            </a:r>
            <a:endParaRPr sz="1800" b="0">
              <a:solidFill>
                <a:srgbClr val="2b3340"/>
              </a:solidFill>
            </a:endParaRPr>
          </a:p>
          <a:p>
            <a:pPr lvl="0">
              <a:spcAft>
                <a:spcPts val="500"/>
              </a:spcAft>
              <a:defRPr sz="1220">
                <a:solidFill>
                  <a:srgbClr val="1f2937"/>
                </a:solidFill>
                <a:latin typeface="나눔고딕"/>
              </a:defRPr>
            </a:pPr>
            <a:endParaRPr sz="1800" b="0">
              <a:solidFill>
                <a:srgbClr val="2b3340"/>
              </a:solidFill>
            </a:endParaRPr>
          </a:p>
          <a:p>
            <a:pPr lvl="0">
              <a:defRPr sz="1220">
                <a:solidFill>
                  <a:srgbClr val="1f2937"/>
                </a:solidFill>
                <a:latin typeface="나눔고딕"/>
              </a:defRPr>
            </a:pPr>
            <a:r>
              <a:rPr sz="1800" b="0">
                <a:solidFill>
                  <a:srgbClr val="2b3340"/>
                </a:solidFill>
              </a:rPr>
              <a:t>이 과정을 반복하며 parameter를 update.</a:t>
            </a:r>
            <a:endParaRPr sz="1800" b="0">
              <a:solidFill>
                <a:srgbClr val="2b334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0" y="804672"/>
            <a:ext cx="3995928" cy="3648456"/>
          </a:xfrm>
          <a:prstGeom prst="rect">
            <a:avLst/>
          </a:prstGeom>
          <a:noFill/>
          <a:ln w="889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Rounded Rectangle 11"/>
          <p:cNvSpPr/>
          <p:nvPr/>
        </p:nvSpPr>
        <p:spPr>
          <a:xfrm>
            <a:off x="5166360" y="4279392"/>
            <a:ext cx="868680" cy="329184"/>
          </a:xfrm>
          <a:prstGeom prst="roundRect">
            <a:avLst/>
          </a:prstGeom>
          <a:solidFill>
            <a:srgbClr val="E9F0F8"/>
          </a:solidFill>
          <a:ln>
            <a:solidFill>
              <a:srgbClr val="3F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1B315B"/>
                </a:solidFill>
              </a:rPr>
              <a:t>Loss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62472" y="4443984"/>
            <a:ext cx="356616" cy="0"/>
          </a:xfrm>
          <a:prstGeom prst="line">
            <a:avLst/>
          </a:prstGeom>
          <a:ln w="1270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55664" y="4279392"/>
            <a:ext cx="868680" cy="329184"/>
          </a:xfrm>
          <a:prstGeom prst="roundRect">
            <a:avLst/>
          </a:prstGeom>
          <a:solidFill>
            <a:srgbClr val="FBF0E6"/>
          </a:solidFill>
          <a:ln>
            <a:solidFill>
              <a:srgbClr val="D97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1B315B"/>
                </a:solidFill>
              </a:rPr>
              <a:t>Gradient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51775" y="4443984"/>
            <a:ext cx="347473" cy="0"/>
          </a:xfrm>
          <a:prstGeom prst="line">
            <a:avLst/>
          </a:prstGeom>
          <a:ln w="1270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35824" y="4279392"/>
            <a:ext cx="731520" cy="329184"/>
          </a:xfrm>
          <a:prstGeom prst="roundRect">
            <a:avLst/>
          </a:prstGeom>
          <a:solidFill>
            <a:srgbClr val="E9F3EF"/>
          </a:solidFill>
          <a:ln>
            <a:solidFill>
              <a:srgbClr val="4F7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400" b="1">
                <a:solidFill>
                  <a:srgbClr val="1B315B"/>
                </a:solidFill>
              </a:rPr>
              <a:t>Update</a:t>
            </a: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611541" y="2003130"/>
            <a:ext cx="1827940" cy="113724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724076" y="1214342"/>
            <a:ext cx="1753247" cy="27148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8404"/>
            <a:ext cx="1181404" cy="5221224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172821" y="-36576"/>
            <a:ext cx="0" cy="2185416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chung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-929030" y="3071469"/>
            <a:ext cx="3038551" cy="11814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08175" y="301752"/>
            <a:ext cx="6613920" cy="3459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l">
              <a:defRPr/>
            </a:pPr>
            <a:r>
              <a:rPr lang="ko-KR" altLang="en-US" sz="2300" b="1">
                <a:solidFill>
                  <a:srgbClr val="1b315b"/>
                </a:solidFill>
              </a:rPr>
              <a:t>앞으로 계획</a:t>
            </a:r>
            <a:endParaRPr lang="ko-KR" altLang="en-US" sz="2300" b="1">
              <a:solidFill>
                <a:srgbClr val="1b315b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536192" y="889827"/>
            <a:ext cx="1078992" cy="694944"/>
          </a:xfrm>
          <a:prstGeom prst="roundRect">
            <a:avLst>
              <a:gd name="adj" fmla="val 16667"/>
            </a:avLst>
          </a:prstGeom>
          <a:solidFill>
            <a:srgbClr val="e9f0f8"/>
          </a:solidFill>
          <a:ln>
            <a:solidFill>
              <a:srgbClr val="3f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anchor="ctr"/>
          <a:lstStyle/>
          <a:p>
            <a:pPr lvl="0" algn="ctr">
              <a:defRPr/>
            </a:pPr>
            <a:r>
              <a:rPr sz="1600" b="1">
                <a:solidFill>
                  <a:srgbClr val="1b315b"/>
                </a:solidFill>
              </a:rPr>
              <a:t>Chemical</a:t>
            </a:r>
            <a:endParaRPr sz="1600" b="1">
              <a:solidFill>
                <a:srgbClr val="1b315b"/>
              </a:solidFill>
            </a:endParaRPr>
          </a:p>
          <a:p>
            <a:pPr lvl="0" algn="ctr">
              <a:defRPr/>
            </a:pPr>
            <a:r>
              <a:rPr sz="1600" b="1">
                <a:solidFill>
                  <a:srgbClr val="1b315b"/>
                </a:solidFill>
              </a:rPr>
              <a:t>Data</a:t>
            </a:r>
            <a:endParaRPr sz="1600" b="1">
              <a:solidFill>
                <a:srgbClr val="1b315b"/>
              </a:solidFill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2633472" y="1237299"/>
            <a:ext cx="201168" cy="0"/>
          </a:xfrm>
          <a:prstGeom prst="line">
            <a:avLst/>
          </a:prstGeom>
          <a:ln w="1524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89504" y="889827"/>
            <a:ext cx="1271016" cy="694944"/>
          </a:xfrm>
          <a:prstGeom prst="roundRect">
            <a:avLst>
              <a:gd name="adj" fmla="val 16667"/>
            </a:avLst>
          </a:prstGeom>
          <a:solidFill>
            <a:srgbClr val="e9f3ef"/>
          </a:solidFill>
          <a:ln>
            <a:solidFill>
              <a:srgbClr val="4f7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anchor="ctr"/>
          <a:lstStyle/>
          <a:p>
            <a:pPr lvl="0" algn="ctr">
              <a:defRPr/>
            </a:pPr>
            <a:r>
              <a:rPr sz="1600" b="1">
                <a:solidFill>
                  <a:srgbClr val="1b315b"/>
                </a:solidFill>
              </a:rPr>
              <a:t>Data</a:t>
            </a:r>
            <a:endParaRPr sz="1600" b="1">
              <a:solidFill>
                <a:srgbClr val="1b315b"/>
              </a:solidFill>
            </a:endParaRPr>
          </a:p>
          <a:p>
            <a:pPr lvl="0" algn="ctr">
              <a:defRPr/>
            </a:pPr>
            <a:r>
              <a:rPr sz="1600" b="1">
                <a:solidFill>
                  <a:srgbClr val="1b315b"/>
                </a:solidFill>
              </a:rPr>
              <a:t>Preparation</a:t>
            </a:r>
            <a:endParaRPr sz="1600" b="1">
              <a:solidFill>
                <a:srgbClr val="1b315b"/>
              </a:solidFill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3986784" y="1237299"/>
            <a:ext cx="347472" cy="0"/>
          </a:xfrm>
          <a:prstGeom prst="line">
            <a:avLst/>
          </a:prstGeom>
          <a:ln w="1524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89120" y="889827"/>
            <a:ext cx="1078992" cy="694944"/>
          </a:xfrm>
          <a:prstGeom prst="roundRect">
            <a:avLst>
              <a:gd name="adj" fmla="val 16667"/>
            </a:avLst>
          </a:prstGeom>
          <a:solidFill>
            <a:srgbClr val="e9f0f8"/>
          </a:solidFill>
          <a:ln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anchor="ctr"/>
          <a:lstStyle/>
          <a:p>
            <a:pPr lvl="0" algn="ctr">
              <a:defRPr/>
            </a:pPr>
            <a:r>
              <a:rPr sz="1600" b="1">
                <a:solidFill>
                  <a:srgbClr val="1b315b"/>
                </a:solidFill>
              </a:rPr>
              <a:t>Loss /</a:t>
            </a:r>
            <a:endParaRPr sz="1600" b="1">
              <a:solidFill>
                <a:srgbClr val="1b315b"/>
              </a:solidFill>
            </a:endParaRPr>
          </a:p>
          <a:p>
            <a:pPr lvl="0" algn="ctr">
              <a:defRPr/>
            </a:pPr>
            <a:r>
              <a:rPr sz="1600" b="1">
                <a:solidFill>
                  <a:srgbClr val="1b315b"/>
                </a:solidFill>
              </a:rPr>
              <a:t>Objective</a:t>
            </a:r>
            <a:endParaRPr sz="1600" b="1">
              <a:solidFill>
                <a:srgbClr val="1b315b"/>
              </a:solidFill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486400" y="1237299"/>
            <a:ext cx="292608" cy="0"/>
          </a:xfrm>
          <a:prstGeom prst="line">
            <a:avLst/>
          </a:prstGeom>
          <a:ln w="1524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833872" y="889827"/>
            <a:ext cx="1078992" cy="694944"/>
          </a:xfrm>
          <a:prstGeom prst="roundRect">
            <a:avLst>
              <a:gd name="adj" fmla="val 16667"/>
            </a:avLst>
          </a:prstGeom>
          <a:solidFill>
            <a:srgbClr val="fbf0e6"/>
          </a:solidFill>
          <a:ln>
            <a:solidFill>
              <a:srgbClr val="d97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anchor="ctr"/>
          <a:lstStyle/>
          <a:p>
            <a:pPr lvl="0" algn="ctr">
              <a:defRPr/>
            </a:pPr>
            <a:r>
              <a:rPr sz="1600" b="1">
                <a:solidFill>
                  <a:srgbClr val="1b315b"/>
                </a:solidFill>
              </a:rPr>
              <a:t>Gradient</a:t>
            </a:r>
            <a:endParaRPr sz="1100" b="1">
              <a:solidFill>
                <a:schemeClr val="tx1"/>
              </a:solidFill>
              <a:latin typeface="나눔고딕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6931152" y="1237299"/>
            <a:ext cx="155448" cy="0"/>
          </a:xfrm>
          <a:prstGeom prst="line">
            <a:avLst/>
          </a:prstGeom>
          <a:ln w="15240">
            <a:solidFill>
              <a:srgbClr val="19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141464" y="889827"/>
            <a:ext cx="1078992" cy="694944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>
            <a:solidFill>
              <a:srgbClr val="3f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anchor="ctr"/>
          <a:lstStyle/>
          <a:p>
            <a:pPr lvl="0" algn="ctr">
              <a:defRPr/>
            </a:pPr>
            <a:r>
              <a:rPr sz="1600" b="1">
                <a:solidFill>
                  <a:srgbClr val="1b315b"/>
                </a:solidFill>
              </a:rPr>
              <a:t>Parameter</a:t>
            </a:r>
            <a:endParaRPr sz="1600" b="1">
              <a:solidFill>
                <a:srgbClr val="1b315b"/>
              </a:solidFill>
            </a:endParaRPr>
          </a:p>
          <a:p>
            <a:pPr lvl="0" algn="ctr">
              <a:defRPr/>
            </a:pPr>
            <a:r>
              <a:rPr sz="1600" b="1">
                <a:solidFill>
                  <a:srgbClr val="1b315b"/>
                </a:solidFill>
              </a:rPr>
              <a:t>Update</a:t>
            </a:r>
            <a:endParaRPr sz="1600" b="1">
              <a:solidFill>
                <a:srgbClr val="1b315b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536192" y="1858612"/>
            <a:ext cx="2084831" cy="1719072"/>
          </a:xfrm>
          <a:prstGeom prst="roundRect">
            <a:avLst>
              <a:gd name="adj" fmla="val 16667"/>
            </a:avLst>
          </a:prstGeom>
          <a:solidFill>
            <a:srgbClr val="e9f0f8"/>
          </a:solidFill>
          <a:ln w="10160">
            <a:solidFill>
              <a:srgbClr val="3f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anchor="t"/>
          <a:lstStyle/>
          <a:p>
            <a:pPr lvl="0" algn="l">
              <a:defRPr/>
            </a:pPr>
            <a:r>
              <a:rPr sz="1400" b="1">
                <a:solidFill>
                  <a:srgbClr val="4571a4"/>
                </a:solidFill>
              </a:rPr>
              <a:t>① 하나의 흐름으로 연결</a:t>
            </a:r>
            <a:endParaRPr sz="1400" b="1">
              <a:solidFill>
                <a:srgbClr val="4571a4"/>
              </a:solidFill>
            </a:endParaRPr>
          </a:p>
          <a:p>
            <a:pPr lvl="0" algn="l">
              <a:defRPr/>
            </a:pPr>
            <a:r>
              <a:rPr sz="1400" b="0">
                <a:solidFill>
                  <a:srgbClr val="2b3340"/>
                </a:solidFill>
              </a:rPr>
              <a:t>처음엔 따로 보였던 개념들이</a:t>
            </a:r>
            <a:endParaRPr sz="1400" b="0">
              <a:solidFill>
                <a:srgbClr val="2b3340"/>
              </a:solidFill>
            </a:endParaRPr>
          </a:p>
          <a:p>
            <a:pPr lvl="0" algn="l">
              <a:defRPr/>
            </a:pPr>
            <a:r>
              <a:rPr sz="1400" b="0">
                <a:solidFill>
                  <a:srgbClr val="2b3340"/>
                </a:solidFill>
              </a:rPr>
              <a:t>Data → Loss → Gradient → Update로 연결됨</a:t>
            </a:r>
            <a:endParaRPr sz="1400" b="0">
              <a:solidFill>
                <a:srgbClr val="2b3340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822192" y="1858612"/>
            <a:ext cx="2011680" cy="1719072"/>
          </a:xfrm>
          <a:prstGeom prst="roundRect">
            <a:avLst>
              <a:gd name="adj" fmla="val 16667"/>
            </a:avLst>
          </a:prstGeom>
          <a:solidFill>
            <a:srgbClr val="e9f3ef"/>
          </a:solidFill>
          <a:ln w="10160">
            <a:solidFill>
              <a:srgbClr val="4f7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anchor="t"/>
          <a:lstStyle/>
          <a:p>
            <a:pPr lvl="0" algn="l">
              <a:defRPr/>
            </a:pPr>
            <a:r>
              <a:rPr sz="1400" b="1">
                <a:solidFill>
                  <a:srgbClr val="4f7e6f"/>
                </a:solidFill>
              </a:rPr>
              <a:t>② 화학 데이터의 특성이 중요</a:t>
            </a:r>
            <a:endParaRPr sz="1400" b="1">
              <a:solidFill>
                <a:srgbClr val="4f7e6f"/>
              </a:solidFill>
            </a:endParaRPr>
          </a:p>
          <a:p>
            <a:pPr lvl="0" algn="l">
              <a:defRPr/>
            </a:pPr>
            <a:r>
              <a:rPr sz="1400" b="0">
                <a:solidFill>
                  <a:srgbClr val="2b3340"/>
                </a:solidFill>
              </a:rPr>
              <a:t>Spectrum · molecular graph · image처럼</a:t>
            </a:r>
            <a:endParaRPr sz="1400" b="0">
              <a:solidFill>
                <a:srgbClr val="2b3340"/>
              </a:solidFill>
            </a:endParaRPr>
          </a:p>
          <a:p>
            <a:pPr lvl="0" algn="l">
              <a:defRPr/>
            </a:pPr>
            <a:r>
              <a:rPr sz="1400" b="0">
                <a:solidFill>
                  <a:srgbClr val="2b3340"/>
                </a:solidFill>
              </a:rPr>
              <a:t>데이터 구조에 따라 표현과 모델이 달라짐</a:t>
            </a:r>
            <a:endParaRPr sz="1400" b="0">
              <a:solidFill>
                <a:srgbClr val="2b3340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08192" y="1858612"/>
            <a:ext cx="2112264" cy="1719072"/>
          </a:xfrm>
          <a:prstGeom prst="roundRect">
            <a:avLst>
              <a:gd name="adj" fmla="val 16667"/>
            </a:avLst>
          </a:prstGeom>
          <a:solidFill>
            <a:srgbClr val="fbf0e6"/>
          </a:solidFill>
          <a:ln w="10160">
            <a:solidFill>
              <a:srgbClr val="d97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anchor="t"/>
          <a:lstStyle/>
          <a:p>
            <a:pPr lvl="0" algn="l">
              <a:defRPr/>
            </a:pPr>
            <a:r>
              <a:rPr sz="1400" b="1">
                <a:solidFill>
                  <a:srgbClr val="d5823d"/>
                </a:solidFill>
              </a:rPr>
              <a:t>③ 복잡한 모델보다 기초 질문부터</a:t>
            </a:r>
            <a:endParaRPr sz="1400" b="1">
              <a:solidFill>
                <a:srgbClr val="d5823d"/>
              </a:solidFill>
            </a:endParaRPr>
          </a:p>
          <a:p>
            <a:pPr lvl="0" algn="l">
              <a:defRPr/>
            </a:pPr>
            <a:endParaRPr sz="1400" b="1">
              <a:solidFill>
                <a:srgbClr val="d5823d"/>
              </a:solidFill>
            </a:endParaRPr>
          </a:p>
          <a:p>
            <a:pPr lvl="0" algn="l">
              <a:defRPr/>
            </a:pPr>
            <a:r>
              <a:rPr sz="1400" b="0">
                <a:solidFill>
                  <a:srgbClr val="2b3340"/>
                </a:solidFill>
              </a:rPr>
              <a:t>“왜 이 loss를 쓰는가?”</a:t>
            </a:r>
            <a:endParaRPr sz="1400" b="0">
              <a:solidFill>
                <a:srgbClr val="2b3340"/>
              </a:solidFill>
            </a:endParaRPr>
          </a:p>
          <a:p>
            <a:pPr lvl="0" algn="l">
              <a:defRPr/>
            </a:pPr>
            <a:r>
              <a:rPr sz="1400" b="0">
                <a:solidFill>
                  <a:srgbClr val="2b3340"/>
                </a:solidFill>
              </a:rPr>
              <a:t>“왜 이 전처리가 필요한가?”를 먼저 이해</a:t>
            </a:r>
            <a:endParaRPr sz="1400" b="0">
              <a:solidFill>
                <a:srgbClr val="2b3340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408175" y="3790225"/>
            <a:ext cx="7420406" cy="457200"/>
          </a:xfrm>
          <a:prstGeom prst="roundRect">
            <a:avLst>
              <a:gd name="adj" fmla="val 16667"/>
            </a:avLst>
          </a:prstGeom>
          <a:solidFill>
            <a:srgbClr val="19264b"/>
          </a:solidFill>
          <a:ln>
            <a:solidFill>
              <a:srgbClr val="19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anchor="ctr"/>
          <a:lstStyle/>
          <a:p>
            <a:pPr lvl="0" algn="ctr">
              <a:defRPr/>
            </a:pPr>
            <a:r>
              <a:rPr sz="1600" b="1">
                <a:solidFill>
                  <a:srgbClr val="ffffff"/>
                </a:solidFill>
              </a:rPr>
              <a:t>Neural Network → CNN → Graph Neural Network → Attention / Transformer</a:t>
            </a:r>
            <a:endParaRPr sz="1200" b="1">
              <a:solidFill>
                <a:schemeClr val="lt1"/>
              </a:solidFill>
              <a:latin typeface="나눔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72588" y="4395150"/>
            <a:ext cx="6858000" cy="20459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lvl="0">
              <a:spcAft>
                <a:spcPts val="500"/>
              </a:spcAft>
              <a:defRPr sz="1150">
                <a:solidFill>
                  <a:srgbClr val="6b7280"/>
                </a:solidFill>
                <a:latin typeface="나눔고딕"/>
              </a:defRPr>
            </a:pPr>
            <a:r>
              <a:rPr sz="1300" b="1">
                <a:solidFill>
                  <a:srgbClr val="2b3340"/>
                </a:solidFill>
              </a:rPr>
              <a:t>공유하고 싶은 점: AI를 처음 배울 때는 “무엇을 쓰는가”보다 “왜 필요한가”를 먼저 묻는 것이 이후 모델 이해에 도움이 되었습니다.</a:t>
            </a:r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393</ep:Words>
  <ep:PresentationFormat>On-screen Show (4:3)</ep:PresentationFormat>
  <ep:Paragraphs>122</ep:Paragraphs>
  <ep:Slides>9</ep:Slides>
  <ep:Notes>9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ep:HeadingPairs>
  <ep:TitlesOfParts>
    <vt:vector size="10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hyoli</cp:lastModifiedBy>
  <dcterms:modified xsi:type="dcterms:W3CDTF">2026-09-29T07:52:26.503</dcterms:modified>
  <cp:revision>45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