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71" r:id="rId4"/>
    <p:sldId id="272" r:id="rId5"/>
    <p:sldId id="274" r:id="rId6"/>
    <p:sldId id="260" r:id="rId7"/>
    <p:sldId id="275" r:id="rId8"/>
    <p:sldId id="276" r:id="rId9"/>
    <p:sldId id="277" r:id="rId10"/>
    <p:sldId id="278" r:id="rId11"/>
    <p:sldId id="279" r:id="rId12"/>
    <p:sldId id="273" r:id="rId13"/>
    <p:sldId id="280" r:id="rId14"/>
    <p:sldId id="281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37" autoAdjust="0"/>
    <p:restoredTop sz="92727" autoAdjust="0"/>
  </p:normalViewPr>
  <p:slideViewPr>
    <p:cSldViewPr snapToGrid="0">
      <p:cViewPr varScale="1">
        <p:scale>
          <a:sx n="146" d="100"/>
          <a:sy n="146" d="100"/>
        </p:scale>
        <p:origin x="49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FC77C09-F715-3465-2229-B635D03DC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EB56601-AA58-27B3-F51B-70B465D46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4602590-C87F-6568-9C6E-48D100BAD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206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DA7B0558-6BC6-30D6-1179-E68F2DD0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CEB77C8D-5F98-1398-C538-69D578FF0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562905DC-886D-46E6-F023-381808F22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2296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1043BA3-0B8F-6C43-6B3F-7A56F3F6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289EDA3-21D8-93D5-F10A-2C09B0A9F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1B1E9D4-B42D-2F2B-34B3-CC3993F617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510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4994455-D731-C7B0-7A36-55843896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C8168ABA-E1E0-25A1-7579-A637700BD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B504722-A967-ECF5-3AF5-790B8458BB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781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8A1A0AB0-AA6B-5A90-AEEF-0436A0C9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9AF27A7-B309-0002-68B4-5DC8F47A6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8D19E36B-6F8E-18ED-8BFC-B82250908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8871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DDE00130-2BD0-ED70-5D42-D22F22E3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B56041FC-018B-F88F-4041-F9EAB17705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FB1D9075-154A-43DE-F384-56A2DBDED4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기존 </a:t>
            </a:r>
            <a:r>
              <a:rPr lang="en-US" altLang="ko-KR" dirty="0"/>
              <a:t>VLM</a:t>
            </a:r>
            <a:r>
              <a:rPr lang="ko-KR" altLang="en-US" dirty="0"/>
              <a:t>의 주요 도전과제는</a:t>
            </a:r>
            <a:r>
              <a:rPr lang="en-US" altLang="ko-KR" dirty="0"/>
              <a:t> Prompt Engineering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어떠한 </a:t>
            </a:r>
            <a:r>
              <a:rPr lang="en-US" altLang="ko-KR" dirty="0"/>
              <a:t>prompt</a:t>
            </a:r>
            <a:r>
              <a:rPr lang="ko-KR" altLang="en-US" dirty="0"/>
              <a:t>를 사용하느냐</a:t>
            </a:r>
            <a:r>
              <a:rPr lang="en-US" altLang="ko-KR" dirty="0"/>
              <a:t>?</a:t>
            </a:r>
            <a:r>
              <a:rPr lang="ko-KR" altLang="en-US" dirty="0"/>
              <a:t>에 따라 모델 성능이 크게 달라졌기에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prompt</a:t>
            </a:r>
            <a:r>
              <a:rPr lang="ko-KR" altLang="en-US" dirty="0"/>
              <a:t>를 고르기 위해 노력해야 했고</a:t>
            </a:r>
            <a:r>
              <a:rPr lang="en-US" altLang="ko-KR" dirty="0"/>
              <a:t>,</a:t>
            </a:r>
            <a:r>
              <a:rPr lang="ko-KR" altLang="en-US" dirty="0"/>
              <a:t> 이는 많은 시간과 사전지식이 필요한 작업이었습니다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예시를 보시면</a:t>
            </a:r>
            <a:r>
              <a:rPr lang="en-US" altLang="ko-KR" dirty="0"/>
              <a:t>,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대신에 </a:t>
            </a:r>
            <a:r>
              <a:rPr lang="en-US" altLang="ko-KR" dirty="0"/>
              <a:t>a photo of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라고 쓰는 등의</a:t>
            </a:r>
            <a:br>
              <a:rPr lang="en-US" altLang="ko-KR" dirty="0"/>
            </a:br>
            <a:r>
              <a:rPr lang="ko-KR" altLang="en-US" dirty="0"/>
              <a:t>아주 미세한 표현 차이에도 성능에 큰 영향을 미치는 것을 볼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따라서 저자들은 </a:t>
            </a:r>
            <a:r>
              <a:rPr lang="en-US" altLang="ko-KR" dirty="0"/>
              <a:t>Context Optimization, </a:t>
            </a: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en-US" altLang="ko-KR" dirty="0" err="1"/>
              <a:t>CoOp</a:t>
            </a:r>
            <a:r>
              <a:rPr lang="ko-KR" altLang="en-US" dirty="0"/>
              <a:t>이라는 방법을 제안하는데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prompt</a:t>
            </a:r>
            <a:r>
              <a:rPr lang="ko-KR" altLang="en-US" dirty="0"/>
              <a:t>의 </a:t>
            </a:r>
            <a:r>
              <a:rPr lang="en-US" altLang="ko-KR" dirty="0"/>
              <a:t>"a photo of"</a:t>
            </a:r>
            <a:r>
              <a:rPr lang="ko-KR" altLang="en-US" dirty="0"/>
              <a:t>와 같은 </a:t>
            </a:r>
            <a:r>
              <a:rPr lang="en-US" altLang="ko-KR" dirty="0" err="1"/>
              <a:t>prepix</a:t>
            </a:r>
            <a:r>
              <a:rPr lang="ko-KR" altLang="en-US" dirty="0"/>
              <a:t>를 </a:t>
            </a:r>
            <a:r>
              <a:rPr lang="en-US" altLang="ko-KR" dirty="0"/>
              <a:t>learnable</a:t>
            </a:r>
            <a:r>
              <a:rPr lang="ko-KR" altLang="en-US" dirty="0"/>
              <a:t>하게 만들자는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1105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7E84A44-83FE-BAF1-1F71-A99AA7540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E2E6ABA0-8D4B-52F3-694A-06FB9FB399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3BBF4A9D-A5BD-D5E6-1A86-1C50F995B7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기존 </a:t>
            </a:r>
            <a:r>
              <a:rPr lang="en-US" altLang="ko-KR" dirty="0"/>
              <a:t>VLM</a:t>
            </a:r>
            <a:r>
              <a:rPr lang="ko-KR" altLang="en-US" dirty="0"/>
              <a:t>의 주요 도전과제는</a:t>
            </a:r>
            <a:r>
              <a:rPr lang="en-US" altLang="ko-KR" dirty="0"/>
              <a:t> Prompt Engineering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어떠한 </a:t>
            </a:r>
            <a:r>
              <a:rPr lang="en-US" altLang="ko-KR" dirty="0"/>
              <a:t>prompt</a:t>
            </a:r>
            <a:r>
              <a:rPr lang="ko-KR" altLang="en-US" dirty="0"/>
              <a:t>를 사용하느냐</a:t>
            </a:r>
            <a:r>
              <a:rPr lang="en-US" altLang="ko-KR" dirty="0"/>
              <a:t>?</a:t>
            </a:r>
            <a:r>
              <a:rPr lang="ko-KR" altLang="en-US" dirty="0"/>
              <a:t>에 따라 모델 성능이 크게 달라졌기에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prompt</a:t>
            </a:r>
            <a:r>
              <a:rPr lang="ko-KR" altLang="en-US" dirty="0"/>
              <a:t>를 고르기 위해 노력해야 했고</a:t>
            </a:r>
            <a:r>
              <a:rPr lang="en-US" altLang="ko-KR" dirty="0"/>
              <a:t>,</a:t>
            </a:r>
            <a:r>
              <a:rPr lang="ko-KR" altLang="en-US" dirty="0"/>
              <a:t> 이는 많은 시간과 사전지식이 필요한 작업이었습니다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예시를 보시면</a:t>
            </a:r>
            <a:r>
              <a:rPr lang="en-US" altLang="ko-KR" dirty="0"/>
              <a:t>,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대신에 </a:t>
            </a:r>
            <a:r>
              <a:rPr lang="en-US" altLang="ko-KR" dirty="0"/>
              <a:t>a photo of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라고 쓰는 등의</a:t>
            </a:r>
            <a:br>
              <a:rPr lang="en-US" altLang="ko-KR" dirty="0"/>
            </a:br>
            <a:r>
              <a:rPr lang="ko-KR" altLang="en-US" dirty="0"/>
              <a:t>아주 미세한 표현 차이에도 성능에 큰 영향을 미치는 것을 볼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따라서 저자들은 </a:t>
            </a:r>
            <a:r>
              <a:rPr lang="en-US" altLang="ko-KR" dirty="0"/>
              <a:t>Context Optimization, </a:t>
            </a: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en-US" altLang="ko-KR" dirty="0" err="1"/>
              <a:t>CoOp</a:t>
            </a:r>
            <a:r>
              <a:rPr lang="ko-KR" altLang="en-US" dirty="0"/>
              <a:t>이라는 방법을 제안하는데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prompt</a:t>
            </a:r>
            <a:r>
              <a:rPr lang="ko-KR" altLang="en-US" dirty="0"/>
              <a:t>의 </a:t>
            </a:r>
            <a:r>
              <a:rPr lang="en-US" altLang="ko-KR" dirty="0"/>
              <a:t>"a photo of"</a:t>
            </a:r>
            <a:r>
              <a:rPr lang="ko-KR" altLang="en-US" dirty="0"/>
              <a:t>와 같은 </a:t>
            </a:r>
            <a:r>
              <a:rPr lang="en-US" altLang="ko-KR" dirty="0" err="1"/>
              <a:t>prepix</a:t>
            </a:r>
            <a:r>
              <a:rPr lang="ko-KR" altLang="en-US" dirty="0"/>
              <a:t>를 </a:t>
            </a:r>
            <a:r>
              <a:rPr lang="en-US" altLang="ko-KR" dirty="0"/>
              <a:t>learnable</a:t>
            </a:r>
            <a:r>
              <a:rPr lang="ko-KR" altLang="en-US" dirty="0"/>
              <a:t>하게 만들자는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864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A4FB7090-852C-32E8-57DC-889317DEB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FAAB1134-CC59-9CFA-3788-D9ECD39CBF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50689740-EC69-721C-CA07-1B0A00556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기존 </a:t>
            </a:r>
            <a:r>
              <a:rPr lang="en-US" altLang="ko-KR" dirty="0"/>
              <a:t>VLM</a:t>
            </a:r>
            <a:r>
              <a:rPr lang="ko-KR" altLang="en-US" dirty="0"/>
              <a:t>의 주요 도전과제는</a:t>
            </a:r>
            <a:r>
              <a:rPr lang="en-US" altLang="ko-KR" dirty="0"/>
              <a:t> Prompt Engineering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어떠한 </a:t>
            </a:r>
            <a:r>
              <a:rPr lang="en-US" altLang="ko-KR" dirty="0"/>
              <a:t>prompt</a:t>
            </a:r>
            <a:r>
              <a:rPr lang="ko-KR" altLang="en-US" dirty="0"/>
              <a:t>를 사용하느냐</a:t>
            </a:r>
            <a:r>
              <a:rPr lang="en-US" altLang="ko-KR" dirty="0"/>
              <a:t>?</a:t>
            </a:r>
            <a:r>
              <a:rPr lang="ko-KR" altLang="en-US" dirty="0"/>
              <a:t>에 따라 모델 성능이 크게 달라졌기에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prompt</a:t>
            </a:r>
            <a:r>
              <a:rPr lang="ko-KR" altLang="en-US" dirty="0"/>
              <a:t>를 고르기 위해 노력해야 했고</a:t>
            </a:r>
            <a:r>
              <a:rPr lang="en-US" altLang="ko-KR" dirty="0"/>
              <a:t>,</a:t>
            </a:r>
            <a:r>
              <a:rPr lang="ko-KR" altLang="en-US" dirty="0"/>
              <a:t> 이는 많은 시간과 사전지식이 필요한 작업이었습니다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예시를 보시면</a:t>
            </a:r>
            <a:r>
              <a:rPr lang="en-US" altLang="ko-KR" dirty="0"/>
              <a:t>,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대신에 </a:t>
            </a:r>
            <a:r>
              <a:rPr lang="en-US" altLang="ko-KR" dirty="0"/>
              <a:t>a photo of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라고 쓰는 등의</a:t>
            </a:r>
            <a:br>
              <a:rPr lang="en-US" altLang="ko-KR" dirty="0"/>
            </a:br>
            <a:r>
              <a:rPr lang="ko-KR" altLang="en-US" dirty="0"/>
              <a:t>아주 미세한 표현 차이에도 성능에 큰 영향을 미치는 것을 볼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따라서 저자들은 </a:t>
            </a:r>
            <a:r>
              <a:rPr lang="en-US" altLang="ko-KR" dirty="0"/>
              <a:t>Context Optimization, </a:t>
            </a: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en-US" altLang="ko-KR" dirty="0" err="1"/>
              <a:t>CoOp</a:t>
            </a:r>
            <a:r>
              <a:rPr lang="ko-KR" altLang="en-US" dirty="0"/>
              <a:t>이라는 방법을 제안하는데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prompt</a:t>
            </a:r>
            <a:r>
              <a:rPr lang="ko-KR" altLang="en-US" dirty="0"/>
              <a:t>의 </a:t>
            </a:r>
            <a:r>
              <a:rPr lang="en-US" altLang="ko-KR" dirty="0"/>
              <a:t>"a photo of"</a:t>
            </a:r>
            <a:r>
              <a:rPr lang="ko-KR" altLang="en-US" dirty="0"/>
              <a:t>와 같은 </a:t>
            </a:r>
            <a:r>
              <a:rPr lang="en-US" altLang="ko-KR" dirty="0" err="1"/>
              <a:t>prepix</a:t>
            </a:r>
            <a:r>
              <a:rPr lang="ko-KR" altLang="en-US" dirty="0"/>
              <a:t>를 </a:t>
            </a:r>
            <a:r>
              <a:rPr lang="en-US" altLang="ko-KR" dirty="0"/>
              <a:t>learnable</a:t>
            </a:r>
            <a:r>
              <a:rPr lang="ko-KR" altLang="en-US" dirty="0"/>
              <a:t>하게 만들자는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311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20F9E25B-4DE1-658C-B01D-4B66BBFE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6DE42B74-644E-9909-78FE-67A6FB38A9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37EF0927-1943-24A4-BB58-87923CA79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기존 </a:t>
            </a:r>
            <a:r>
              <a:rPr lang="en-US" altLang="ko-KR" dirty="0"/>
              <a:t>VLM</a:t>
            </a:r>
            <a:r>
              <a:rPr lang="ko-KR" altLang="en-US" dirty="0"/>
              <a:t>의 주요 도전과제는</a:t>
            </a:r>
            <a:r>
              <a:rPr lang="en-US" altLang="ko-KR" dirty="0"/>
              <a:t> Prompt Engineering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어떠한 </a:t>
            </a:r>
            <a:r>
              <a:rPr lang="en-US" altLang="ko-KR" dirty="0"/>
              <a:t>prompt</a:t>
            </a:r>
            <a:r>
              <a:rPr lang="ko-KR" altLang="en-US" dirty="0"/>
              <a:t>를 사용하느냐</a:t>
            </a:r>
            <a:r>
              <a:rPr lang="en-US" altLang="ko-KR" dirty="0"/>
              <a:t>?</a:t>
            </a:r>
            <a:r>
              <a:rPr lang="ko-KR" altLang="en-US" dirty="0"/>
              <a:t>에 따라 모델 성능이 크게 달라졌기에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prompt</a:t>
            </a:r>
            <a:r>
              <a:rPr lang="ko-KR" altLang="en-US" dirty="0"/>
              <a:t>를 고르기 위해 노력해야 했고</a:t>
            </a:r>
            <a:r>
              <a:rPr lang="en-US" altLang="ko-KR" dirty="0"/>
              <a:t>,</a:t>
            </a:r>
            <a:r>
              <a:rPr lang="ko-KR" altLang="en-US" dirty="0"/>
              <a:t> 이는 많은 시간과 사전지식이 필요한 작업이었습니다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예시를 보시면</a:t>
            </a:r>
            <a:r>
              <a:rPr lang="en-US" altLang="ko-KR" dirty="0"/>
              <a:t>,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대신에 </a:t>
            </a:r>
            <a:r>
              <a:rPr lang="en-US" altLang="ko-KR" dirty="0"/>
              <a:t>a photo of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라고 쓰는 등의</a:t>
            </a:r>
            <a:br>
              <a:rPr lang="en-US" altLang="ko-KR" dirty="0"/>
            </a:br>
            <a:r>
              <a:rPr lang="ko-KR" altLang="en-US" dirty="0"/>
              <a:t>아주 미세한 표현 차이에도 성능에 큰 영향을 미치는 것을 볼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따라서 저자들은 </a:t>
            </a:r>
            <a:r>
              <a:rPr lang="en-US" altLang="ko-KR" dirty="0"/>
              <a:t>Context Optimization, </a:t>
            </a: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en-US" altLang="ko-KR" dirty="0" err="1"/>
              <a:t>CoOp</a:t>
            </a:r>
            <a:r>
              <a:rPr lang="ko-KR" altLang="en-US" dirty="0"/>
              <a:t>이라는 방법을 제안하는데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prompt</a:t>
            </a:r>
            <a:r>
              <a:rPr lang="ko-KR" altLang="en-US" dirty="0"/>
              <a:t>의 </a:t>
            </a:r>
            <a:r>
              <a:rPr lang="en-US" altLang="ko-KR" dirty="0"/>
              <a:t>"a photo of"</a:t>
            </a:r>
            <a:r>
              <a:rPr lang="ko-KR" altLang="en-US" dirty="0"/>
              <a:t>와 같은 </a:t>
            </a:r>
            <a:r>
              <a:rPr lang="en-US" altLang="ko-KR" dirty="0" err="1"/>
              <a:t>prepix</a:t>
            </a:r>
            <a:r>
              <a:rPr lang="ko-KR" altLang="en-US" dirty="0"/>
              <a:t>를 </a:t>
            </a:r>
            <a:r>
              <a:rPr lang="en-US" altLang="ko-KR" dirty="0"/>
              <a:t>learnable</a:t>
            </a:r>
            <a:r>
              <a:rPr lang="ko-KR" altLang="en-US" dirty="0"/>
              <a:t>하게 만들자는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0388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7DB98ECE-24BB-1F47-D82B-4EC62991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ED51B15F-BAA5-8FF0-5B43-CDDEBE8DC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F6688469-0CE7-C611-1ECF-44EA31F67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기존 </a:t>
            </a:r>
            <a:r>
              <a:rPr lang="en-US" altLang="ko-KR" dirty="0"/>
              <a:t>VLM</a:t>
            </a:r>
            <a:r>
              <a:rPr lang="ko-KR" altLang="en-US" dirty="0"/>
              <a:t>의 주요 도전과제는</a:t>
            </a:r>
            <a:r>
              <a:rPr lang="en-US" altLang="ko-KR" dirty="0"/>
              <a:t> Prompt Engineering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어떠한 </a:t>
            </a:r>
            <a:r>
              <a:rPr lang="en-US" altLang="ko-KR" dirty="0"/>
              <a:t>prompt</a:t>
            </a:r>
            <a:r>
              <a:rPr lang="ko-KR" altLang="en-US" dirty="0"/>
              <a:t>를 사용하느냐</a:t>
            </a:r>
            <a:r>
              <a:rPr lang="en-US" altLang="ko-KR" dirty="0"/>
              <a:t>?</a:t>
            </a:r>
            <a:r>
              <a:rPr lang="ko-KR" altLang="en-US" dirty="0"/>
              <a:t>에 따라 모델 성능이 크게 달라졌기에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prompt</a:t>
            </a:r>
            <a:r>
              <a:rPr lang="ko-KR" altLang="en-US" dirty="0"/>
              <a:t>를 고르기 위해 노력해야 했고</a:t>
            </a:r>
            <a:r>
              <a:rPr lang="en-US" altLang="ko-KR" dirty="0"/>
              <a:t>,</a:t>
            </a:r>
            <a:r>
              <a:rPr lang="ko-KR" altLang="en-US" dirty="0"/>
              <a:t> 이는 많은 시간과 사전지식이 필요한 작업이었습니다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예시를 보시면</a:t>
            </a:r>
            <a:r>
              <a:rPr lang="en-US" altLang="ko-KR" dirty="0"/>
              <a:t>,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대신에 </a:t>
            </a:r>
            <a:r>
              <a:rPr lang="en-US" altLang="ko-KR" dirty="0"/>
              <a:t>a photo of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라고 쓰는 등의</a:t>
            </a:r>
            <a:br>
              <a:rPr lang="en-US" altLang="ko-KR" dirty="0"/>
            </a:br>
            <a:r>
              <a:rPr lang="ko-KR" altLang="en-US" dirty="0"/>
              <a:t>아주 미세한 표현 차이에도 성능에 큰 영향을 미치는 것을 볼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따라서 저자들은 </a:t>
            </a:r>
            <a:r>
              <a:rPr lang="en-US" altLang="ko-KR" dirty="0"/>
              <a:t>Context Optimization, </a:t>
            </a: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en-US" altLang="ko-KR" dirty="0" err="1"/>
              <a:t>CoOp</a:t>
            </a:r>
            <a:r>
              <a:rPr lang="ko-KR" altLang="en-US" dirty="0"/>
              <a:t>이라는 방법을 제안하는데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prompt</a:t>
            </a:r>
            <a:r>
              <a:rPr lang="ko-KR" altLang="en-US" dirty="0"/>
              <a:t>의 </a:t>
            </a:r>
            <a:r>
              <a:rPr lang="en-US" altLang="ko-KR" dirty="0"/>
              <a:t>"a photo of"</a:t>
            </a:r>
            <a:r>
              <a:rPr lang="ko-KR" altLang="en-US" dirty="0"/>
              <a:t>와 같은 </a:t>
            </a:r>
            <a:r>
              <a:rPr lang="en-US" altLang="ko-KR" dirty="0" err="1"/>
              <a:t>prepix</a:t>
            </a:r>
            <a:r>
              <a:rPr lang="ko-KR" altLang="en-US" dirty="0"/>
              <a:t>를 </a:t>
            </a:r>
            <a:r>
              <a:rPr lang="en-US" altLang="ko-KR" dirty="0"/>
              <a:t>learnable</a:t>
            </a:r>
            <a:r>
              <a:rPr lang="ko-KR" altLang="en-US" dirty="0"/>
              <a:t>하게 만들자는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153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69595C0C-8D1A-074F-9177-7C2EC739B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067CD67-97BD-6AAD-BC88-E866EE4B1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7AAA2718-019C-C454-2748-F6BB6F4988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기존 </a:t>
            </a:r>
            <a:r>
              <a:rPr lang="en-US" altLang="ko-KR" dirty="0"/>
              <a:t>VLM</a:t>
            </a:r>
            <a:r>
              <a:rPr lang="ko-KR" altLang="en-US" dirty="0"/>
              <a:t>의 주요 도전과제는</a:t>
            </a:r>
            <a:r>
              <a:rPr lang="en-US" altLang="ko-KR" dirty="0"/>
              <a:t> Prompt Engineering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어떠한 </a:t>
            </a:r>
            <a:r>
              <a:rPr lang="en-US" altLang="ko-KR" dirty="0"/>
              <a:t>prompt</a:t>
            </a:r>
            <a:r>
              <a:rPr lang="ko-KR" altLang="en-US" dirty="0"/>
              <a:t>를 사용하느냐</a:t>
            </a:r>
            <a:r>
              <a:rPr lang="en-US" altLang="ko-KR" dirty="0"/>
              <a:t>?</a:t>
            </a:r>
            <a:r>
              <a:rPr lang="ko-KR" altLang="en-US" dirty="0"/>
              <a:t>에 따라 모델 성능이 크게 달라졌기에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prompt</a:t>
            </a:r>
            <a:r>
              <a:rPr lang="ko-KR" altLang="en-US" dirty="0"/>
              <a:t>를 고르기 위해 노력해야 했고</a:t>
            </a:r>
            <a:r>
              <a:rPr lang="en-US" altLang="ko-KR" dirty="0"/>
              <a:t>,</a:t>
            </a:r>
            <a:r>
              <a:rPr lang="ko-KR" altLang="en-US" dirty="0"/>
              <a:t> 이는 많은 시간과 사전지식이 필요한 작업이었습니다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예시를 보시면</a:t>
            </a:r>
            <a:r>
              <a:rPr lang="en-US" altLang="ko-KR" dirty="0"/>
              <a:t>,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대신에 </a:t>
            </a:r>
            <a:r>
              <a:rPr lang="en-US" altLang="ko-KR" dirty="0"/>
              <a:t>a photo of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라고 쓰는 등의</a:t>
            </a:r>
            <a:br>
              <a:rPr lang="en-US" altLang="ko-KR" dirty="0"/>
            </a:br>
            <a:r>
              <a:rPr lang="ko-KR" altLang="en-US" dirty="0"/>
              <a:t>아주 미세한 표현 차이에도 성능에 큰 영향을 미치는 것을 볼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따라서 저자들은 </a:t>
            </a:r>
            <a:r>
              <a:rPr lang="en-US" altLang="ko-KR" dirty="0"/>
              <a:t>Context Optimization, </a:t>
            </a: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en-US" altLang="ko-KR" dirty="0" err="1"/>
              <a:t>CoOp</a:t>
            </a:r>
            <a:r>
              <a:rPr lang="ko-KR" altLang="en-US" dirty="0"/>
              <a:t>이라는 방법을 제안하는데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prompt</a:t>
            </a:r>
            <a:r>
              <a:rPr lang="ko-KR" altLang="en-US" dirty="0"/>
              <a:t>의 </a:t>
            </a:r>
            <a:r>
              <a:rPr lang="en-US" altLang="ko-KR" dirty="0"/>
              <a:t>"a photo of"</a:t>
            </a:r>
            <a:r>
              <a:rPr lang="ko-KR" altLang="en-US" dirty="0"/>
              <a:t>와 같은 </a:t>
            </a:r>
            <a:r>
              <a:rPr lang="en-US" altLang="ko-KR" dirty="0" err="1"/>
              <a:t>prepix</a:t>
            </a:r>
            <a:r>
              <a:rPr lang="ko-KR" altLang="en-US" dirty="0"/>
              <a:t>를 </a:t>
            </a:r>
            <a:r>
              <a:rPr lang="en-US" altLang="ko-KR" dirty="0"/>
              <a:t>learnable</a:t>
            </a:r>
            <a:r>
              <a:rPr lang="ko-KR" altLang="en-US" dirty="0"/>
              <a:t>하게 만들자는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3867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E55E7F4D-34E1-FD80-99CC-BE9DFB89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3110A48-D1DB-0126-8C09-3A19C649EC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B97B96B9-05F0-F2D9-DA12-00066FFCF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기존 </a:t>
            </a:r>
            <a:r>
              <a:rPr lang="en-US" altLang="ko-KR" dirty="0"/>
              <a:t>VLM</a:t>
            </a:r>
            <a:r>
              <a:rPr lang="ko-KR" altLang="en-US" dirty="0"/>
              <a:t>의 주요 도전과제는</a:t>
            </a:r>
            <a:r>
              <a:rPr lang="en-US" altLang="ko-KR" dirty="0"/>
              <a:t> Prompt Engineering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어떠한 </a:t>
            </a:r>
            <a:r>
              <a:rPr lang="en-US" altLang="ko-KR" dirty="0"/>
              <a:t>prompt</a:t>
            </a:r>
            <a:r>
              <a:rPr lang="ko-KR" altLang="en-US" dirty="0"/>
              <a:t>를 사용하느냐</a:t>
            </a:r>
            <a:r>
              <a:rPr lang="en-US" altLang="ko-KR" dirty="0"/>
              <a:t>?</a:t>
            </a:r>
            <a:r>
              <a:rPr lang="ko-KR" altLang="en-US" dirty="0"/>
              <a:t>에 따라 모델 성능이 크게 달라졌기에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prompt</a:t>
            </a:r>
            <a:r>
              <a:rPr lang="ko-KR" altLang="en-US" dirty="0"/>
              <a:t>를 고르기 위해 노력해야 했고</a:t>
            </a:r>
            <a:r>
              <a:rPr lang="en-US" altLang="ko-KR" dirty="0"/>
              <a:t>,</a:t>
            </a:r>
            <a:r>
              <a:rPr lang="ko-KR" altLang="en-US" dirty="0"/>
              <a:t> 이는 많은 시간과 사전지식이 필요한 작업이었습니다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예시를 보시면</a:t>
            </a:r>
            <a:r>
              <a:rPr lang="en-US" altLang="ko-KR" dirty="0"/>
              <a:t>,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대신에 </a:t>
            </a:r>
            <a:r>
              <a:rPr lang="en-US" altLang="ko-KR" dirty="0"/>
              <a:t>a photo of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라고 쓰는 등의</a:t>
            </a:r>
            <a:br>
              <a:rPr lang="en-US" altLang="ko-KR" dirty="0"/>
            </a:br>
            <a:r>
              <a:rPr lang="ko-KR" altLang="en-US" dirty="0"/>
              <a:t>아주 미세한 표현 차이에도 성능에 큰 영향을 미치는 것을 볼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따라서 저자들은 </a:t>
            </a:r>
            <a:r>
              <a:rPr lang="en-US" altLang="ko-KR" dirty="0"/>
              <a:t>Context Optimization, </a:t>
            </a: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en-US" altLang="ko-KR" dirty="0" err="1"/>
              <a:t>CoOp</a:t>
            </a:r>
            <a:r>
              <a:rPr lang="ko-KR" altLang="en-US" dirty="0"/>
              <a:t>이라는 방법을 제안하는데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prompt</a:t>
            </a:r>
            <a:r>
              <a:rPr lang="ko-KR" altLang="en-US" dirty="0"/>
              <a:t>의 </a:t>
            </a:r>
            <a:r>
              <a:rPr lang="en-US" altLang="ko-KR" dirty="0"/>
              <a:t>"a photo of"</a:t>
            </a:r>
            <a:r>
              <a:rPr lang="ko-KR" altLang="en-US" dirty="0"/>
              <a:t>와 같은 </a:t>
            </a:r>
            <a:r>
              <a:rPr lang="en-US" altLang="ko-KR" dirty="0" err="1"/>
              <a:t>prepix</a:t>
            </a:r>
            <a:r>
              <a:rPr lang="ko-KR" altLang="en-US" dirty="0"/>
              <a:t>를 </a:t>
            </a:r>
            <a:r>
              <a:rPr lang="en-US" altLang="ko-KR" dirty="0"/>
              <a:t>learnable</a:t>
            </a:r>
            <a:r>
              <a:rPr lang="ko-KR" altLang="en-US" dirty="0"/>
              <a:t>하게 만들자는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4553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6D71C912-1385-D6EB-D986-4353924A4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CE055EC0-5215-F671-2EAF-7C74FBE3F2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B7504CF2-12F6-01BF-6FA3-6EE2FF112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기존 </a:t>
            </a:r>
            <a:r>
              <a:rPr lang="en-US" altLang="ko-KR" dirty="0"/>
              <a:t>VLM</a:t>
            </a:r>
            <a:r>
              <a:rPr lang="ko-KR" altLang="en-US" dirty="0"/>
              <a:t>의 주요 도전과제는</a:t>
            </a:r>
            <a:r>
              <a:rPr lang="en-US" altLang="ko-KR" dirty="0"/>
              <a:t> Prompt Engineering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어떠한 </a:t>
            </a:r>
            <a:r>
              <a:rPr lang="en-US" altLang="ko-KR" dirty="0"/>
              <a:t>prompt</a:t>
            </a:r>
            <a:r>
              <a:rPr lang="ko-KR" altLang="en-US" dirty="0"/>
              <a:t>를 사용하느냐</a:t>
            </a:r>
            <a:r>
              <a:rPr lang="en-US" altLang="ko-KR" dirty="0"/>
              <a:t>?</a:t>
            </a:r>
            <a:r>
              <a:rPr lang="ko-KR" altLang="en-US" dirty="0"/>
              <a:t>에 따라 모델 성능이 크게 달라졌기에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prompt</a:t>
            </a:r>
            <a:r>
              <a:rPr lang="ko-KR" altLang="en-US" dirty="0"/>
              <a:t>를 고르기 위해 노력해야 했고</a:t>
            </a:r>
            <a:r>
              <a:rPr lang="en-US" altLang="ko-KR" dirty="0"/>
              <a:t>,</a:t>
            </a:r>
            <a:r>
              <a:rPr lang="ko-KR" altLang="en-US" dirty="0"/>
              <a:t> 이는 많은 시간과 사전지식이 필요한 작업이었습니다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예시를 보시면</a:t>
            </a:r>
            <a:r>
              <a:rPr lang="en-US" altLang="ko-KR" dirty="0"/>
              <a:t>,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대신에 </a:t>
            </a:r>
            <a:r>
              <a:rPr lang="en-US" altLang="ko-KR" dirty="0"/>
              <a:t>a photo of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라고 쓰는 등의</a:t>
            </a:r>
            <a:br>
              <a:rPr lang="en-US" altLang="ko-KR" dirty="0"/>
            </a:br>
            <a:r>
              <a:rPr lang="ko-KR" altLang="en-US" dirty="0"/>
              <a:t>아주 미세한 표현 차이에도 성능에 큰 영향을 미치는 것을 볼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따라서 저자들은 </a:t>
            </a:r>
            <a:r>
              <a:rPr lang="en-US" altLang="ko-KR" dirty="0"/>
              <a:t>Context Optimization, </a:t>
            </a: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en-US" altLang="ko-KR" dirty="0" err="1"/>
              <a:t>CoOp</a:t>
            </a:r>
            <a:r>
              <a:rPr lang="ko-KR" altLang="en-US" dirty="0"/>
              <a:t>이라는 방법을 제안하는데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prompt</a:t>
            </a:r>
            <a:r>
              <a:rPr lang="ko-KR" altLang="en-US" dirty="0"/>
              <a:t>의 </a:t>
            </a:r>
            <a:r>
              <a:rPr lang="en-US" altLang="ko-KR" dirty="0"/>
              <a:t>"a photo of"</a:t>
            </a:r>
            <a:r>
              <a:rPr lang="ko-KR" altLang="en-US" dirty="0"/>
              <a:t>와 같은 </a:t>
            </a:r>
            <a:r>
              <a:rPr lang="en-US" altLang="ko-KR" dirty="0" err="1"/>
              <a:t>prepix</a:t>
            </a:r>
            <a:r>
              <a:rPr lang="ko-KR" altLang="en-US" dirty="0"/>
              <a:t>를 </a:t>
            </a:r>
            <a:r>
              <a:rPr lang="en-US" altLang="ko-KR" dirty="0"/>
              <a:t>learnable</a:t>
            </a:r>
            <a:r>
              <a:rPr lang="ko-KR" altLang="en-US" dirty="0"/>
              <a:t>하게 만들자는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6591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9E6426C2-2B2B-FDDD-8346-B4AE2A61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DD8A6917-7460-58B7-85EA-367970C4DA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F1465EE7-1894-AA85-67F6-8831284C5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기존 </a:t>
            </a:r>
            <a:r>
              <a:rPr lang="en-US" altLang="ko-KR" dirty="0"/>
              <a:t>VLM</a:t>
            </a:r>
            <a:r>
              <a:rPr lang="ko-KR" altLang="en-US" dirty="0"/>
              <a:t>의 주요 도전과제는</a:t>
            </a:r>
            <a:r>
              <a:rPr lang="en-US" altLang="ko-KR" dirty="0"/>
              <a:t> Prompt Engineering</a:t>
            </a:r>
            <a:r>
              <a:rPr lang="ko-KR" altLang="en-US" dirty="0"/>
              <a:t>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어떠한 </a:t>
            </a:r>
            <a:r>
              <a:rPr lang="en-US" altLang="ko-KR" dirty="0"/>
              <a:t>prompt</a:t>
            </a:r>
            <a:r>
              <a:rPr lang="ko-KR" altLang="en-US" dirty="0"/>
              <a:t>를 사용하느냐</a:t>
            </a:r>
            <a:r>
              <a:rPr lang="en-US" altLang="ko-KR" dirty="0"/>
              <a:t>?</a:t>
            </a:r>
            <a:r>
              <a:rPr lang="ko-KR" altLang="en-US" dirty="0"/>
              <a:t>에 따라 모델 성능이 크게 달라졌기에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적절한 </a:t>
            </a:r>
            <a:r>
              <a:rPr lang="en-US" altLang="ko-KR" dirty="0"/>
              <a:t>prompt</a:t>
            </a:r>
            <a:r>
              <a:rPr lang="ko-KR" altLang="en-US" dirty="0"/>
              <a:t>를 고르기 위해 노력해야 했고</a:t>
            </a:r>
            <a:r>
              <a:rPr lang="en-US" altLang="ko-KR" dirty="0"/>
              <a:t>,</a:t>
            </a:r>
            <a:r>
              <a:rPr lang="ko-KR" altLang="en-US" dirty="0"/>
              <a:t> 이는 많은 시간과 사전지식이 필요한 작업이었습니다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예시를 보시면</a:t>
            </a:r>
            <a:r>
              <a:rPr lang="en-US" altLang="ko-KR" dirty="0"/>
              <a:t>,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대신에 </a:t>
            </a:r>
            <a:r>
              <a:rPr lang="en-US" altLang="ko-KR" dirty="0"/>
              <a:t>a photo of [</a:t>
            </a:r>
            <a:r>
              <a:rPr lang="ko-KR" altLang="en-US" dirty="0"/>
              <a:t>클래스</a:t>
            </a:r>
            <a:r>
              <a:rPr lang="en-US" altLang="ko-KR" dirty="0"/>
              <a:t>] </a:t>
            </a:r>
            <a:r>
              <a:rPr lang="ko-KR" altLang="en-US" dirty="0"/>
              <a:t>라고 쓰는 등의</a:t>
            </a:r>
            <a:br>
              <a:rPr lang="en-US" altLang="ko-KR" dirty="0"/>
            </a:br>
            <a:r>
              <a:rPr lang="ko-KR" altLang="en-US" dirty="0"/>
              <a:t>아주 미세한 표현 차이에도 성능에 큰 영향을 미치는 것을 볼 수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따라서 저자들은 </a:t>
            </a:r>
            <a:r>
              <a:rPr lang="en-US" altLang="ko-KR" dirty="0"/>
              <a:t>Context Optimization, </a:t>
            </a: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en-US" altLang="ko-KR" dirty="0" err="1"/>
              <a:t>CoOp</a:t>
            </a:r>
            <a:r>
              <a:rPr lang="ko-KR" altLang="en-US" dirty="0"/>
              <a:t>이라는 방법을 제안하는데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en-US" altLang="ko-KR" dirty="0"/>
              <a:t>prompt</a:t>
            </a:r>
            <a:r>
              <a:rPr lang="ko-KR" altLang="en-US" dirty="0"/>
              <a:t>의 </a:t>
            </a:r>
            <a:r>
              <a:rPr lang="en-US" altLang="ko-KR" dirty="0"/>
              <a:t>"a photo of"</a:t>
            </a:r>
            <a:r>
              <a:rPr lang="ko-KR" altLang="en-US" dirty="0"/>
              <a:t>와 같은 </a:t>
            </a:r>
            <a:r>
              <a:rPr lang="en-US" altLang="ko-KR" dirty="0" err="1"/>
              <a:t>prepix</a:t>
            </a:r>
            <a:r>
              <a:rPr lang="ko-KR" altLang="en-US" dirty="0"/>
              <a:t>를 </a:t>
            </a:r>
            <a:r>
              <a:rPr lang="en-US" altLang="ko-KR" dirty="0"/>
              <a:t>learnable</a:t>
            </a:r>
            <a:r>
              <a:rPr lang="ko-KR" altLang="en-US" dirty="0"/>
              <a:t>하게 만들자는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0146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D5B6125-760D-66D3-D847-B915291ED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97EA4C0B-D456-93C1-78F1-2B5443FEA04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35E65745-5A8D-AADA-0B19-C9B3C3C76D6A}"/>
              </a:ext>
            </a:extLst>
          </p:cNvPr>
          <p:cNvSpPr txBox="1"/>
          <p:nvPr/>
        </p:nvSpPr>
        <p:spPr>
          <a:xfrm>
            <a:off x="1339750" y="2710050"/>
            <a:ext cx="6831484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 err="1">
                <a:solidFill>
                  <a:srgbClr val="19264B"/>
                </a:solidFill>
              </a:rPr>
              <a:t>MultiModal</a:t>
            </a:r>
            <a:r>
              <a:rPr lang="en-US" altLang="ko" sz="2500" b="1" dirty="0">
                <a:solidFill>
                  <a:srgbClr val="19264B"/>
                </a:solidFill>
              </a:rPr>
              <a:t> 2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r>
              <a:rPr lang="en-US" altLang="ko" sz="2500" b="1" dirty="0">
                <a:solidFill>
                  <a:srgbClr val="19264B"/>
                </a:solidFill>
              </a:rPr>
              <a:t> </a:t>
            </a:r>
            <a:r>
              <a:rPr lang="ko-KR" altLang="en-US" sz="2500" b="1" dirty="0">
                <a:solidFill>
                  <a:srgbClr val="19264B"/>
                </a:solidFill>
              </a:rPr>
              <a:t>논문리뷰 스터디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6</a:t>
            </a:r>
            <a:r>
              <a:rPr lang="ko" dirty="0">
                <a:solidFill>
                  <a:srgbClr val="19264B"/>
                </a:solidFill>
              </a:rPr>
              <a:t>.0</a:t>
            </a:r>
            <a:r>
              <a:rPr lang="en-US" altLang="ko" dirty="0">
                <a:solidFill>
                  <a:srgbClr val="19264B"/>
                </a:solidFill>
              </a:rPr>
              <a:t>9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28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한승원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D739C4E3-FE66-9166-31E7-92BD76F53DC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2FA6B3E7-426D-AD69-4DE3-D805DE7741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16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EEF704E-5189-4803-2252-6DD6A3EB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A459719-E54E-3125-B6AD-D4B786FE59B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AC0A6C07-C4E8-B2DF-D3C0-7020AE5829C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9925F4B3-F915-8361-497C-FF0EDEDBC9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8C4D223B-391F-085A-64AA-FDA4B106B12D}"/>
              </a:ext>
            </a:extLst>
          </p:cNvPr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이곳에 만나서 찍은 사진을 넣어주세요.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(비대면일 경우엔 화면 캡쳐 이용)</a:t>
            </a:r>
            <a:endParaRPr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dirty="0"/>
              <a:t>얼굴이 나오게 찍어주셔야 합니다:D</a:t>
            </a:r>
            <a:endParaRPr sz="1200" dirty="0"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A6AAD305-99FE-FD06-DEF4-69BBD61C3383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스터디원 소개 및 만남 인증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5E158CB9-F893-F53F-5B04-1D363FF05794}"/>
              </a:ext>
            </a:extLst>
          </p:cNvPr>
          <p:cNvSpPr txBox="1"/>
          <p:nvPr/>
        </p:nvSpPr>
        <p:spPr>
          <a:xfrm>
            <a:off x="6305000" y="2305565"/>
            <a:ext cx="2903033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/>
              <a:t>스터디</a:t>
            </a:r>
            <a:r>
              <a:rPr lang="ko" sz="1600" b="1" dirty="0"/>
              <a:t>원 1 : </a:t>
            </a:r>
            <a:r>
              <a:rPr lang="ko-KR" altLang="en-US" sz="1600" b="1" dirty="0"/>
              <a:t>한승원</a:t>
            </a:r>
            <a:endParaRPr lang="en-US" altLang="ko-KR" sz="1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 err="1"/>
              <a:t>스터디원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2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:</a:t>
            </a:r>
            <a:r>
              <a:rPr lang="ko-KR" altLang="en-US" sz="1600" b="1" dirty="0"/>
              <a:t> 김상진</a:t>
            </a:r>
            <a:endParaRPr lang="en-US" altLang="ko-KR" sz="16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 err="1"/>
              <a:t>스터디원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3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: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이승재</a:t>
            </a:r>
            <a:endParaRPr sz="16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988CFA-C65A-91E0-1799-89FEAFE4F1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53" t="13726" r="26342" b="17056"/>
          <a:stretch>
            <a:fillRect/>
          </a:stretch>
        </p:blipFill>
        <p:spPr>
          <a:xfrm>
            <a:off x="1599251" y="1838325"/>
            <a:ext cx="4287600" cy="244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05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B1CECD24-390F-17DC-738B-72566F785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CB97B9F-4AF4-C181-B6A3-0AD20368FBC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12D4E75-DE73-DED9-2EB7-DF6C646C74D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DB0BDBB-F667-DE78-06E3-01F78251A7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E5ECC5B1-EB48-54EB-D169-2B792984EFD6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스터디 소개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3EADB-53FD-7DC4-C8BF-3A95B923937D}"/>
              </a:ext>
            </a:extLst>
          </p:cNvPr>
          <p:cNvSpPr txBox="1"/>
          <p:nvPr/>
        </p:nvSpPr>
        <p:spPr>
          <a:xfrm>
            <a:off x="1408975" y="1055550"/>
            <a:ext cx="7391492" cy="87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tx1"/>
                </a:solidFill>
              </a:rPr>
              <a:t>매주 월요일 </a:t>
            </a:r>
            <a:r>
              <a:rPr lang="en-US" altLang="ko-KR" sz="1800" dirty="0">
                <a:solidFill>
                  <a:schemeClr val="tx1"/>
                </a:solidFill>
              </a:rPr>
              <a:t>17</a:t>
            </a:r>
            <a:r>
              <a:rPr lang="ko-KR" altLang="en-US" sz="1800" dirty="0">
                <a:solidFill>
                  <a:schemeClr val="tx1"/>
                </a:solidFill>
              </a:rPr>
              <a:t>시</a:t>
            </a:r>
            <a:r>
              <a:rPr lang="en-US" altLang="ko-KR" sz="1800" dirty="0">
                <a:solidFill>
                  <a:schemeClr val="tx1"/>
                </a:solidFill>
              </a:rPr>
              <a:t>~19</a:t>
            </a:r>
            <a:r>
              <a:rPr lang="ko-KR" altLang="en-US" sz="1800" dirty="0">
                <a:solidFill>
                  <a:schemeClr val="tx1"/>
                </a:solidFill>
              </a:rPr>
              <a:t>시</a:t>
            </a:r>
            <a:endParaRPr lang="en-US" altLang="ko-KR" sz="18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solidFill>
                  <a:schemeClr val="tx1"/>
                </a:solidFill>
              </a:rPr>
              <a:t>매주 각자 </a:t>
            </a:r>
            <a:r>
              <a:rPr lang="en-US" altLang="ko-KR" sz="1800" dirty="0">
                <a:solidFill>
                  <a:schemeClr val="tx1"/>
                </a:solidFill>
              </a:rPr>
              <a:t>MM</a:t>
            </a:r>
            <a:r>
              <a:rPr lang="ko-KR" altLang="en-US" sz="1800" dirty="0">
                <a:solidFill>
                  <a:schemeClr val="tx1"/>
                </a:solidFill>
              </a:rPr>
              <a:t> 관련 논문 읽고 발표 및 질문</a:t>
            </a:r>
            <a:endParaRPr lang="en-US" altLang="ko-K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88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5E56E42-B1C6-69ED-A229-C2EBC8E2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EAAAC79-9BD6-1C69-65A4-C203F268600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1AE1257-5226-0AAA-9130-9DAD53B74BE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A0A4A13-C378-60CE-9A24-07B6970C9D8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8458167-3D5B-3558-AD14-8D95DD11D6A4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논문 목록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1731628-1DF0-59B4-B392-A9C4AD0009EF}"/>
                  </a:ext>
                </a:extLst>
              </p:cNvPr>
              <p:cNvSpPr txBox="1"/>
              <p:nvPr/>
            </p:nvSpPr>
            <p:spPr>
              <a:xfrm>
                <a:off x="1408975" y="1176755"/>
                <a:ext cx="7391492" cy="2215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800" b="1" dirty="0">
                    <a:solidFill>
                      <a:schemeClr val="tx1"/>
                    </a:solidFill>
                  </a:rPr>
                  <a:t>[1]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altLang="ko-KR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  <m:sup>
                        <m:r>
                          <a:rPr lang="en-US" altLang="ko-KR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b="1" dirty="0">
                    <a:solidFill>
                      <a:schemeClr val="tx1"/>
                    </a:solidFill>
                  </a:rPr>
                  <a:t> : a VLA That Learns From Experience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ko-KR" sz="1200" b="1" dirty="0" err="1"/>
                  <a:t>Physical</a:t>
                </a:r>
                <a:r>
                  <a:rPr lang="ko-KR" altLang="ko-KR" sz="1200" b="1" dirty="0"/>
                  <a:t> </a:t>
                </a:r>
                <a:r>
                  <a:rPr lang="ko-KR" altLang="ko-KR" sz="1200" b="1" dirty="0" err="1"/>
                  <a:t>Intelligence</a:t>
                </a:r>
                <a:r>
                  <a:rPr lang="ko-KR" altLang="ko-KR" sz="1200" b="1" dirty="0"/>
                  <a:t>, 2025</a:t>
                </a:r>
                <a:endParaRPr lang="en-US" altLang="ko-KR" sz="1600" b="1" dirty="0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/>
                  <a:t>[2] </a:t>
                </a:r>
                <a:r>
                  <a:rPr lang="ko-KR" altLang="ko-KR" sz="1600" b="1" dirty="0" err="1"/>
                  <a:t>Understanding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Counting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Mechanisms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in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Large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Language</a:t>
                </a:r>
                <a:r>
                  <a:rPr lang="ko-KR" altLang="ko-KR" sz="1600" b="1" dirty="0"/>
                  <a:t> and </a:t>
                </a:r>
                <a:r>
                  <a:rPr lang="ko-KR" altLang="ko-KR" sz="1600" b="1" dirty="0" err="1"/>
                  <a:t>Vision-Language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Models</a:t>
                </a:r>
                <a:r>
                  <a:rPr lang="ko-KR" altLang="en-US" sz="1600" b="1" dirty="0"/>
                  <a:t> </a:t>
                </a:r>
                <a:r>
                  <a:rPr lang="en-US" altLang="ko-KR" sz="1600" b="1" dirty="0"/>
                  <a:t>,</a:t>
                </a:r>
                <a:r>
                  <a:rPr lang="ko-KR" altLang="en-US" sz="1600" b="1" dirty="0"/>
                  <a:t> </a:t>
                </a:r>
                <a:r>
                  <a:rPr lang="ko-KR" altLang="ko-KR" sz="1200" b="1" dirty="0" err="1"/>
                  <a:t>Hasani</a:t>
                </a:r>
                <a:r>
                  <a:rPr lang="ko-KR" altLang="ko-KR" sz="1200" b="1" dirty="0"/>
                  <a:t> </a:t>
                </a:r>
                <a:r>
                  <a:rPr lang="ko-KR" altLang="ko-KR" sz="1200" b="1" dirty="0" err="1"/>
                  <a:t>et</a:t>
                </a:r>
                <a:r>
                  <a:rPr lang="ko-KR" altLang="ko-KR" sz="1200" b="1" dirty="0"/>
                  <a:t> </a:t>
                </a:r>
                <a:r>
                  <a:rPr lang="ko-KR" altLang="ko-KR" sz="1200" b="1" dirty="0" err="1"/>
                  <a:t>al</a:t>
                </a:r>
                <a:r>
                  <a:rPr lang="ko-KR" altLang="ko-KR" sz="1200" b="1" dirty="0"/>
                  <a:t>., CVPR 2026</a:t>
                </a:r>
                <a:endParaRPr lang="en-US" altLang="ko-KR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/>
                  <a:t>[3] </a:t>
                </a:r>
                <a:r>
                  <a:rPr lang="ko-KR" altLang="ko-KR" sz="1600" b="1" dirty="0"/>
                  <a:t>VBPR: </a:t>
                </a:r>
                <a:r>
                  <a:rPr lang="ko-KR" altLang="ko-KR" sz="1600" b="1" dirty="0" err="1"/>
                  <a:t>Visual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Bayesian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Personalized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Ranking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from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Implicit</a:t>
                </a:r>
                <a:r>
                  <a:rPr lang="ko-KR" altLang="ko-KR" sz="1600" b="1" dirty="0"/>
                  <a:t> </a:t>
                </a:r>
                <a:r>
                  <a:rPr lang="ko-KR" altLang="ko-KR" sz="1600" b="1" dirty="0" err="1"/>
                  <a:t>Feedback</a:t>
                </a:r>
                <a:r>
                  <a:rPr lang="en-US" altLang="ko-KR" sz="1600" b="1" dirty="0"/>
                  <a:t> ,</a:t>
                </a:r>
                <a:r>
                  <a:rPr lang="en-US" altLang="ko-KR" b="1" dirty="0"/>
                  <a:t> </a:t>
                </a:r>
                <a:r>
                  <a:rPr lang="ko-KR" altLang="ko-KR" sz="1200" b="1" dirty="0" err="1"/>
                  <a:t>He</a:t>
                </a:r>
                <a:r>
                  <a:rPr lang="ko-KR" altLang="ko-KR" sz="1200" b="1" dirty="0"/>
                  <a:t> &amp; </a:t>
                </a:r>
                <a:r>
                  <a:rPr lang="ko-KR" altLang="ko-KR" sz="1200" b="1" dirty="0" err="1"/>
                  <a:t>McAuley</a:t>
                </a:r>
                <a:r>
                  <a:rPr lang="ko-KR" altLang="ko-KR" sz="1200" b="1" dirty="0"/>
                  <a:t>, AAAI 2016</a:t>
                </a:r>
                <a:endParaRPr lang="ko-KR" altLang="ko-KR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1731628-1DF0-59B4-B392-A9C4AD000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975" y="1176755"/>
                <a:ext cx="7391492" cy="2215991"/>
              </a:xfrm>
              <a:prstGeom prst="rect">
                <a:avLst/>
              </a:prstGeom>
              <a:blipFill>
                <a:blip r:embed="rId4"/>
                <a:stretch>
                  <a:fillRect l="-495" t="-13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A4E3C2C-5A75-5EEC-285D-FB9EB6459B2C}"/>
              </a:ext>
            </a:extLst>
          </p:cNvPr>
          <p:cNvCxnSpPr>
            <a:cxnSpLocks/>
          </p:cNvCxnSpPr>
          <p:nvPr/>
        </p:nvCxnSpPr>
        <p:spPr>
          <a:xfrm>
            <a:off x="1181088" y="4143375"/>
            <a:ext cx="79629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9AD156-20BE-C579-7C16-0D0841431BC5}"/>
              </a:ext>
            </a:extLst>
          </p:cNvPr>
          <p:cNvSpPr txBox="1"/>
          <p:nvPr/>
        </p:nvSpPr>
        <p:spPr>
          <a:xfrm>
            <a:off x="1181088" y="4203477"/>
            <a:ext cx="7791462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[1]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Intelligence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Physical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et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al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. "$\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pi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^{*} _ {0.6} $: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a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VLA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That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Learns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From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Experience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."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arXiv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preprint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arXiv:2511.14759 (2025).</a:t>
            </a:r>
            <a:endParaRPr lang="en-US" altLang="ko-KR" sz="950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[2]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Hasani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Hosein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et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al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. "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Understanding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counting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mechanisms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in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large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language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and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vision-language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models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."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Proceedings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of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the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IEEE/CVF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Conference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on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Computer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Vision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and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Pattern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Recognition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. 2026.</a:t>
            </a:r>
            <a:endParaRPr lang="en-US" altLang="ko-KR" sz="950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[3]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He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Ruining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, and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Julian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McAuley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. "VBPR: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visual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bayesian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personalized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ranking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from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implicit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feedback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."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Proceedings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of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the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AAAI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conference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on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artificial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intelligence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.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Vol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. 30. </a:t>
            </a:r>
            <a:r>
              <a:rPr lang="ko-KR" altLang="ko-KR" sz="950" dirty="0" err="1">
                <a:solidFill>
                  <a:schemeClr val="accent2">
                    <a:lumMod val="50000"/>
                    <a:lumOff val="50000"/>
                  </a:schemeClr>
                </a:solidFill>
              </a:rPr>
              <a:t>No</a:t>
            </a:r>
            <a:r>
              <a:rPr lang="ko-KR" altLang="ko-KR" sz="950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. 1. 2016.</a:t>
            </a:r>
            <a:endParaRPr lang="ko-KR" altLang="en-US" sz="950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20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ADF5933-3699-8276-A638-6FF7DE39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99A53323-D92C-E58C-F8C5-A6C7EA8B74F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CD038D74-DDAB-A385-CF0E-2B254CE3D16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B96D9DC1-D669-8E62-A4BE-7F6E0A6C48E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3" name="Google Shape;83;p16">
                <a:extLst>
                  <a:ext uri="{FF2B5EF4-FFF2-40B4-BE49-F238E27FC236}">
                    <a16:creationId xmlns:a16="http://schemas.microsoft.com/office/drawing/2014/main" id="{56B6DEE2-4BB4-E120-DF3B-0320A99B8D14}"/>
                  </a:ext>
                </a:extLst>
              </p:cNvPr>
              <p:cNvSpPr txBox="1"/>
              <p:nvPr/>
            </p:nvSpPr>
            <p:spPr>
              <a:xfrm>
                <a:off x="1353975" y="120114"/>
                <a:ext cx="6706325" cy="735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  <m:sup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000" b="1" dirty="0">
                    <a:solidFill>
                      <a:schemeClr val="tx1"/>
                    </a:solidFill>
                  </a:rPr>
                  <a:t> : a VLA That Learns From Experience</a:t>
                </a:r>
              </a:p>
            </p:txBody>
          </p:sp>
        </mc:Choice>
        <mc:Fallback xmlns="">
          <p:sp>
            <p:nvSpPr>
              <p:cNvPr id="83" name="Google Shape;83;p16">
                <a:extLst>
                  <a:ext uri="{FF2B5EF4-FFF2-40B4-BE49-F238E27FC236}">
                    <a16:creationId xmlns:a16="http://schemas.microsoft.com/office/drawing/2014/main" id="{56B6DEE2-4BB4-E120-DF3B-0320A99B8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975" y="120114"/>
                <a:ext cx="6706325" cy="7359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A8223A3-3C7B-BB17-6FFD-9A0397D1F823}"/>
              </a:ext>
            </a:extLst>
          </p:cNvPr>
          <p:cNvSpPr txBox="1"/>
          <p:nvPr/>
        </p:nvSpPr>
        <p:spPr>
          <a:xfrm>
            <a:off x="1387674" y="856054"/>
            <a:ext cx="6638925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[Objective]</a:t>
            </a:r>
            <a:endParaRPr lang="en-US" altLang="ko-KR" sz="1600" dirty="0"/>
          </a:p>
          <a:p>
            <a:r>
              <a:rPr lang="en-US" altLang="ko-KR" sz="1600" dirty="0"/>
              <a:t>- “RECAP”</a:t>
            </a:r>
            <a:r>
              <a:rPr lang="ko-KR" altLang="en-US" sz="1600" dirty="0"/>
              <a:t>을 통해 </a:t>
            </a:r>
            <a:r>
              <a:rPr lang="en-US" altLang="ko-KR" sz="1600" dirty="0"/>
              <a:t>Supervised Learning (</a:t>
            </a:r>
            <a:r>
              <a:rPr lang="ko-KR" altLang="en-US" sz="1600" dirty="0"/>
              <a:t>모방</a:t>
            </a:r>
            <a:r>
              <a:rPr lang="en-US" altLang="ko-KR" sz="1600" dirty="0"/>
              <a:t>) =&gt; Reinforced Learning</a:t>
            </a:r>
            <a:r>
              <a:rPr lang="ko-KR" altLang="en-US" sz="1600" dirty="0"/>
              <a:t>으로 전환</a:t>
            </a:r>
            <a:r>
              <a:rPr lang="en-US" altLang="ko-KR" sz="1600" dirty="0"/>
              <a:t>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99E39-2E95-B630-4F0D-D76B41245C54}"/>
              </a:ext>
            </a:extLst>
          </p:cNvPr>
          <p:cNvSpPr txBox="1"/>
          <p:nvPr/>
        </p:nvSpPr>
        <p:spPr>
          <a:xfrm>
            <a:off x="1387674" y="1764909"/>
            <a:ext cx="7500558" cy="206210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[How??]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RECAP (</a:t>
            </a:r>
            <a:r>
              <a:rPr lang="en-US" altLang="ko-KR" sz="1600" i="1" dirty="0"/>
              <a:t>RL with Experience and Corrections via </a:t>
            </a:r>
            <a:r>
              <a:rPr lang="en-US" altLang="ko-KR" sz="1600" b="1" i="1" dirty="0"/>
              <a:t>Advantaged-conditioned</a:t>
            </a:r>
            <a:r>
              <a:rPr lang="en-US" altLang="ko-KR" sz="1600" i="1" dirty="0"/>
              <a:t> policies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Three Different types of Data (Human / Robot-</a:t>
            </a:r>
            <a:r>
              <a:rPr lang="en-US" altLang="ko-KR" sz="1600" dirty="0" err="1"/>
              <a:t>labled</a:t>
            </a:r>
            <a:r>
              <a:rPr lang="en-US" altLang="ko-KR" sz="1600" dirty="0"/>
              <a:t> (“on-policy”) </a:t>
            </a:r>
            <a:r>
              <a:rPr lang="en-US" altLang="ko-KR" sz="1200" dirty="0"/>
              <a:t>[fail/pass]</a:t>
            </a:r>
            <a:r>
              <a:rPr lang="en-US" altLang="ko-KR" sz="1600" dirty="0"/>
              <a:t> / Offline human corrections)</a:t>
            </a:r>
          </a:p>
          <a:p>
            <a:pPr marL="342900" indent="-342900">
              <a:buAutoNum type="arabicPeriod"/>
            </a:pPr>
            <a:r>
              <a:rPr lang="en-US" altLang="ko-KR" sz="1600" dirty="0"/>
              <a:t>Training </a:t>
            </a:r>
            <a:r>
              <a:rPr lang="en-US" altLang="ko-KR" sz="1600" b="1" dirty="0"/>
              <a:t>Value function</a:t>
            </a:r>
          </a:p>
          <a:p>
            <a:pPr marL="342900" indent="-342900">
              <a:buAutoNum type="arabicPeriod"/>
            </a:pPr>
            <a:r>
              <a:rPr lang="en-US" altLang="ko-KR" sz="1600" b="1" dirty="0"/>
              <a:t>Advantaged-Conditioning</a:t>
            </a:r>
            <a:r>
              <a:rPr lang="en-US" altLang="ko-KR" sz="1600" dirty="0"/>
              <a:t> (</a:t>
            </a:r>
            <a:r>
              <a:rPr lang="ko-KR" altLang="en-US" sz="1600" dirty="0"/>
              <a:t>이득</a:t>
            </a:r>
            <a:r>
              <a:rPr lang="en-US" altLang="ko-KR" sz="1600" dirty="0"/>
              <a:t>-</a:t>
            </a:r>
            <a:r>
              <a:rPr lang="ko-KR" altLang="en-US" sz="1600" dirty="0"/>
              <a:t>조건부 학습</a:t>
            </a:r>
            <a:r>
              <a:rPr lang="en-US" altLang="ko-KR" sz="16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549A4-C21A-08B7-9D3D-C3260E02D7AC}"/>
              </a:ext>
            </a:extLst>
          </p:cNvPr>
          <p:cNvSpPr txBox="1"/>
          <p:nvPr/>
        </p:nvSpPr>
        <p:spPr>
          <a:xfrm>
            <a:off x="1387674" y="3995058"/>
            <a:ext cx="7441788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[Results]</a:t>
            </a:r>
          </a:p>
          <a:p>
            <a:r>
              <a:rPr lang="en-US" altLang="ko-KR" sz="1600" dirty="0"/>
              <a:t>- Decrease in 2x failure rates, doubling the throughput (</a:t>
            </a:r>
            <a:r>
              <a:rPr lang="ko-KR" altLang="en-US" sz="1600" dirty="0"/>
              <a:t>처리 능력</a:t>
            </a:r>
            <a:r>
              <a:rPr lang="en-US" altLang="ko-KR" sz="1600" dirty="0"/>
              <a:t>) in hardest tasks</a:t>
            </a:r>
          </a:p>
        </p:txBody>
      </p:sp>
    </p:spTree>
    <p:extLst>
      <p:ext uri="{BB962C8B-B14F-4D97-AF65-F5344CB8AC3E}">
        <p14:creationId xmlns:p14="http://schemas.microsoft.com/office/powerpoint/2010/main" val="1843903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BBCEFDA3-5E93-9752-0F5F-0FEBD2C88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C6CAA793-D885-F2EC-548B-A9119631C71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12F3730-9222-0C0A-E77C-A03D2E2E270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9BF0F2D5-11FC-6933-023F-68C560C1BB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AB55C64A-A308-F5CD-89D2-83C07F3F1FA0}"/>
              </a:ext>
            </a:extLst>
          </p:cNvPr>
          <p:cNvSpPr txBox="1"/>
          <p:nvPr/>
        </p:nvSpPr>
        <p:spPr>
          <a:xfrm>
            <a:off x="1277775" y="163028"/>
            <a:ext cx="6955617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ko-KR" sz="2000" b="1" dirty="0" err="1"/>
              <a:t>Understanding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Counting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Mechanisms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in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Large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Language</a:t>
            </a:r>
            <a:r>
              <a:rPr lang="ko-KR" altLang="ko-KR" sz="2000" b="1" dirty="0"/>
              <a:t> and </a:t>
            </a:r>
            <a:r>
              <a:rPr lang="ko-KR" altLang="ko-KR" sz="2000" b="1" dirty="0" err="1"/>
              <a:t>Vision-Language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Models</a:t>
            </a:r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98E36-7A30-8530-DF93-85996781E6BC}"/>
              </a:ext>
            </a:extLst>
          </p:cNvPr>
          <p:cNvSpPr txBox="1"/>
          <p:nvPr/>
        </p:nvSpPr>
        <p:spPr>
          <a:xfrm>
            <a:off x="1387674" y="1104398"/>
            <a:ext cx="6638925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[Objective]</a:t>
            </a:r>
            <a:endParaRPr lang="en-US" altLang="ko-KR" sz="1600" dirty="0"/>
          </a:p>
          <a:p>
            <a:r>
              <a:rPr lang="en-US" altLang="ko-KR" sz="1600" dirty="0"/>
              <a:t>- Counting task</a:t>
            </a:r>
            <a:r>
              <a:rPr lang="ko-KR" altLang="en-US" sz="1600" dirty="0"/>
              <a:t>에서 </a:t>
            </a:r>
            <a:r>
              <a:rPr lang="en-US" altLang="ko-KR" sz="1600" dirty="0"/>
              <a:t>LLM, LVLM</a:t>
            </a:r>
            <a:r>
              <a:rPr lang="ko-KR" altLang="en-US" sz="1600" dirty="0"/>
              <a:t> 내부 </a:t>
            </a:r>
            <a:r>
              <a:rPr lang="en-US" altLang="ko-KR" sz="1600" dirty="0"/>
              <a:t>Count (</a:t>
            </a:r>
            <a:r>
              <a:rPr lang="ko-KR" altLang="en-US" sz="1600" dirty="0"/>
              <a:t>개수</a:t>
            </a:r>
            <a:r>
              <a:rPr lang="en-US" altLang="ko-KR" sz="1600" dirty="0"/>
              <a:t>)</a:t>
            </a:r>
            <a:r>
              <a:rPr lang="ko-KR" altLang="en-US" sz="1600" dirty="0"/>
              <a:t>가 어떻게 표현</a:t>
            </a:r>
            <a:r>
              <a:rPr lang="en-US" altLang="ko-KR" sz="1600" dirty="0"/>
              <a:t>/</a:t>
            </a:r>
            <a:r>
              <a:rPr lang="ko-KR" altLang="en-US" sz="1600" dirty="0"/>
              <a:t>계산 되는가</a:t>
            </a:r>
            <a:r>
              <a:rPr lang="en-US" altLang="ko-KR" sz="1600" dirty="0"/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B9AE0E-3733-1FE0-B574-7EA74D7B009F}"/>
              </a:ext>
            </a:extLst>
          </p:cNvPr>
          <p:cNvSpPr txBox="1"/>
          <p:nvPr/>
        </p:nvSpPr>
        <p:spPr>
          <a:xfrm>
            <a:off x="1387674" y="2039142"/>
            <a:ext cx="7500558" cy="132343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[How??]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수치 분석 전용 도구 </a:t>
            </a:r>
            <a:r>
              <a:rPr lang="en-US" altLang="ko-KR" sz="1600" dirty="0" err="1"/>
              <a:t>CountScope</a:t>
            </a:r>
            <a:r>
              <a:rPr lang="en-US" altLang="ko-KR" sz="1600" dirty="0"/>
              <a:t> </a:t>
            </a:r>
            <a:r>
              <a:rPr lang="ko-KR" altLang="en-US" sz="1600" dirty="0"/>
              <a:t>개발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모델의 </a:t>
            </a:r>
            <a:r>
              <a:rPr lang="en-US" altLang="ko-KR" sz="1600" dirty="0" err="1"/>
              <a:t>hiddenstate</a:t>
            </a:r>
            <a:r>
              <a:rPr lang="ko-KR" altLang="en-US" sz="1600" dirty="0"/>
              <a:t>에서 모델이 </a:t>
            </a:r>
            <a:r>
              <a:rPr lang="en-US" altLang="ko-KR" sz="1600" dirty="0"/>
              <a:t>“</a:t>
            </a:r>
            <a:r>
              <a:rPr lang="ko-KR" altLang="en-US" sz="1600" dirty="0"/>
              <a:t>몇 개</a:t>
            </a:r>
            <a:r>
              <a:rPr lang="en-US" altLang="ko-KR" sz="1600" dirty="0"/>
              <a:t>”</a:t>
            </a:r>
            <a:r>
              <a:rPr lang="ko-KR" altLang="en-US" sz="1600" dirty="0"/>
              <a:t>라는 정보가 있는지</a:t>
            </a:r>
            <a:r>
              <a:rPr lang="en-US" altLang="ko-KR" sz="1600" dirty="0"/>
              <a:t>, </a:t>
            </a:r>
            <a:r>
              <a:rPr lang="ko-KR" altLang="en-US" sz="1600" dirty="0"/>
              <a:t>또한 이를 어떻게 사용하는지 확인하는 도구</a:t>
            </a:r>
            <a:r>
              <a:rPr lang="en-US" altLang="ko-KR" sz="16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9E3A1D-B49C-FF38-069D-FFC80FD1251F}"/>
              </a:ext>
            </a:extLst>
          </p:cNvPr>
          <p:cNvSpPr txBox="1"/>
          <p:nvPr/>
        </p:nvSpPr>
        <p:spPr>
          <a:xfrm>
            <a:off x="1387674" y="3559629"/>
            <a:ext cx="7441788" cy="5847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[Results]</a:t>
            </a:r>
          </a:p>
          <a:p>
            <a:r>
              <a:rPr lang="en-US" altLang="ko-KR" sz="1600" dirty="0"/>
              <a:t>- 4</a:t>
            </a:r>
            <a:r>
              <a:rPr lang="ko-KR" altLang="en-US" sz="1600" dirty="0"/>
              <a:t>가지 서로 다른 결론을 도출하고</a:t>
            </a:r>
            <a:r>
              <a:rPr lang="en-US" altLang="ko-KR" sz="1600" dirty="0"/>
              <a:t>, LVLM, LLM </a:t>
            </a:r>
            <a:r>
              <a:rPr lang="ko-KR" altLang="en-US" sz="1600" dirty="0"/>
              <a:t>응답 특성에 대한 분석을 진행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002550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558E93A1-0C86-BAC6-8708-2A0B509CA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00F35417-A53D-5C65-BAA0-1CD5520AB93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1CF8E9F3-41CD-EB30-12B9-64B80632BD9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94C94920-3AF4-9BCB-70EB-D9B3DB2D97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E439120B-96E1-B6B9-1C1B-2592A2627954}"/>
              </a:ext>
            </a:extLst>
          </p:cNvPr>
          <p:cNvSpPr txBox="1"/>
          <p:nvPr/>
        </p:nvSpPr>
        <p:spPr>
          <a:xfrm>
            <a:off x="1277775" y="163028"/>
            <a:ext cx="6955617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/>
              <a:t>VBPR: Visual Bayesian Personalized Ranking from Implicit Feedback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6DDDF-9EAB-7440-E993-A5F6317147B5}"/>
              </a:ext>
            </a:extLst>
          </p:cNvPr>
          <p:cNvSpPr txBox="1"/>
          <p:nvPr/>
        </p:nvSpPr>
        <p:spPr>
          <a:xfrm>
            <a:off x="1353975" y="1170806"/>
            <a:ext cx="6638925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[Objective]</a:t>
            </a:r>
            <a:endParaRPr lang="en-US" altLang="ko-KR" sz="1600" dirty="0"/>
          </a:p>
          <a:p>
            <a:r>
              <a:rPr lang="en-US" altLang="ko-KR" sz="1600" dirty="0"/>
              <a:t>- User/Item </a:t>
            </a:r>
            <a:r>
              <a:rPr lang="ko-KR" altLang="en-US" sz="1600" dirty="0"/>
              <a:t>이외에 </a:t>
            </a:r>
            <a:r>
              <a:rPr lang="en-US" altLang="ko-KR" sz="1600" dirty="0"/>
              <a:t>image </a:t>
            </a:r>
            <a:r>
              <a:rPr lang="ko-KR" altLang="en-US" sz="1600" dirty="0"/>
              <a:t>정보를 넣어 </a:t>
            </a:r>
            <a:r>
              <a:rPr lang="en-US" altLang="ko-KR" sz="1600" dirty="0"/>
              <a:t>User</a:t>
            </a:r>
            <a:r>
              <a:rPr lang="ko-KR" altLang="en-US" sz="1600" dirty="0"/>
              <a:t>의 시각적 취향 </a:t>
            </a:r>
            <a:r>
              <a:rPr lang="en-US" altLang="ko-KR" sz="1600" dirty="0"/>
              <a:t>(</a:t>
            </a:r>
            <a:r>
              <a:rPr lang="en-US" altLang="ko-KR" sz="1600" i="1" dirty="0"/>
              <a:t>visual preferences</a:t>
            </a:r>
            <a:r>
              <a:rPr lang="en-US" altLang="ko-KR" sz="1600" dirty="0"/>
              <a:t>)</a:t>
            </a:r>
            <a:r>
              <a:rPr lang="ko-KR" altLang="en-US" sz="1600" dirty="0"/>
              <a:t>를 학습하는 모델</a:t>
            </a:r>
            <a:endParaRPr lang="en-US" altLang="ko-KR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DBA3C4-CF1E-9894-5E33-0D46F8253E9F}"/>
                  </a:ext>
                </a:extLst>
              </p:cNvPr>
              <p:cNvSpPr txBox="1"/>
              <p:nvPr/>
            </p:nvSpPr>
            <p:spPr>
              <a:xfrm>
                <a:off x="1353963" y="2416503"/>
                <a:ext cx="7500558" cy="83099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[How??]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기존 추천 모델에 더해</a:t>
                </a:r>
                <a:r>
                  <a:rPr lang="en-US" altLang="ko-KR" sz="1600" dirty="0"/>
                  <a:t>, item</a:t>
                </a:r>
                <a:r>
                  <a:rPr lang="ko-KR" altLang="en-US" sz="1600" dirty="0"/>
                  <a:t> 이미지 데이터를 </a:t>
                </a:r>
                <a:r>
                  <a:rPr lang="en-US" altLang="ko-KR" sz="1600" dirty="0"/>
                  <a:t>CNN</a:t>
                </a:r>
                <a:r>
                  <a:rPr lang="ko-KR" altLang="en-US" sz="1600" dirty="0"/>
                  <a:t>으로 추출</a:t>
                </a:r>
                <a:r>
                  <a:rPr lang="en-US" altLang="ko-KR" sz="1600" dirty="0"/>
                  <a:t> + </a:t>
                </a:r>
                <a:br>
                  <a:rPr lang="en-US" altLang="ko-KR" sz="1600" dirty="0"/>
                </a:b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라는 </a:t>
                </a:r>
                <a:r>
                  <a:rPr lang="en-US" altLang="ko-KR" sz="1600" dirty="0"/>
                  <a:t>user</a:t>
                </a:r>
                <a:r>
                  <a:rPr lang="ko-KR" altLang="en-US" sz="1600" dirty="0"/>
                  <a:t>의 시각적 선호도를 담은 </a:t>
                </a:r>
                <a:r>
                  <a:rPr lang="en-US" altLang="ko-KR" sz="1600" dirty="0"/>
                  <a:t>feature </a:t>
                </a:r>
                <a:r>
                  <a:rPr lang="ko-KR" altLang="en-US" sz="1600" dirty="0"/>
                  <a:t>추가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DBA3C4-CF1E-9894-5E33-0D46F8253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963" y="2416503"/>
                <a:ext cx="7500558" cy="830997"/>
              </a:xfrm>
              <a:prstGeom prst="rect">
                <a:avLst/>
              </a:prstGeom>
              <a:blipFill>
                <a:blip r:embed="rId4"/>
                <a:stretch>
                  <a:fillRect l="-324" t="-1439" b="-719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81C1FB7-8408-8530-FB81-D6D1B6C9B0F0}"/>
              </a:ext>
            </a:extLst>
          </p:cNvPr>
          <p:cNvSpPr txBox="1"/>
          <p:nvPr/>
        </p:nvSpPr>
        <p:spPr>
          <a:xfrm>
            <a:off x="1353963" y="3662200"/>
            <a:ext cx="7500558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[Result]</a:t>
            </a:r>
          </a:p>
          <a:p>
            <a:r>
              <a:rPr lang="en-US" altLang="ko-KR" sz="1600" b="1" dirty="0"/>
              <a:t>- Accuracy,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Cold-Start </a:t>
            </a:r>
            <a:r>
              <a:rPr lang="ko-KR" altLang="en-US" sz="1600" b="1" dirty="0"/>
              <a:t>환경에서의 성능개선</a:t>
            </a:r>
            <a:r>
              <a:rPr lang="en-US" altLang="ko-KR" sz="1600" b="1" dirty="0"/>
              <a:t>, user visual preference</a:t>
            </a:r>
            <a:r>
              <a:rPr lang="ko-KR" altLang="en-US" sz="1600" b="1" dirty="0"/>
              <a:t> 포착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446711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F60CF25-639A-D264-A19F-A5E44F6E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BADF679C-98A9-E32F-AFB1-2FC8A77E482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2DF393B-D63E-5635-03B5-D039DCC8B75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11266B3-FEF6-872D-6E29-63BE4AB946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014987A3-422A-D99C-4378-A66A842C62E8}"/>
              </a:ext>
            </a:extLst>
          </p:cNvPr>
          <p:cNvSpPr txBox="1"/>
          <p:nvPr/>
        </p:nvSpPr>
        <p:spPr>
          <a:xfrm>
            <a:off x="1277775" y="163028"/>
            <a:ext cx="6955617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/>
              <a:t>Recommendation Systems?</a:t>
            </a:r>
          </a:p>
        </p:txBody>
      </p:sp>
      <p:pic>
        <p:nvPicPr>
          <p:cNvPr id="4" name="그림 3" descr="Operating Principle of the Matrix Factorization Technique. | Download  Scientific Diagram">
            <a:extLst>
              <a:ext uri="{FF2B5EF4-FFF2-40B4-BE49-F238E27FC236}">
                <a16:creationId xmlns:a16="http://schemas.microsoft.com/office/drawing/2014/main" id="{BC36F6FF-CBF6-29D3-68D1-24241C26D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75" y="868680"/>
            <a:ext cx="4388259" cy="3006769"/>
          </a:xfrm>
          <a:prstGeom prst="rect">
            <a:avLst/>
          </a:prstGeom>
        </p:spPr>
      </p:pic>
      <p:sp>
        <p:nvSpPr>
          <p:cNvPr id="5" name="화살표: 왼쪽으로 구부러짐 4">
            <a:extLst>
              <a:ext uri="{FF2B5EF4-FFF2-40B4-BE49-F238E27FC236}">
                <a16:creationId xmlns:a16="http://schemas.microsoft.com/office/drawing/2014/main" id="{DA876BDD-3E23-3808-8E48-51D5FC4C4469}"/>
              </a:ext>
            </a:extLst>
          </p:cNvPr>
          <p:cNvSpPr/>
          <p:nvPr/>
        </p:nvSpPr>
        <p:spPr>
          <a:xfrm rot="5400000">
            <a:off x="3130508" y="1657012"/>
            <a:ext cx="682792" cy="2698420"/>
          </a:xfrm>
          <a:prstGeom prst="curvedLeftArrow">
            <a:avLst>
              <a:gd name="adj1" fmla="val 25000"/>
              <a:gd name="adj2" fmla="val 50000"/>
              <a:gd name="adj3" fmla="val 365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798F35-2DCD-EE5A-2A97-8CD27C69D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033" y="1519282"/>
            <a:ext cx="3623319" cy="243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18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C3AAE7F-5BE4-AE5E-CECD-F2ED768C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962D20D4-16BA-F26A-21A3-822A3B1BA6A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EF799E87-CE92-2A10-5B76-ED3E36E3142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C14979E5-733E-450D-23CA-1C855375C8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1F45850E-5D5C-5CE9-0737-31FD3C2B5B85}"/>
              </a:ext>
            </a:extLst>
          </p:cNvPr>
          <p:cNvSpPr txBox="1"/>
          <p:nvPr/>
        </p:nvSpPr>
        <p:spPr>
          <a:xfrm>
            <a:off x="1277775" y="163028"/>
            <a:ext cx="6955617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/>
              <a:t>VBPR: Visual Bayesian Personalized Ranking from Implicit Feedback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BAA1A-AEF0-7DB3-C33B-BFCC5FC09AA0}"/>
              </a:ext>
            </a:extLst>
          </p:cNvPr>
          <p:cNvSpPr txBox="1"/>
          <p:nvPr/>
        </p:nvSpPr>
        <p:spPr>
          <a:xfrm>
            <a:off x="1436120" y="1063762"/>
            <a:ext cx="6638925" cy="83099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[Objective]</a:t>
            </a:r>
            <a:endParaRPr lang="en-US" altLang="ko-KR" sz="1600" dirty="0"/>
          </a:p>
          <a:p>
            <a:r>
              <a:rPr lang="en-US" altLang="ko-KR" sz="1600" dirty="0"/>
              <a:t>- User/Item </a:t>
            </a:r>
            <a:r>
              <a:rPr lang="ko-KR" altLang="en-US" sz="1600" dirty="0"/>
              <a:t>이외에 </a:t>
            </a:r>
            <a:r>
              <a:rPr lang="en-US" altLang="ko-KR" sz="1600" dirty="0"/>
              <a:t>image </a:t>
            </a:r>
            <a:r>
              <a:rPr lang="ko-KR" altLang="en-US" sz="1600" dirty="0"/>
              <a:t>정보를 넣어 </a:t>
            </a:r>
            <a:r>
              <a:rPr lang="en-US" altLang="ko-KR" sz="1600" dirty="0"/>
              <a:t>User</a:t>
            </a:r>
            <a:r>
              <a:rPr lang="ko-KR" altLang="en-US" sz="1600" dirty="0"/>
              <a:t>의 시각적 취향 </a:t>
            </a:r>
            <a:r>
              <a:rPr lang="en-US" altLang="ko-KR" sz="1600" dirty="0"/>
              <a:t>(</a:t>
            </a:r>
            <a:r>
              <a:rPr lang="en-US" altLang="ko-KR" sz="1600" i="1" dirty="0"/>
              <a:t>visual preferences</a:t>
            </a:r>
            <a:r>
              <a:rPr lang="en-US" altLang="ko-KR" sz="1600" dirty="0"/>
              <a:t>)</a:t>
            </a:r>
            <a:r>
              <a:rPr lang="ko-KR" altLang="en-US" sz="1600" dirty="0"/>
              <a:t>를 학습하는 모델</a:t>
            </a:r>
            <a:r>
              <a:rPr lang="en-US" altLang="ko-KR" sz="1600" dirty="0"/>
              <a:t>… </a:t>
            </a:r>
            <a:r>
              <a:rPr lang="en-US" altLang="ko-KR" sz="1600" b="1" dirty="0"/>
              <a:t>But Why?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8829497-3D14-E273-A422-2E72FFFE3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083" y="2185452"/>
            <a:ext cx="2168470" cy="25112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BE6B938-9255-0EAC-3189-DB7C453F2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462" y="2963635"/>
            <a:ext cx="1986240" cy="182429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3A09CDE-CD16-2665-5F6E-3EF54447C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975" y="2283409"/>
            <a:ext cx="2523505" cy="13604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72B1B-8401-0991-11B1-666A1E5525CA}"/>
              </a:ext>
            </a:extLst>
          </p:cNvPr>
          <p:cNvSpPr txBox="1"/>
          <p:nvPr/>
        </p:nvSpPr>
        <p:spPr>
          <a:xfrm>
            <a:off x="5978520" y="3969717"/>
            <a:ext cx="2344416" cy="5232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사용자 평점 </a:t>
            </a:r>
            <a:r>
              <a:rPr lang="en-US" altLang="ko-KR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(or </a:t>
            </a:r>
            <a:r>
              <a:rPr lang="ko-KR" altLang="en-US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상호작용</a:t>
            </a:r>
            <a:r>
              <a:rPr lang="en-US" altLang="ko-KR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만으로는 부족함</a:t>
            </a:r>
            <a:endParaRPr lang="en-US" altLang="ko-KR" b="1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41F054-FA6D-60E8-8EBC-C8F314DD144D}"/>
              </a:ext>
            </a:extLst>
          </p:cNvPr>
          <p:cNvSpPr/>
          <p:nvPr/>
        </p:nvSpPr>
        <p:spPr>
          <a:xfrm>
            <a:off x="5891349" y="3290849"/>
            <a:ext cx="1698206" cy="1502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리뷰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01179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79AB30F5-85FC-8F9B-787A-0289CF845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9BFFFB9C-2386-91C6-68D9-D6548A5DDF8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4547BF8E-0094-DE1F-8920-D893463BE17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EC543957-6190-52CD-D184-1BFC5ED506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075D012F-2A76-7209-3553-47E5DD8D6C63}"/>
              </a:ext>
            </a:extLst>
          </p:cNvPr>
          <p:cNvSpPr txBox="1"/>
          <p:nvPr/>
        </p:nvSpPr>
        <p:spPr>
          <a:xfrm>
            <a:off x="1277775" y="163028"/>
            <a:ext cx="6955617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/>
              <a:t>VBPR: Visual Bayesian Personalized Ranking from Implicit Feedback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B86836-3DA2-545C-AD5D-BDC9F8EA9263}"/>
                  </a:ext>
                </a:extLst>
              </p:cNvPr>
              <p:cNvSpPr txBox="1"/>
              <p:nvPr/>
            </p:nvSpPr>
            <p:spPr>
              <a:xfrm>
                <a:off x="1353975" y="992652"/>
                <a:ext cx="6222482" cy="88543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[How??]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기존 추천 모델에 더해</a:t>
                </a:r>
                <a:r>
                  <a:rPr lang="en-US" altLang="ko-KR" sz="1600" dirty="0"/>
                  <a:t>, item</a:t>
                </a:r>
                <a:r>
                  <a:rPr lang="ko-KR" altLang="en-US" sz="1600" dirty="0"/>
                  <a:t> 이미지 데이터를 </a:t>
                </a:r>
                <a:r>
                  <a:rPr lang="en-US" altLang="ko-KR" sz="1600" dirty="0"/>
                  <a:t>CNN</a:t>
                </a:r>
                <a:r>
                  <a:rPr lang="ko-KR" altLang="en-US" sz="1600" dirty="0"/>
                  <a:t>으로 추출</a:t>
                </a:r>
                <a:r>
                  <a:rPr lang="en-US" altLang="ko-KR" sz="1600" dirty="0"/>
                  <a:t> + </a:t>
                </a:r>
                <a:br>
                  <a:rPr lang="en-US" altLang="ko-KR" sz="1600" dirty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라는 </a:t>
                </a:r>
                <a:r>
                  <a:rPr lang="en-US" altLang="ko-KR" sz="1600" dirty="0"/>
                  <a:t>user</a:t>
                </a:r>
                <a:r>
                  <a:rPr lang="ko-KR" altLang="en-US" sz="1600" dirty="0"/>
                  <a:t>의 시각적 선호도를 담은 </a:t>
                </a:r>
                <a:r>
                  <a:rPr lang="en-US" altLang="ko-KR" sz="1600" dirty="0"/>
                  <a:t>feature </a:t>
                </a:r>
                <a:r>
                  <a:rPr lang="ko-KR" altLang="en-US" sz="1600" dirty="0"/>
                  <a:t>추가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B86836-3DA2-545C-AD5D-BDC9F8EA9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975" y="992652"/>
                <a:ext cx="6222482" cy="885435"/>
              </a:xfrm>
              <a:prstGeom prst="rect">
                <a:avLst/>
              </a:prstGeom>
              <a:blipFill>
                <a:blip r:embed="rId4"/>
                <a:stretch>
                  <a:fillRect l="-391" t="-1361" b="-680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figure2">
            <a:extLst>
              <a:ext uri="{FF2B5EF4-FFF2-40B4-BE49-F238E27FC236}">
                <a16:creationId xmlns:a16="http://schemas.microsoft.com/office/drawing/2014/main" id="{C460F884-C11E-1660-610D-738BD2DE8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8097" y="1979818"/>
            <a:ext cx="6027806" cy="24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7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57731D33-7A8C-33AC-FB31-250DA047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C3D4335-0706-7B89-F45F-CFA31827C12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3591A774-4626-2627-9B70-DE66BB35FB9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B6D0A34-BFD8-6DBA-4370-935143CF51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09D2D31-8551-657C-BF6B-61F9BCEEF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63" y="37938"/>
            <a:ext cx="6858000" cy="51435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38722B4-A15C-7485-1411-DE819ED66081}"/>
              </a:ext>
            </a:extLst>
          </p:cNvPr>
          <p:cNvSpPr/>
          <p:nvPr/>
        </p:nvSpPr>
        <p:spPr>
          <a:xfrm>
            <a:off x="1713192" y="761635"/>
            <a:ext cx="1502228" cy="1273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CNN</a:t>
            </a:r>
            <a:endParaRPr lang="ko-KR" altLang="en-US" sz="2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6B22-4620-A579-3EBD-FA880B4576B4}"/>
              </a:ext>
            </a:extLst>
          </p:cNvPr>
          <p:cNvSpPr/>
          <p:nvPr/>
        </p:nvSpPr>
        <p:spPr>
          <a:xfrm>
            <a:off x="3953472" y="124821"/>
            <a:ext cx="1502228" cy="1273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User</a:t>
            </a:r>
            <a:endParaRPr lang="ko-KR" altLang="en-US" sz="2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873063-41E9-B715-F87E-AE368B4269C7}"/>
              </a:ext>
            </a:extLst>
          </p:cNvPr>
          <p:cNvSpPr/>
          <p:nvPr/>
        </p:nvSpPr>
        <p:spPr>
          <a:xfrm>
            <a:off x="6193752" y="81117"/>
            <a:ext cx="1502228" cy="1273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Item</a:t>
            </a:r>
            <a:endParaRPr lang="ko-KR" altLang="en-US" sz="2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04532E-283C-D593-6E87-5C36697E807D}"/>
              </a:ext>
            </a:extLst>
          </p:cNvPr>
          <p:cNvSpPr/>
          <p:nvPr/>
        </p:nvSpPr>
        <p:spPr>
          <a:xfrm>
            <a:off x="1713192" y="131352"/>
            <a:ext cx="1502228" cy="547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Item image</a:t>
            </a:r>
            <a:endParaRPr lang="ko-KR" altLang="en-US" sz="20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8A5EF7-77FF-2D34-B8D4-670BF980D28A}"/>
              </a:ext>
            </a:extLst>
          </p:cNvPr>
          <p:cNvSpPr/>
          <p:nvPr/>
        </p:nvSpPr>
        <p:spPr>
          <a:xfrm>
            <a:off x="2418586" y="2259058"/>
            <a:ext cx="618528" cy="33800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A57FED-4808-D855-8545-4DA29592DE70}"/>
              </a:ext>
            </a:extLst>
          </p:cNvPr>
          <p:cNvSpPr/>
          <p:nvPr/>
        </p:nvSpPr>
        <p:spPr>
          <a:xfrm>
            <a:off x="4312700" y="1804961"/>
            <a:ext cx="618528" cy="33800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</a:rPr>
              <a:t>bias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E2C9B8-CCF1-3F82-AFFE-90DDB554D1DB}"/>
              </a:ext>
            </a:extLst>
          </p:cNvPr>
          <p:cNvSpPr/>
          <p:nvPr/>
        </p:nvSpPr>
        <p:spPr>
          <a:xfrm>
            <a:off x="7044795" y="1804960"/>
            <a:ext cx="618528" cy="33800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bias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CF4F9C-52E3-7507-4484-CA2536C49E6C}"/>
              </a:ext>
            </a:extLst>
          </p:cNvPr>
          <p:cNvSpPr/>
          <p:nvPr/>
        </p:nvSpPr>
        <p:spPr>
          <a:xfrm>
            <a:off x="1713192" y="2680171"/>
            <a:ext cx="618528" cy="33800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bias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513966-C4E6-0EC7-253B-ABC2AB5EE603}"/>
              </a:ext>
            </a:extLst>
          </p:cNvPr>
          <p:cNvSpPr/>
          <p:nvPr/>
        </p:nvSpPr>
        <p:spPr>
          <a:xfrm>
            <a:off x="2155042" y="1816907"/>
            <a:ext cx="618528" cy="3380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>
                <a:solidFill>
                  <a:schemeClr val="tx1"/>
                </a:solidFill>
              </a:rPr>
              <a:t>f_i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B410937-5977-FA2D-096F-1C8F85800CD6}"/>
              </a:ext>
            </a:extLst>
          </p:cNvPr>
          <p:cNvSpPr/>
          <p:nvPr/>
        </p:nvSpPr>
        <p:spPr>
          <a:xfrm>
            <a:off x="2464306" y="2701209"/>
            <a:ext cx="618528" cy="33800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E*</a:t>
            </a:r>
            <a:r>
              <a:rPr lang="en-US" altLang="ko-KR" dirty="0" err="1">
                <a:solidFill>
                  <a:schemeClr val="tx1"/>
                </a:solidFill>
              </a:rPr>
              <a:t>f_i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895FFC3-7482-15FB-5835-6CEA3CF76A5E}"/>
              </a:ext>
            </a:extLst>
          </p:cNvPr>
          <p:cNvSpPr/>
          <p:nvPr/>
        </p:nvSpPr>
        <p:spPr>
          <a:xfrm>
            <a:off x="3454796" y="1816906"/>
            <a:ext cx="618528" cy="33800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>
                <a:solidFill>
                  <a:schemeClr val="tx1"/>
                </a:solidFill>
              </a:rPr>
              <a:t>θ</a:t>
            </a:r>
            <a:r>
              <a:rPr lang="en-US" altLang="ko-KR" dirty="0">
                <a:solidFill>
                  <a:schemeClr val="tx1"/>
                </a:solidFill>
              </a:rPr>
              <a:t>_u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F75B49-9A85-B50C-ED26-AABF25B8CFEF}"/>
              </a:ext>
            </a:extLst>
          </p:cNvPr>
          <p:cNvSpPr/>
          <p:nvPr/>
        </p:nvSpPr>
        <p:spPr>
          <a:xfrm>
            <a:off x="3334944" y="3662200"/>
            <a:ext cx="618528" cy="33800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내적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EC0864-84A4-84AB-76B2-24C9324614B2}"/>
              </a:ext>
            </a:extLst>
          </p:cNvPr>
          <p:cNvSpPr/>
          <p:nvPr/>
        </p:nvSpPr>
        <p:spPr>
          <a:xfrm>
            <a:off x="4312700" y="3662200"/>
            <a:ext cx="2545300" cy="33800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BPR (</a:t>
            </a:r>
            <a:r>
              <a:rPr lang="ko-KR" altLang="en-US" b="1" dirty="0">
                <a:solidFill>
                  <a:schemeClr val="tx1"/>
                </a:solidFill>
              </a:rPr>
              <a:t>기존</a:t>
            </a:r>
            <a:r>
              <a:rPr lang="en-US" altLang="ko-KR" b="1" dirty="0">
                <a:solidFill>
                  <a:schemeClr val="tx1"/>
                </a:solidFill>
              </a:rPr>
              <a:t>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A1A59BF-5A56-A5F6-23E9-807F6E5A8FAF}"/>
              </a:ext>
            </a:extLst>
          </p:cNvPr>
          <p:cNvSpPr/>
          <p:nvPr/>
        </p:nvSpPr>
        <p:spPr>
          <a:xfrm>
            <a:off x="5183502" y="1804959"/>
            <a:ext cx="618528" cy="33800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</a:rPr>
              <a:t>User</a:t>
            </a:r>
            <a:br>
              <a:rPr lang="en-US" altLang="ko-KR" sz="600" b="1" dirty="0">
                <a:solidFill>
                  <a:schemeClr val="tx1"/>
                </a:solidFill>
              </a:rPr>
            </a:br>
            <a:r>
              <a:rPr lang="en-US" altLang="ko-KR" sz="600" b="1" dirty="0">
                <a:solidFill>
                  <a:schemeClr val="tx1"/>
                </a:solidFill>
              </a:rPr>
              <a:t>interaction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671CB5-D970-3B34-EA82-C892C435717F}"/>
              </a:ext>
            </a:extLst>
          </p:cNvPr>
          <p:cNvSpPr/>
          <p:nvPr/>
        </p:nvSpPr>
        <p:spPr>
          <a:xfrm>
            <a:off x="6211059" y="1804959"/>
            <a:ext cx="618528" cy="33800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</a:rPr>
              <a:t>Item</a:t>
            </a:r>
            <a:br>
              <a:rPr lang="en-US" altLang="ko-KR" sz="600" b="1" dirty="0">
                <a:solidFill>
                  <a:schemeClr val="tx1"/>
                </a:solidFill>
              </a:rPr>
            </a:br>
            <a:r>
              <a:rPr lang="en-US" altLang="ko-KR" sz="600" b="1" dirty="0">
                <a:solidFill>
                  <a:schemeClr val="tx1"/>
                </a:solidFill>
              </a:rPr>
              <a:t>interaction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543B5C-19B5-1DA7-DC8A-6F4D9160BBB4}"/>
              </a:ext>
            </a:extLst>
          </p:cNvPr>
          <p:cNvSpPr/>
          <p:nvPr/>
        </p:nvSpPr>
        <p:spPr>
          <a:xfrm>
            <a:off x="2340209" y="3693927"/>
            <a:ext cx="618528" cy="33800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b*</a:t>
            </a:r>
            <a:r>
              <a:rPr lang="en-US" altLang="ko-KR" sz="1600" dirty="0" err="1">
                <a:solidFill>
                  <a:schemeClr val="tx1"/>
                </a:solidFill>
              </a:rPr>
              <a:t>f_i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796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2AF400AA-8C35-BA49-E90E-69D948B24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9B6EEA9D-33FD-A3DE-82A2-02EC6EB548C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8484D3EB-7633-A7FA-E402-A72D2786E52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B4EF9C5A-E504-0ED1-3A0F-E7744B4D4D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3C3B7D9C-3B52-0588-8294-BB660893BFD3}"/>
              </a:ext>
            </a:extLst>
          </p:cNvPr>
          <p:cNvSpPr txBox="1"/>
          <p:nvPr/>
        </p:nvSpPr>
        <p:spPr>
          <a:xfrm>
            <a:off x="1277775" y="163028"/>
            <a:ext cx="6955617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/>
              <a:t>VBPR: Visual Bayesian Personalized Ranking from Implicit Feedback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49F24D1-3577-A43A-8CD1-C8D8AEC72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393" y="1743497"/>
            <a:ext cx="6857999" cy="26909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65EA15-17B8-39AA-DC35-31E674353B3D}"/>
              </a:ext>
            </a:extLst>
          </p:cNvPr>
          <p:cNvSpPr txBox="1"/>
          <p:nvPr/>
        </p:nvSpPr>
        <p:spPr>
          <a:xfrm>
            <a:off x="1353975" y="1055550"/>
            <a:ext cx="7019315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[Result]</a:t>
            </a:r>
          </a:p>
          <a:p>
            <a:r>
              <a:rPr lang="en-US" altLang="ko-KR" sz="1600" b="1" dirty="0"/>
              <a:t>- Accuracy,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Cold-Start </a:t>
            </a:r>
            <a:r>
              <a:rPr lang="ko-KR" altLang="en-US" sz="1600" b="1" dirty="0"/>
              <a:t>환경에서의 성능개선</a:t>
            </a:r>
            <a:r>
              <a:rPr lang="en-US" altLang="ko-KR" sz="1600" b="1" dirty="0"/>
              <a:t>, user visual preference</a:t>
            </a:r>
            <a:r>
              <a:rPr lang="ko-KR" altLang="en-US" sz="1600" b="1" dirty="0"/>
              <a:t> 포착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3146637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E2AD5A17-2872-C531-89C1-D8EA9D4D4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99D85B0-58B4-0267-936B-5642A8F62B0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0EE09FE1-93AC-8EF1-00DF-BC6998203EE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4E1F8ECD-86A6-C604-A312-87DBCF6F01A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CB029963-4066-293F-FFB0-8FBBF48CA050}"/>
              </a:ext>
            </a:extLst>
          </p:cNvPr>
          <p:cNvSpPr txBox="1"/>
          <p:nvPr/>
        </p:nvSpPr>
        <p:spPr>
          <a:xfrm>
            <a:off x="1277775" y="163028"/>
            <a:ext cx="6955617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/>
              <a:t>VBPR: Visual Bayesian Personalized Ranking from Implicit Feedback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8BA8F8-BF7B-AE92-3178-5CD8745341E9}"/>
              </a:ext>
            </a:extLst>
          </p:cNvPr>
          <p:cNvSpPr txBox="1"/>
          <p:nvPr/>
        </p:nvSpPr>
        <p:spPr>
          <a:xfrm>
            <a:off x="1353975" y="1055550"/>
            <a:ext cx="7019315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[Result]</a:t>
            </a:r>
          </a:p>
          <a:p>
            <a:r>
              <a:rPr lang="en-US" altLang="ko-KR" sz="1600" b="1" dirty="0"/>
              <a:t>- Accuracy,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Cold-Start </a:t>
            </a:r>
            <a:r>
              <a:rPr lang="ko-KR" altLang="en-US" sz="1600" b="1" dirty="0"/>
              <a:t>환경에서의 성능개선</a:t>
            </a:r>
            <a:r>
              <a:rPr lang="en-US" altLang="ko-KR" sz="1600" b="1" dirty="0"/>
              <a:t>, user visual preference</a:t>
            </a:r>
            <a:r>
              <a:rPr lang="ko-KR" altLang="en-US" sz="1600" b="1" dirty="0"/>
              <a:t> 포착</a:t>
            </a:r>
            <a:endParaRPr lang="en-US" altLang="ko-KR" sz="16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91A632-E87E-DE43-FD4F-4EF3C4938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997" y="1812298"/>
            <a:ext cx="6955616" cy="22567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CC593C-50D9-BE4A-8631-3A017A87E532}"/>
              </a:ext>
            </a:extLst>
          </p:cNvPr>
          <p:cNvSpPr txBox="1"/>
          <p:nvPr/>
        </p:nvSpPr>
        <p:spPr>
          <a:xfrm>
            <a:off x="1499985" y="2530806"/>
            <a:ext cx="1040741" cy="4098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C67DE-40E1-E17D-4809-C2515D7E4D65}"/>
              </a:ext>
            </a:extLst>
          </p:cNvPr>
          <p:cNvSpPr txBox="1"/>
          <p:nvPr/>
        </p:nvSpPr>
        <p:spPr>
          <a:xfrm>
            <a:off x="1499985" y="2940653"/>
            <a:ext cx="1040741" cy="4098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78AD4-5F8C-5EE0-F82D-925E6C6CB1EE}"/>
              </a:ext>
            </a:extLst>
          </p:cNvPr>
          <p:cNvSpPr txBox="1"/>
          <p:nvPr/>
        </p:nvSpPr>
        <p:spPr>
          <a:xfrm>
            <a:off x="1499973" y="3321502"/>
            <a:ext cx="1040741" cy="4098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A23F7-5A9C-626C-D36C-EDCB1D54A50E}"/>
              </a:ext>
            </a:extLst>
          </p:cNvPr>
          <p:cNvSpPr txBox="1"/>
          <p:nvPr/>
        </p:nvSpPr>
        <p:spPr>
          <a:xfrm>
            <a:off x="6431214" y="2120959"/>
            <a:ext cx="583540" cy="18312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1160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B9D10EA0-0BBD-A0B6-70E2-8F582D96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DF0CB9F7-AF6D-E5F8-15F3-AD8B2ACBDCD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3C38D363-89F4-1516-F9B5-46B5B17EC8A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984DDA48-943F-9683-330E-B49200587B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그림 1" descr="Multimodal Movie Recommendation System Using Deep Learning">
            <a:extLst>
              <a:ext uri="{FF2B5EF4-FFF2-40B4-BE49-F238E27FC236}">
                <a16:creationId xmlns:a16="http://schemas.microsoft.com/office/drawing/2014/main" id="{F8ED01E7-CAE5-086D-F2C8-23F7DDF9A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14" y="660790"/>
            <a:ext cx="5852172" cy="18227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B471CD-DACD-68A9-666C-BC10B9D46231}"/>
              </a:ext>
            </a:extLst>
          </p:cNvPr>
          <p:cNvSpPr txBox="1"/>
          <p:nvPr/>
        </p:nvSpPr>
        <p:spPr>
          <a:xfrm>
            <a:off x="1561005" y="244586"/>
            <a:ext cx="4572000" cy="416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000" b="1" dirty="0"/>
              <a:t>Others + </a:t>
            </a:r>
            <a:r>
              <a:rPr lang="en-US" altLang="ko-KR" sz="2000" b="1" dirty="0">
                <a:solidFill>
                  <a:schemeClr val="accent1"/>
                </a:solidFill>
              </a:rPr>
              <a:t>paperswithcode.co</a:t>
            </a:r>
          </a:p>
        </p:txBody>
      </p:sp>
      <p:pic>
        <p:nvPicPr>
          <p:cNvPr id="10" name="그림 9" descr="Literature Review] ATFLRec: A Multimodal Recommender System with Audio-Text  Fusion and Low-Rank Adaptation via Instruction-Tuned Large Language Model">
            <a:extLst>
              <a:ext uri="{FF2B5EF4-FFF2-40B4-BE49-F238E27FC236}">
                <a16:creationId xmlns:a16="http://schemas.microsoft.com/office/drawing/2014/main" id="{01B67243-00D8-EDEE-25B9-A750157D2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0423" y="2483498"/>
            <a:ext cx="5185954" cy="258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6393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1494</Words>
  <Application>Microsoft Office PowerPoint</Application>
  <PresentationFormat>화면 슬라이드 쇼(16:9)</PresentationFormat>
  <Paragraphs>146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NanumGothic ExtraBold</vt:lpstr>
      <vt:lpstr>Arial</vt:lpstr>
      <vt:lpstr>Cambria Math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한승원</cp:lastModifiedBy>
  <cp:revision>35</cp:revision>
  <dcterms:modified xsi:type="dcterms:W3CDTF">2026-09-28T16:24:20Z</dcterms:modified>
</cp:coreProperties>
</file>