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  <p:sldId id="263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26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3978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118872" y="411480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CUAI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600200" y="113385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CS231n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627632" y="1746504"/>
            <a:ext cx="5394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Deep Learning for Computer Vision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903720" y="1234440"/>
            <a:ext cx="1426464" cy="256032"/>
          </a:xfrm>
          <a:prstGeom prst="roundRect">
            <a:avLst/>
          </a:prstGeom>
          <a:solidFill>
            <a:srgbClr val="B43A34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940296" y="1275588"/>
            <a:ext cx="1353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Stanford Spring 2025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27632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 err="1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스터디원</a:t>
            </a:r>
            <a:r>
              <a:rPr lang="ko-KR" altLang="en-US" sz="10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</a:t>
            </a:r>
            <a:r>
              <a:rPr lang="en-US" altLang="ko-KR" sz="10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 </a:t>
            </a:r>
            <a:r>
              <a:rPr lang="ko-KR" altLang="en-US" sz="10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이경환</a:t>
            </a:r>
            <a:r>
              <a:rPr lang="en-US" altLang="ko-KR" sz="10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1000" dirty="0" err="1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인선우</a:t>
            </a:r>
            <a:r>
              <a:rPr lang="en-US" altLang="ko-KR" sz="10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</a:t>
            </a:r>
            <a:r>
              <a:rPr lang="ko-KR" altLang="en-US" sz="10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엄지용</a:t>
            </a:r>
            <a:r>
              <a:rPr lang="en-US" altLang="ko-KR" sz="10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27632" y="4288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2026.09.29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73152" y="433425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CUAI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10312" y="182880"/>
            <a:ext cx="0" cy="64008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87552" y="32004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스터디 소개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87552" y="749808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CS231n 스터디 구성원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143000" y="1261872"/>
            <a:ext cx="2148840" cy="3017520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837944" y="1572768"/>
            <a:ext cx="749808" cy="7498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37944" y="17465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CJK KR" pitchFamily="34" charset="0"/>
              </a:rPr>
              <a:t>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이경환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53896" y="324612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</a:t>
            </a:r>
            <a:r>
              <a:rPr lang="ko-KR" altLang="en-US" sz="86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학과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453896" y="36393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20230202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657600" y="1261872"/>
            <a:ext cx="2148840" cy="3017520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52544" y="1572768"/>
            <a:ext cx="749808" cy="7498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352544" y="17465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CJK KR" pitchFamily="34" charset="0"/>
              </a:rPr>
              <a:t>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86200" y="256032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 err="1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인선우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68496" y="324612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6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전기전자공학부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968496" y="36393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20222379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6172200" y="1261872"/>
            <a:ext cx="2148840" cy="3017520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867144" y="1572768"/>
            <a:ext cx="749808" cy="7498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67144" y="17465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256032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엄지용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83096" y="324612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60" dirty="0"/>
              <a:t>소프트웨어학부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6483096" y="36393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20256500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537960" y="486460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8993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Stanford CS231n · Spring 2025</a:t>
            </a:r>
            <a:endParaRPr lang="en-US" sz="6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73152" y="433425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CUAI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10312" y="182880"/>
            <a:ext cx="0" cy="64008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87552" y="32004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목차</a:t>
            </a:r>
            <a:endParaRPr lang="en-US" sz="205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D4A285B-5B3C-9009-8554-4CD1C9668A90}"/>
              </a:ext>
            </a:extLst>
          </p:cNvPr>
          <p:cNvGrpSpPr/>
          <p:nvPr/>
        </p:nvGrpSpPr>
        <p:grpSpPr>
          <a:xfrm>
            <a:off x="1143000" y="1170432"/>
            <a:ext cx="7178040" cy="448056"/>
            <a:chOff x="1143000" y="1170432"/>
            <a:chExt cx="7178040" cy="448056"/>
          </a:xfrm>
        </p:grpSpPr>
        <p:sp>
          <p:nvSpPr>
            <p:cNvPr id="6" name="Text 4"/>
            <p:cNvSpPr/>
            <p:nvPr/>
          </p:nvSpPr>
          <p:spPr>
            <a:xfrm>
              <a:off x="1143000" y="1170432"/>
              <a:ext cx="4389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B43A3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755648" y="1170432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20" b="1" dirty="0">
                  <a:solidFill>
                    <a:srgbClr val="1D243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CS231n은 어떤 강의인가?</a:t>
              </a:r>
              <a:endParaRPr lang="en-US" sz="132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138928" y="118872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5F6B7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Computer Vision과 Deep Learning의 관계</a:t>
              </a:r>
              <a:endParaRPr lang="en-US" sz="96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143000" y="1618488"/>
              <a:ext cx="7178040" cy="0"/>
            </a:xfrm>
            <a:prstGeom prst="line">
              <a:avLst/>
            </a:prstGeom>
            <a:noFill/>
            <a:ln w="12700">
              <a:solidFill>
                <a:srgbClr val="E1E5E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790C539-6C6A-F47C-41F3-4ACF298E673B}"/>
              </a:ext>
            </a:extLst>
          </p:cNvPr>
          <p:cNvGrpSpPr/>
          <p:nvPr/>
        </p:nvGrpSpPr>
        <p:grpSpPr>
          <a:xfrm>
            <a:off x="1143000" y="2506472"/>
            <a:ext cx="7178040" cy="448056"/>
            <a:chOff x="1143000" y="2039112"/>
            <a:chExt cx="7178040" cy="448056"/>
          </a:xfrm>
        </p:grpSpPr>
        <p:sp>
          <p:nvSpPr>
            <p:cNvPr id="10" name="Text 8"/>
            <p:cNvSpPr/>
            <p:nvPr/>
          </p:nvSpPr>
          <p:spPr>
            <a:xfrm>
              <a:off x="1143000" y="2039112"/>
              <a:ext cx="4389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02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755648" y="2039112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20" b="1" dirty="0">
                  <a:solidFill>
                    <a:srgbClr val="1D243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한 학기 전체 구조</a:t>
              </a:r>
              <a:endParaRPr lang="en-US" sz="132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138928" y="205740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5F6B7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Lecture 1–18에서 무엇을 배우는가</a:t>
              </a:r>
              <a:endParaRPr lang="en-US" sz="96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143000" y="2487168"/>
              <a:ext cx="7178040" cy="0"/>
            </a:xfrm>
            <a:prstGeom prst="line">
              <a:avLst/>
            </a:prstGeom>
            <a:noFill/>
            <a:ln w="12700">
              <a:solidFill>
                <a:srgbClr val="E1E5E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8B110B8-E5C9-B549-EEAB-81B28977C8CA}"/>
              </a:ext>
            </a:extLst>
          </p:cNvPr>
          <p:cNvGrpSpPr/>
          <p:nvPr/>
        </p:nvGrpSpPr>
        <p:grpSpPr>
          <a:xfrm>
            <a:off x="1143000" y="3842512"/>
            <a:ext cx="7178040" cy="448056"/>
            <a:chOff x="1143000" y="2907792"/>
            <a:chExt cx="7178040" cy="448056"/>
          </a:xfrm>
        </p:grpSpPr>
        <p:sp>
          <p:nvSpPr>
            <p:cNvPr id="14" name="Text 12"/>
            <p:cNvSpPr/>
            <p:nvPr/>
          </p:nvSpPr>
          <p:spPr>
            <a:xfrm>
              <a:off x="1143000" y="2907792"/>
              <a:ext cx="4389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755648" y="2907792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320" b="1" dirty="0" err="1">
                  <a:solidFill>
                    <a:srgbClr val="1D243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스터디</a:t>
              </a:r>
              <a:r>
                <a:rPr lang="en-US" altLang="ko-KR" sz="1320" b="1" dirty="0">
                  <a:solidFill>
                    <a:srgbClr val="1D243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 </a:t>
              </a:r>
              <a:r>
                <a:rPr lang="en-US" altLang="ko-KR" sz="1320" b="1" dirty="0" err="1">
                  <a:solidFill>
                    <a:srgbClr val="1D243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진행</a:t>
              </a:r>
              <a:r>
                <a:rPr lang="en-US" altLang="ko-KR" sz="1320" b="1" dirty="0">
                  <a:solidFill>
                    <a:srgbClr val="1D243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 </a:t>
              </a:r>
              <a:r>
                <a:rPr lang="en-US" altLang="ko-KR" sz="1320" b="1" dirty="0" err="1">
                  <a:solidFill>
                    <a:srgbClr val="1D243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현황</a:t>
              </a:r>
              <a:endParaRPr lang="en-US" altLang="ko-KR" sz="132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138928" y="292608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960" dirty="0" err="1">
                  <a:solidFill>
                    <a:srgbClr val="5F6B7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현재</a:t>
              </a:r>
              <a:r>
                <a:rPr lang="en-US" altLang="ko-KR" sz="960" dirty="0">
                  <a:solidFill>
                    <a:srgbClr val="5F6B7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 Lecture 1–5 </a:t>
              </a:r>
              <a:r>
                <a:rPr lang="en-US" altLang="ko-KR" sz="960" dirty="0" err="1">
                  <a:solidFill>
                    <a:srgbClr val="5F6B7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학습</a:t>
              </a:r>
              <a:r>
                <a:rPr lang="en-US" altLang="ko-KR" sz="960" dirty="0">
                  <a:solidFill>
                    <a:srgbClr val="5F6B7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 </a:t>
              </a:r>
              <a:r>
                <a:rPr lang="en-US" altLang="ko-KR" sz="960" dirty="0" err="1">
                  <a:solidFill>
                    <a:srgbClr val="5F6B7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완료</a:t>
              </a:r>
              <a:endParaRPr lang="en-US" altLang="ko-KR" sz="96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143000" y="3355848"/>
              <a:ext cx="7178040" cy="0"/>
            </a:xfrm>
            <a:prstGeom prst="line">
              <a:avLst/>
            </a:prstGeom>
            <a:noFill/>
            <a:ln w="12700">
              <a:solidFill>
                <a:srgbClr val="E1E5E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8" name="Text 16"/>
          <p:cNvSpPr/>
          <p:nvPr/>
        </p:nvSpPr>
        <p:spPr>
          <a:xfrm>
            <a:off x="1143000" y="37764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55648" y="37764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138928" y="3794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6537960" y="486460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8993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Stanford CS231n · Spring 2025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73152" y="433425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CUAI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10312" y="182880"/>
            <a:ext cx="0" cy="64008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87552" y="32004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CS231n은 어떤 강의인가?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87552" y="749808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Lecture 1이 제시하는 강의의 정체성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078992" y="114300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mnt/data/course_assets/l1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389888"/>
            <a:ext cx="3703320" cy="2651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40680" y="122529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CS231n: Deep Learning for Computer Vision</a:t>
            </a:r>
            <a:endParaRPr lang="en-US" sz="1620" dirty="0"/>
          </a:p>
        </p:txBody>
      </p:sp>
      <p:sp>
        <p:nvSpPr>
          <p:cNvPr id="10" name="Text 7"/>
          <p:cNvSpPr/>
          <p:nvPr/>
        </p:nvSpPr>
        <p:spPr>
          <a:xfrm>
            <a:off x="5440680" y="190195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Computer Vision 문제를 Deep Learning으로 풀어가는 강의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5440680" y="24871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초반에는 분류와 학습의 기본기를 만들고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5440680" y="305409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후반에는 3D·생성·멀티모달·로봇과 사람 중심 AI까지 확장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5440680" y="4160520"/>
            <a:ext cx="1188720" cy="256032"/>
          </a:xfrm>
          <a:prstGeom prst="roundRect">
            <a:avLst/>
          </a:prstGeom>
          <a:solidFill>
            <a:srgbClr val="B43A34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77256" y="4201668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Course Introduction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6537960" y="486460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8993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Stanford CS231n · Spring 2025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73152" y="433425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CUAI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10312" y="182880"/>
            <a:ext cx="0" cy="64008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87552" y="32004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학기 전체 구조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87552" y="749808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Lecture 1에서 제시한 네 축이 이후 Lecture 2–18로 전개됩니다.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005840" y="1298448"/>
            <a:ext cx="1755648" cy="3246120"/>
          </a:xfrm>
          <a:prstGeom prst="roundRect">
            <a:avLst>
              <a:gd name="adj" fmla="val 6250"/>
            </a:avLst>
          </a:prstGeom>
          <a:solidFill>
            <a:srgbClr val="F8EEEE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24712" y="1481328"/>
            <a:ext cx="384048" cy="256032"/>
          </a:xfrm>
          <a:prstGeom prst="roundRect">
            <a:avLst/>
          </a:prstGeom>
          <a:solidFill>
            <a:srgbClr val="B43A34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61288" y="1522476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52144" y="1901952"/>
            <a:ext cx="1444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Deep Learning Basics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1152144" y="27980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3A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Lecture 2–4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52144" y="3227832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 · Loss · Optimization · Backpropagation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80944" y="1298448"/>
            <a:ext cx="1755648" cy="3246120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12700">
            <a:solidFill>
              <a:srgbClr val="2F5B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099816" y="1481328"/>
            <a:ext cx="384048" cy="256032"/>
          </a:xfrm>
          <a:prstGeom prst="roundRect">
            <a:avLst/>
          </a:prstGeom>
          <a:solidFill>
            <a:srgbClr val="2F5B9A"/>
          </a:solidFill>
          <a:ln w="12700">
            <a:solidFill>
              <a:srgbClr val="2F5B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136392" y="1522476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127248" y="1901952"/>
            <a:ext cx="1444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Perceiving &amp; Understanding</a:t>
            </a:r>
            <a:endParaRPr lang="en-US" sz="1130" dirty="0"/>
          </a:p>
          <a:p>
            <a:pPr marL="0" indent="0">
              <a:buNone/>
            </a:pPr>
            <a:r>
              <a:rPr lang="en-US" sz="113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the Visual World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3127248" y="27980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5B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Lecture 5–12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27248" y="3227832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CNN · Sequence · Transformer · Detection · Video · SSL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56048" y="1298448"/>
            <a:ext cx="1755648" cy="3246120"/>
          </a:xfrm>
          <a:prstGeom prst="roundRect">
            <a:avLst>
              <a:gd name="adj" fmla="val 6250"/>
            </a:avLst>
          </a:prstGeom>
          <a:solidFill>
            <a:srgbClr val="EEF6F2"/>
          </a:solidFill>
          <a:ln w="12700">
            <a:solidFill>
              <a:srgbClr val="3F7C6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74920" y="1481328"/>
            <a:ext cx="384048" cy="256032"/>
          </a:xfrm>
          <a:prstGeom prst="roundRect">
            <a:avLst/>
          </a:prstGeom>
          <a:solidFill>
            <a:srgbClr val="3F7C65"/>
          </a:solidFill>
          <a:ln w="12700">
            <a:solidFill>
              <a:srgbClr val="3F7C6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111496" y="1522476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102352" y="1901952"/>
            <a:ext cx="1444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Generative &amp; Interactive</a:t>
            </a:r>
            <a:endParaRPr lang="en-US" sz="1130" dirty="0"/>
          </a:p>
          <a:p>
            <a:pPr marL="0" indent="0">
              <a:buNone/>
            </a:pPr>
            <a:r>
              <a:rPr lang="en-US" sz="113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Visual Intelligence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5102352" y="27980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7C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Lecture 13–16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02352" y="3227832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Generative Models · 3D Vision · Multimodal Foundation Models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31152" y="1298448"/>
            <a:ext cx="1755648" cy="3246120"/>
          </a:xfrm>
          <a:prstGeom prst="roundRect">
            <a:avLst>
              <a:gd name="adj" fmla="val 6250"/>
            </a:avLst>
          </a:prstGeom>
          <a:solidFill>
            <a:srgbClr val="FAF4E8"/>
          </a:solidFill>
          <a:ln w="12700">
            <a:solidFill>
              <a:srgbClr val="B788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050024" y="1481328"/>
            <a:ext cx="384048" cy="256032"/>
          </a:xfrm>
          <a:prstGeom prst="roundRect">
            <a:avLst/>
          </a:prstGeom>
          <a:solidFill>
            <a:srgbClr val="B7882A"/>
          </a:solidFill>
          <a:ln w="12700">
            <a:solidFill>
              <a:srgbClr val="B788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086600" y="1522476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7077456" y="1901952"/>
            <a:ext cx="1444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Human-Centered</a:t>
            </a:r>
            <a:endParaRPr lang="en-US" sz="1130" dirty="0"/>
          </a:p>
          <a:p>
            <a:pPr marL="0" indent="0">
              <a:buNone/>
            </a:pPr>
            <a:r>
              <a:rPr lang="en-US" sz="113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Applications &amp; Implications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7077456" y="27980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88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Lecture 17–18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077456" y="3227832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 Learning · Human-Centered AI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37960" y="486460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8993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Course map based on CS231n Lecture 1 &amp; 5</a:t>
            </a:r>
            <a:endParaRPr lang="en-US" sz="6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73152" y="433425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CUAI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10312" y="182880"/>
            <a:ext cx="0" cy="64008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87552" y="32004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1. Deep Learning Basics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87552" y="749808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Lecture 2–4 · 학습의 기본 파이프라인을 만든다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078992" y="1261872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mnt/data/course_assets/L2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298448"/>
            <a:ext cx="1938528" cy="1344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23744" y="1335024"/>
            <a:ext cx="475488" cy="256032"/>
          </a:xfrm>
          <a:prstGeom prst="roundRect">
            <a:avLst/>
          </a:prstGeom>
          <a:solidFill>
            <a:srgbClr val="B43A34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560320" y="1376172"/>
            <a:ext cx="402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완료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3392424" y="1261872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mnt/data/course_assets/L3_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98448"/>
            <a:ext cx="1938528" cy="1344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37176" y="1335024"/>
            <a:ext cx="475488" cy="256032"/>
          </a:xfrm>
          <a:prstGeom prst="roundRect">
            <a:avLst/>
          </a:prstGeom>
          <a:solidFill>
            <a:srgbClr val="B43A34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4873752" y="1376172"/>
            <a:ext cx="402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완료</a:t>
            </a:r>
            <a:endParaRPr lang="en-US" sz="550" dirty="0"/>
          </a:p>
        </p:txBody>
      </p:sp>
      <p:sp>
        <p:nvSpPr>
          <p:cNvPr id="15" name="Shape 11"/>
          <p:cNvSpPr/>
          <p:nvPr/>
        </p:nvSpPr>
        <p:spPr>
          <a:xfrm>
            <a:off x="5705856" y="1261872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/mnt/data/course_assets/L4_c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1298448"/>
            <a:ext cx="1938528" cy="134416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150608" y="1335024"/>
            <a:ext cx="475488" cy="256032"/>
          </a:xfrm>
          <a:prstGeom prst="roundRect">
            <a:avLst/>
          </a:prstGeom>
          <a:solidFill>
            <a:srgbClr val="B43A34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7187184" y="1376172"/>
            <a:ext cx="402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완료</a:t>
            </a:r>
            <a:endParaRPr lang="en-US" sz="550" dirty="0"/>
          </a:p>
        </p:txBody>
      </p:sp>
      <p:sp>
        <p:nvSpPr>
          <p:cNvPr id="19" name="Text 14"/>
          <p:cNvSpPr/>
          <p:nvPr/>
        </p:nvSpPr>
        <p:spPr>
          <a:xfrm>
            <a:off x="1078992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L2  Image Classification</a:t>
            </a:r>
            <a:endParaRPr lang="en-US" sz="1020" dirty="0"/>
          </a:p>
        </p:txBody>
      </p:sp>
      <p:sp>
        <p:nvSpPr>
          <p:cNvPr id="20" name="Text 15"/>
          <p:cNvSpPr/>
          <p:nvPr/>
        </p:nvSpPr>
        <p:spPr>
          <a:xfrm>
            <a:off x="1078992" y="341071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KNN · Linear Classifier · Softmax</a:t>
            </a:r>
            <a:endParaRPr lang="en-US" sz="820" dirty="0"/>
          </a:p>
        </p:txBody>
      </p:sp>
      <p:sp>
        <p:nvSpPr>
          <p:cNvPr id="21" name="Text 16"/>
          <p:cNvSpPr/>
          <p:nvPr/>
        </p:nvSpPr>
        <p:spPr>
          <a:xfrm>
            <a:off x="3392424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L3  Regularization &amp; Optimization</a:t>
            </a:r>
            <a:endParaRPr lang="en-US" sz="1020" dirty="0"/>
          </a:p>
        </p:txBody>
      </p:sp>
      <p:sp>
        <p:nvSpPr>
          <p:cNvPr id="22" name="Text 17"/>
          <p:cNvSpPr/>
          <p:nvPr/>
        </p:nvSpPr>
        <p:spPr>
          <a:xfrm>
            <a:off x="3392424" y="341071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Loss · Regularization · SGD / Adam</a:t>
            </a:r>
            <a:endParaRPr lang="en-US" sz="820" dirty="0"/>
          </a:p>
        </p:txBody>
      </p:sp>
      <p:sp>
        <p:nvSpPr>
          <p:cNvPr id="23" name="Text 18"/>
          <p:cNvSpPr/>
          <p:nvPr/>
        </p:nvSpPr>
        <p:spPr>
          <a:xfrm>
            <a:off x="5705856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L4  Neural Networks &amp; Backprop</a:t>
            </a:r>
            <a:endParaRPr lang="en-US" sz="1020" dirty="0"/>
          </a:p>
        </p:txBody>
      </p:sp>
      <p:sp>
        <p:nvSpPr>
          <p:cNvPr id="24" name="Text 19"/>
          <p:cNvSpPr/>
          <p:nvPr/>
        </p:nvSpPr>
        <p:spPr>
          <a:xfrm>
            <a:off x="5705856" y="341071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Gradient · Backpropagation · MLP</a:t>
            </a:r>
            <a:endParaRPr lang="en-US" sz="820" dirty="0"/>
          </a:p>
        </p:txBody>
      </p:sp>
      <p:sp>
        <p:nvSpPr>
          <p:cNvPr id="25" name="Text 20"/>
          <p:cNvSpPr/>
          <p:nvPr/>
        </p:nvSpPr>
        <p:spPr>
          <a:xfrm>
            <a:off x="1143000" y="4242816"/>
            <a:ext cx="7068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3A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image → score → loss → optimization → backpropagation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537960" y="486460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8993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Stanford CS231n · Spring 2025</a:t>
            </a:r>
            <a:endParaRPr lang="en-US" sz="6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73152" y="433425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CUAI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10312" y="182880"/>
            <a:ext cx="0" cy="64008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87552" y="32004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2. Perceiving &amp; Understanding the Visual World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87552" y="749808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Lecture 5–12 · “이미지를 분류하는 법”에서 “시각 정보를 이해하는 법”으로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024128" y="1170432"/>
            <a:ext cx="17190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mnt/data/course_assets/L5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207008"/>
            <a:ext cx="1645920" cy="11155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176272" y="1243584"/>
            <a:ext cx="475488" cy="256032"/>
          </a:xfrm>
          <a:prstGeom prst="roundRect">
            <a:avLst/>
          </a:prstGeom>
          <a:solidFill>
            <a:srgbClr val="B43A34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212848" y="1284732"/>
            <a:ext cx="402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완료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2962656" y="1170432"/>
            <a:ext cx="17190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mnt/data/course_assets/L8_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1207008"/>
            <a:ext cx="1645920" cy="11155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901184" y="1170432"/>
            <a:ext cx="17190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/mnt/data/course_assets/L9_c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207008"/>
            <a:ext cx="1645920" cy="11155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839712" y="1170432"/>
            <a:ext cx="17190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/mnt/data/course_assets/L12_co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88" y="1207008"/>
            <a:ext cx="1645920" cy="11155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4128" y="26334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B43A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L5–6</a:t>
            </a:r>
            <a:endParaRPr lang="en-US" sz="780" dirty="0"/>
          </a:p>
        </p:txBody>
      </p:sp>
      <p:sp>
        <p:nvSpPr>
          <p:cNvPr id="18" name="Text 12"/>
          <p:cNvSpPr/>
          <p:nvPr/>
        </p:nvSpPr>
        <p:spPr>
          <a:xfrm>
            <a:off x="1024128" y="2944368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CNN &amp; CNN Architectures</a:t>
            </a:r>
            <a:endParaRPr lang="en-US" sz="920" dirty="0"/>
          </a:p>
        </p:txBody>
      </p:sp>
      <p:sp>
        <p:nvSpPr>
          <p:cNvPr id="19" name="Text 13"/>
          <p:cNvSpPr/>
          <p:nvPr/>
        </p:nvSpPr>
        <p:spPr>
          <a:xfrm>
            <a:off x="1024128" y="35661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이미지의 spatial structure를 직접 활용</a:t>
            </a:r>
            <a:endParaRPr lang="en-US" sz="760" dirty="0"/>
          </a:p>
        </p:txBody>
      </p:sp>
      <p:sp>
        <p:nvSpPr>
          <p:cNvPr id="20" name="Text 14"/>
          <p:cNvSpPr/>
          <p:nvPr/>
        </p:nvSpPr>
        <p:spPr>
          <a:xfrm>
            <a:off x="2962656" y="26334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F5B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L7–8</a:t>
            </a:r>
            <a:endParaRPr lang="en-US" sz="780" dirty="0"/>
          </a:p>
        </p:txBody>
      </p:sp>
      <p:sp>
        <p:nvSpPr>
          <p:cNvPr id="21" name="Text 15"/>
          <p:cNvSpPr/>
          <p:nvPr/>
        </p:nvSpPr>
        <p:spPr>
          <a:xfrm>
            <a:off x="2962656" y="2944368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RNN · Attention · Transformers</a:t>
            </a:r>
            <a:endParaRPr lang="en-US" sz="920" dirty="0"/>
          </a:p>
        </p:txBody>
      </p:sp>
      <p:sp>
        <p:nvSpPr>
          <p:cNvPr id="22" name="Text 16"/>
          <p:cNvSpPr/>
          <p:nvPr/>
        </p:nvSpPr>
        <p:spPr>
          <a:xfrm>
            <a:off x="2962656" y="35661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sequence와 장기 의존성, attention</a:t>
            </a:r>
            <a:endParaRPr lang="en-US" sz="760" dirty="0"/>
          </a:p>
        </p:txBody>
      </p:sp>
      <p:sp>
        <p:nvSpPr>
          <p:cNvPr id="23" name="Text 17"/>
          <p:cNvSpPr/>
          <p:nvPr/>
        </p:nvSpPr>
        <p:spPr>
          <a:xfrm>
            <a:off x="4901184" y="26334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F5B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L9–10</a:t>
            </a:r>
            <a:endParaRPr lang="en-US" sz="780" dirty="0"/>
          </a:p>
        </p:txBody>
      </p:sp>
      <p:sp>
        <p:nvSpPr>
          <p:cNvPr id="24" name="Text 18"/>
          <p:cNvSpPr/>
          <p:nvPr/>
        </p:nvSpPr>
        <p:spPr>
          <a:xfrm>
            <a:off x="4901184" y="2944368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Detection · Segmentation · Video</a:t>
            </a:r>
            <a:endParaRPr lang="en-US" sz="920" dirty="0"/>
          </a:p>
        </p:txBody>
      </p:sp>
      <p:sp>
        <p:nvSpPr>
          <p:cNvPr id="25" name="Text 19"/>
          <p:cNvSpPr/>
          <p:nvPr/>
        </p:nvSpPr>
        <p:spPr>
          <a:xfrm>
            <a:off x="4901184" y="35661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위치·픽셀·시간까지 이해</a:t>
            </a:r>
            <a:endParaRPr lang="en-US" sz="760" dirty="0"/>
          </a:p>
        </p:txBody>
      </p:sp>
      <p:sp>
        <p:nvSpPr>
          <p:cNvPr id="26" name="Text 20"/>
          <p:cNvSpPr/>
          <p:nvPr/>
        </p:nvSpPr>
        <p:spPr>
          <a:xfrm>
            <a:off x="6839712" y="26334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F5B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L11–12</a:t>
            </a:r>
            <a:endParaRPr lang="en-US" sz="780" dirty="0"/>
          </a:p>
        </p:txBody>
      </p:sp>
      <p:sp>
        <p:nvSpPr>
          <p:cNvPr id="27" name="Text 21"/>
          <p:cNvSpPr/>
          <p:nvPr/>
        </p:nvSpPr>
        <p:spPr>
          <a:xfrm>
            <a:off x="6839712" y="2944368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Distributed Training · SSL</a:t>
            </a:r>
            <a:endParaRPr lang="en-US" sz="920" dirty="0"/>
          </a:p>
        </p:txBody>
      </p:sp>
      <p:sp>
        <p:nvSpPr>
          <p:cNvPr id="28" name="Text 22"/>
          <p:cNvSpPr/>
          <p:nvPr/>
        </p:nvSpPr>
        <p:spPr>
          <a:xfrm>
            <a:off x="6839712" y="35661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큰 모델을 학습하고 label 의존성을 줄임</a:t>
            </a:r>
            <a:endParaRPr lang="en-US" sz="760" dirty="0"/>
          </a:p>
        </p:txBody>
      </p:sp>
      <p:sp>
        <p:nvSpPr>
          <p:cNvPr id="29" name="Text 23"/>
          <p:cNvSpPr/>
          <p:nvPr/>
        </p:nvSpPr>
        <p:spPr>
          <a:xfrm>
            <a:off x="1097280" y="4370832"/>
            <a:ext cx="7059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 → 위치/픽셀 → 시간 → 표현 학습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537960" y="486460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8993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Stanford CS231n · Spring 2025</a:t>
            </a:r>
            <a:endParaRPr lang="en-US" sz="6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73152" y="433425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CUAI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10312" y="182880"/>
            <a:ext cx="0" cy="64008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87552" y="32004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3. Generative &amp; Interactive Visual Intelligence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87552" y="749808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Lecture 13–16 · “이해”를 넘어 생성하고, 3D와 언어까지 연결한다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024128" y="1152144"/>
            <a:ext cx="171907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mnt/data/course_assets/L13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188720"/>
            <a:ext cx="1645920" cy="11338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962656" y="1152144"/>
            <a:ext cx="171907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mnt/data/course_assets/L14_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1188720"/>
            <a:ext cx="1645920" cy="11338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01184" y="1152144"/>
            <a:ext cx="171907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/mnt/data/course_assets/L15_c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188720"/>
            <a:ext cx="1645920" cy="11338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39712" y="1152144"/>
            <a:ext cx="171907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/mnt/data/course_assets/L16_co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88" y="1188720"/>
            <a:ext cx="1645920" cy="11338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266090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3F7C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L13  Generative Models I</a:t>
            </a:r>
            <a:endParaRPr lang="en-US" sz="890" dirty="0"/>
          </a:p>
        </p:txBody>
      </p:sp>
      <p:sp>
        <p:nvSpPr>
          <p:cNvPr id="16" name="Text 10"/>
          <p:cNvSpPr/>
          <p:nvPr/>
        </p:nvSpPr>
        <p:spPr>
          <a:xfrm>
            <a:off x="1024128" y="331012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 모델의 기본 관점</a:t>
            </a:r>
            <a:endParaRPr lang="en-US" sz="770" dirty="0"/>
          </a:p>
        </p:txBody>
      </p:sp>
      <p:sp>
        <p:nvSpPr>
          <p:cNvPr id="17" name="Text 11"/>
          <p:cNvSpPr/>
          <p:nvPr/>
        </p:nvSpPr>
        <p:spPr>
          <a:xfrm>
            <a:off x="2962656" y="266090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3F7C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L14  Generative Models II</a:t>
            </a:r>
            <a:endParaRPr lang="en-US" sz="890" dirty="0"/>
          </a:p>
        </p:txBody>
      </p:sp>
      <p:sp>
        <p:nvSpPr>
          <p:cNvPr id="18" name="Text 12"/>
          <p:cNvSpPr/>
          <p:nvPr/>
        </p:nvSpPr>
        <p:spPr>
          <a:xfrm>
            <a:off x="2962656" y="331012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더 발전된 생성 모델과 image generation</a:t>
            </a:r>
            <a:endParaRPr lang="en-US" sz="770" dirty="0"/>
          </a:p>
        </p:txBody>
      </p:sp>
      <p:sp>
        <p:nvSpPr>
          <p:cNvPr id="19" name="Text 13"/>
          <p:cNvSpPr/>
          <p:nvPr/>
        </p:nvSpPr>
        <p:spPr>
          <a:xfrm>
            <a:off x="4901184" y="266090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L15  3D Vision</a:t>
            </a:r>
            <a:endParaRPr lang="en-US" sz="890" dirty="0"/>
          </a:p>
        </p:txBody>
      </p:sp>
      <p:sp>
        <p:nvSpPr>
          <p:cNvPr id="20" name="Text 14"/>
          <p:cNvSpPr/>
          <p:nvPr/>
        </p:nvSpPr>
        <p:spPr>
          <a:xfrm>
            <a:off x="4901184" y="331012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2D image 너머 geometry와 3D representation</a:t>
            </a:r>
            <a:endParaRPr lang="en-US" sz="770" dirty="0"/>
          </a:p>
        </p:txBody>
      </p:sp>
      <p:sp>
        <p:nvSpPr>
          <p:cNvPr id="21" name="Text 15"/>
          <p:cNvSpPr/>
          <p:nvPr/>
        </p:nvSpPr>
        <p:spPr>
          <a:xfrm>
            <a:off x="6839712" y="266090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L16  Multi-Modal Foundation Models</a:t>
            </a:r>
            <a:endParaRPr lang="en-US" sz="890" dirty="0"/>
          </a:p>
        </p:txBody>
      </p:sp>
      <p:sp>
        <p:nvSpPr>
          <p:cNvPr id="22" name="Text 16"/>
          <p:cNvSpPr/>
          <p:nvPr/>
        </p:nvSpPr>
        <p:spPr>
          <a:xfrm>
            <a:off x="6839712" y="331012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 + language를 하나의 foundation model로</a:t>
            </a:r>
            <a:endParaRPr lang="en-US" sz="770" dirty="0"/>
          </a:p>
        </p:txBody>
      </p:sp>
      <p:sp>
        <p:nvSpPr>
          <p:cNvPr id="23" name="Text 17"/>
          <p:cNvSpPr/>
          <p:nvPr/>
        </p:nvSpPr>
        <p:spPr>
          <a:xfrm>
            <a:off x="1115568" y="4325112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7C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Recognize → Generate → Represent 3D → Connect modalities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537960" y="486460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8993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Stanford CS231n · Spring 2025</a:t>
            </a:r>
            <a:endParaRPr lang="en-US" sz="6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73152" y="433425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CUAI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10312" y="182880"/>
            <a:ext cx="0" cy="64008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87552" y="32004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4. Human-Centered Applications &amp; Implications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87552" y="749808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Lecture 17–18 · 모델이 실제 환경과 사람에게 연결되는 단계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078992" y="1170432"/>
            <a:ext cx="2834640" cy="1956816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mnt/data/course_assets/L17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207008"/>
            <a:ext cx="2761488" cy="18836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15968" y="1170432"/>
            <a:ext cx="3822192" cy="1956816"/>
          </a:xfrm>
          <a:prstGeom prst="roundRect">
            <a:avLst>
              <a:gd name="adj" fmla="val 5607"/>
            </a:avLst>
          </a:prstGeom>
          <a:solidFill>
            <a:srgbClr val="FAF4E8"/>
          </a:solidFill>
          <a:ln w="12700">
            <a:solidFill>
              <a:srgbClr val="B788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553712" y="14813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L18  Human-Centered Artificial Intelligence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53712" y="20574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강의의 마지막 축은 모델 성능 자체를 넘어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사람과 사회에 어떤 영향을 주는지까지 다룹니다.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1097280" y="3493008"/>
            <a:ext cx="1417320" cy="758952"/>
          </a:xfrm>
          <a:prstGeom prst="roundRect">
            <a:avLst>
              <a:gd name="adj" fmla="val 14458"/>
            </a:avLst>
          </a:prstGeom>
          <a:solidFill>
            <a:srgbClr val="F7F9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1170432" y="3648456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70432" y="394106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017520" y="3493008"/>
            <a:ext cx="1417320" cy="758952"/>
          </a:xfrm>
          <a:prstGeom prst="roundRect">
            <a:avLst>
              <a:gd name="adj" fmla="val 14458"/>
            </a:avLst>
          </a:prstGeom>
          <a:solidFill>
            <a:srgbClr val="F7F9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3090672" y="3648456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090672" y="394106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상호작용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937760" y="3493008"/>
            <a:ext cx="1417320" cy="758952"/>
          </a:xfrm>
          <a:prstGeom prst="roundRect">
            <a:avLst>
              <a:gd name="adj" fmla="val 14458"/>
            </a:avLst>
          </a:prstGeom>
          <a:solidFill>
            <a:srgbClr val="F7F9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010912" y="3648456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Reward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10912" y="394106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신호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858000" y="3493008"/>
            <a:ext cx="1417320" cy="758952"/>
          </a:xfrm>
          <a:prstGeom prst="roundRect">
            <a:avLst>
              <a:gd name="adj" fmla="val 14458"/>
            </a:avLst>
          </a:prstGeom>
          <a:solidFill>
            <a:srgbClr val="FAF4E8"/>
          </a:solidFill>
          <a:ln w="12700">
            <a:solidFill>
              <a:srgbClr val="B788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931152" y="3648456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88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Human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931152" y="394106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응용·영향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537960" y="486460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8993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Stanford CS231n · Spring 2025</a:t>
            </a:r>
            <a:endParaRPr lang="en-US" sz="6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73152" y="433425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CUAI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10312" y="182880"/>
            <a:ext cx="0" cy="64008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87552" y="32004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CS231n 전체 흐름을 한 장으로 보면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87552" y="749808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Lecture는 따로 떨어진 주제가 아니라 “시각 지능의 범위를 넓히는 과정”으로 이어집니다.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161288" y="1170432"/>
            <a:ext cx="329184" cy="329184"/>
          </a:xfrm>
          <a:prstGeom prst="ellipse">
            <a:avLst/>
          </a:prstGeom>
          <a:solidFill>
            <a:srgbClr val="B43A34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61288" y="1243584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709928" y="1143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학습 원리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3840480" y="1152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Linear · Loss · Optimization · Backprop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1325880" y="1508760"/>
            <a:ext cx="0" cy="292608"/>
          </a:xfrm>
          <a:prstGeom prst="line">
            <a:avLst/>
          </a:prstGeom>
          <a:noFill/>
          <a:ln w="17780">
            <a:solidFill>
              <a:srgbClr val="B9C1C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61288" y="1828800"/>
            <a:ext cx="329184" cy="329184"/>
          </a:xfrm>
          <a:prstGeom prst="ellipse">
            <a:avLst/>
          </a:prstGeom>
          <a:solidFill>
            <a:srgbClr val="2F5B9A"/>
          </a:solidFill>
          <a:ln w="12700">
            <a:solidFill>
              <a:srgbClr val="2F5B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161288" y="190195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709928" y="18013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시각 표현 학습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3840480" y="18105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CNN · Architecture · SSL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1325880" y="2167128"/>
            <a:ext cx="0" cy="292608"/>
          </a:xfrm>
          <a:prstGeom prst="line">
            <a:avLst/>
          </a:prstGeom>
          <a:noFill/>
          <a:ln w="17780">
            <a:solidFill>
              <a:srgbClr val="B9C1C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61288" y="2487168"/>
            <a:ext cx="329184" cy="329184"/>
          </a:xfrm>
          <a:prstGeom prst="ellipse">
            <a:avLst/>
          </a:prstGeom>
          <a:solidFill>
            <a:srgbClr val="253A63"/>
          </a:solidFill>
          <a:ln w="12700">
            <a:solidFill>
              <a:srgbClr val="253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161288" y="256032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709928" y="2459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복잡한 시각 이해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3840480" y="2468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Transformer · Detection · Video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1325880" y="2825496"/>
            <a:ext cx="0" cy="292608"/>
          </a:xfrm>
          <a:prstGeom prst="line">
            <a:avLst/>
          </a:prstGeom>
          <a:noFill/>
          <a:ln w="17780">
            <a:solidFill>
              <a:srgbClr val="B9C1C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61288" y="3145536"/>
            <a:ext cx="329184" cy="329184"/>
          </a:xfrm>
          <a:prstGeom prst="ellipse">
            <a:avLst/>
          </a:prstGeom>
          <a:solidFill>
            <a:srgbClr val="3F7C65"/>
          </a:solidFill>
          <a:ln w="12700">
            <a:solidFill>
              <a:srgbClr val="3F7C6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161288" y="321868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709928" y="3118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생성·멀티모달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3840480" y="3127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Generative · 3D · Foundation Models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1325880" y="3483864"/>
            <a:ext cx="0" cy="292608"/>
          </a:xfrm>
          <a:prstGeom prst="line">
            <a:avLst/>
          </a:prstGeom>
          <a:noFill/>
          <a:ln w="17780">
            <a:solidFill>
              <a:srgbClr val="B9C1C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161288" y="3803904"/>
            <a:ext cx="329184" cy="329184"/>
          </a:xfrm>
          <a:prstGeom prst="ellipse">
            <a:avLst/>
          </a:prstGeom>
          <a:solidFill>
            <a:srgbClr val="B7882A"/>
          </a:solidFill>
          <a:ln w="12700">
            <a:solidFill>
              <a:srgbClr val="B788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161288" y="3877056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709928" y="3776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환경·사람과 상호작용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3840480" y="37856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 Learning · Human-Centered AI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1143000" y="44805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CS231n = “이미지를 맞히는 모델”에서 “세상을 보고, 만들고, 상호작용하는 시스템”까지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6537960" y="486460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8993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Stanford CS231n · Spring 2025</a:t>
            </a:r>
            <a:endParaRPr lang="en-US" sz="6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73152" y="433425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CUAI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10312" y="182880"/>
            <a:ext cx="0" cy="64008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87552" y="32004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Lecture 1–18 전체 로드맵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1014984" y="1060704"/>
            <a:ext cx="3593592" cy="320040"/>
          </a:xfrm>
          <a:prstGeom prst="roundRect">
            <a:avLst/>
          </a:prstGeom>
          <a:solidFill>
            <a:srgbClr val="FBF2F1"/>
          </a:solidFill>
          <a:ln w="6350">
            <a:solidFill>
              <a:srgbClr val="EED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42416" y="10789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B43A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1453896" y="106984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Introduction</a:t>
            </a:r>
            <a:endParaRPr lang="en-US" sz="735" dirty="0"/>
          </a:p>
        </p:txBody>
      </p:sp>
      <p:sp>
        <p:nvSpPr>
          <p:cNvPr id="10" name="Text 8"/>
          <p:cNvSpPr/>
          <p:nvPr/>
        </p:nvSpPr>
        <p:spPr>
          <a:xfrm>
            <a:off x="4352544" y="10607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43A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14984" y="1463040"/>
            <a:ext cx="3593592" cy="320040"/>
          </a:xfrm>
          <a:prstGeom prst="roundRect">
            <a:avLst/>
          </a:prstGeom>
          <a:solidFill>
            <a:srgbClr val="FBF2F1"/>
          </a:solidFill>
          <a:ln w="6350">
            <a:solidFill>
              <a:srgbClr val="EED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42416" y="14813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B43A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L2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1453896" y="147218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Image Classification with Linear Classifiers</a:t>
            </a:r>
            <a:endParaRPr lang="en-US" sz="735" dirty="0"/>
          </a:p>
        </p:txBody>
      </p:sp>
      <p:sp>
        <p:nvSpPr>
          <p:cNvPr id="14" name="Text 12"/>
          <p:cNvSpPr/>
          <p:nvPr/>
        </p:nvSpPr>
        <p:spPr>
          <a:xfrm>
            <a:off x="4352544" y="14630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43A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14984" y="1865376"/>
            <a:ext cx="3593592" cy="320040"/>
          </a:xfrm>
          <a:prstGeom prst="roundRect">
            <a:avLst/>
          </a:prstGeom>
          <a:solidFill>
            <a:srgbClr val="FBF2F1"/>
          </a:solidFill>
          <a:ln w="6350">
            <a:solidFill>
              <a:srgbClr val="EED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42416" y="1883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B43A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L3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1453896" y="187452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Regularization and Optimization</a:t>
            </a:r>
            <a:endParaRPr lang="en-US" sz="735" dirty="0"/>
          </a:p>
        </p:txBody>
      </p:sp>
      <p:sp>
        <p:nvSpPr>
          <p:cNvPr id="18" name="Text 16"/>
          <p:cNvSpPr/>
          <p:nvPr/>
        </p:nvSpPr>
        <p:spPr>
          <a:xfrm>
            <a:off x="4352544" y="1865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43A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14984" y="2267712"/>
            <a:ext cx="3593592" cy="320040"/>
          </a:xfrm>
          <a:prstGeom prst="roundRect">
            <a:avLst/>
          </a:prstGeom>
          <a:solidFill>
            <a:srgbClr val="FBF2F1"/>
          </a:solidFill>
          <a:ln w="6350">
            <a:solidFill>
              <a:srgbClr val="EED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42416" y="22860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B43A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L4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1453896" y="227685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Neural Networks and Backpropagation</a:t>
            </a:r>
            <a:endParaRPr lang="en-US" sz="735" dirty="0"/>
          </a:p>
        </p:txBody>
      </p:sp>
      <p:sp>
        <p:nvSpPr>
          <p:cNvPr id="22" name="Text 20"/>
          <p:cNvSpPr/>
          <p:nvPr/>
        </p:nvSpPr>
        <p:spPr>
          <a:xfrm>
            <a:off x="4352544" y="22677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43A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14984" y="2670048"/>
            <a:ext cx="3593592" cy="320040"/>
          </a:xfrm>
          <a:prstGeom prst="roundRect">
            <a:avLst/>
          </a:prstGeom>
          <a:solidFill>
            <a:srgbClr val="FBF2F1"/>
          </a:solidFill>
          <a:ln w="6350">
            <a:solidFill>
              <a:srgbClr val="EED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42416" y="26883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B43A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L5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1453896" y="267919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b="1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Image Classification with CNNs</a:t>
            </a:r>
            <a:endParaRPr lang="en-US" sz="735" dirty="0"/>
          </a:p>
        </p:txBody>
      </p:sp>
      <p:sp>
        <p:nvSpPr>
          <p:cNvPr id="26" name="Text 24"/>
          <p:cNvSpPr/>
          <p:nvPr/>
        </p:nvSpPr>
        <p:spPr>
          <a:xfrm>
            <a:off x="4352544" y="26700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43A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42416" y="3090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L6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1453896" y="308152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Training CNNs and CNN Architectures</a:t>
            </a:r>
            <a:endParaRPr lang="en-US" sz="735" dirty="0"/>
          </a:p>
        </p:txBody>
      </p:sp>
      <p:sp>
        <p:nvSpPr>
          <p:cNvPr id="29" name="Text 27"/>
          <p:cNvSpPr/>
          <p:nvPr/>
        </p:nvSpPr>
        <p:spPr>
          <a:xfrm>
            <a:off x="1042416" y="3493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L7</a:t>
            </a:r>
            <a:endParaRPr lang="en-US" sz="770" dirty="0"/>
          </a:p>
        </p:txBody>
      </p:sp>
      <p:sp>
        <p:nvSpPr>
          <p:cNvPr id="30" name="Text 28"/>
          <p:cNvSpPr/>
          <p:nvPr/>
        </p:nvSpPr>
        <p:spPr>
          <a:xfrm>
            <a:off x="1453896" y="348386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Recurrent Neural Networks</a:t>
            </a:r>
            <a:endParaRPr lang="en-US" sz="735" dirty="0"/>
          </a:p>
        </p:txBody>
      </p:sp>
      <p:sp>
        <p:nvSpPr>
          <p:cNvPr id="31" name="Text 29"/>
          <p:cNvSpPr/>
          <p:nvPr/>
        </p:nvSpPr>
        <p:spPr>
          <a:xfrm>
            <a:off x="1042416" y="38953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L8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1453896" y="388620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Attention and Transformers</a:t>
            </a:r>
            <a:endParaRPr lang="en-US" sz="735" dirty="0"/>
          </a:p>
        </p:txBody>
      </p:sp>
      <p:sp>
        <p:nvSpPr>
          <p:cNvPr id="33" name="Text 31"/>
          <p:cNvSpPr/>
          <p:nvPr/>
        </p:nvSpPr>
        <p:spPr>
          <a:xfrm>
            <a:off x="1042416" y="429768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L9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1453896" y="428853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Detection, Segmentation, Visualization, and Understanding</a:t>
            </a:r>
            <a:endParaRPr lang="en-US" sz="735" dirty="0"/>
          </a:p>
        </p:txBody>
      </p:sp>
      <p:sp>
        <p:nvSpPr>
          <p:cNvPr id="35" name="Text 33"/>
          <p:cNvSpPr/>
          <p:nvPr/>
        </p:nvSpPr>
        <p:spPr>
          <a:xfrm>
            <a:off x="4992624" y="10789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L10</a:t>
            </a:r>
            <a:endParaRPr lang="en-US" sz="770" dirty="0"/>
          </a:p>
        </p:txBody>
      </p:sp>
      <p:sp>
        <p:nvSpPr>
          <p:cNvPr id="36" name="Text 34"/>
          <p:cNvSpPr/>
          <p:nvPr/>
        </p:nvSpPr>
        <p:spPr>
          <a:xfrm>
            <a:off x="5404104" y="106984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Video Understanding</a:t>
            </a:r>
            <a:endParaRPr lang="en-US" sz="735" dirty="0"/>
          </a:p>
        </p:txBody>
      </p:sp>
      <p:sp>
        <p:nvSpPr>
          <p:cNvPr id="37" name="Text 35"/>
          <p:cNvSpPr/>
          <p:nvPr/>
        </p:nvSpPr>
        <p:spPr>
          <a:xfrm>
            <a:off x="4992624" y="14813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L11</a:t>
            </a:r>
            <a:endParaRPr lang="en-US" sz="770" dirty="0"/>
          </a:p>
        </p:txBody>
      </p:sp>
      <p:sp>
        <p:nvSpPr>
          <p:cNvPr id="38" name="Text 36"/>
          <p:cNvSpPr/>
          <p:nvPr/>
        </p:nvSpPr>
        <p:spPr>
          <a:xfrm>
            <a:off x="5404104" y="147218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Large-Scale Distributed Training</a:t>
            </a:r>
            <a:endParaRPr lang="en-US" sz="735" dirty="0"/>
          </a:p>
        </p:txBody>
      </p:sp>
      <p:sp>
        <p:nvSpPr>
          <p:cNvPr id="39" name="Text 37"/>
          <p:cNvSpPr/>
          <p:nvPr/>
        </p:nvSpPr>
        <p:spPr>
          <a:xfrm>
            <a:off x="4992624" y="1883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L12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5404104" y="187452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Self-Supervised Learning</a:t>
            </a:r>
            <a:endParaRPr lang="en-US" sz="735" dirty="0"/>
          </a:p>
        </p:txBody>
      </p:sp>
      <p:sp>
        <p:nvSpPr>
          <p:cNvPr id="41" name="Text 39"/>
          <p:cNvSpPr/>
          <p:nvPr/>
        </p:nvSpPr>
        <p:spPr>
          <a:xfrm>
            <a:off x="4992624" y="22860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L13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5404104" y="227685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Generative Models (Part 1)</a:t>
            </a:r>
            <a:endParaRPr lang="en-US" sz="735" dirty="0"/>
          </a:p>
        </p:txBody>
      </p:sp>
      <p:sp>
        <p:nvSpPr>
          <p:cNvPr id="43" name="Text 41"/>
          <p:cNvSpPr/>
          <p:nvPr/>
        </p:nvSpPr>
        <p:spPr>
          <a:xfrm>
            <a:off x="4992624" y="26883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L14</a:t>
            </a:r>
            <a:endParaRPr lang="en-US" sz="770" dirty="0"/>
          </a:p>
        </p:txBody>
      </p:sp>
      <p:sp>
        <p:nvSpPr>
          <p:cNvPr id="44" name="Text 42"/>
          <p:cNvSpPr/>
          <p:nvPr/>
        </p:nvSpPr>
        <p:spPr>
          <a:xfrm>
            <a:off x="5404104" y="267919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Generative Models (Part 2)</a:t>
            </a:r>
            <a:endParaRPr lang="en-US" sz="735" dirty="0"/>
          </a:p>
        </p:txBody>
      </p:sp>
      <p:sp>
        <p:nvSpPr>
          <p:cNvPr id="45" name="Text 43"/>
          <p:cNvSpPr/>
          <p:nvPr/>
        </p:nvSpPr>
        <p:spPr>
          <a:xfrm>
            <a:off x="4992624" y="3090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L15</a:t>
            </a:r>
            <a:endParaRPr lang="en-US" sz="770" dirty="0"/>
          </a:p>
        </p:txBody>
      </p:sp>
      <p:sp>
        <p:nvSpPr>
          <p:cNvPr id="46" name="Text 44"/>
          <p:cNvSpPr/>
          <p:nvPr/>
        </p:nvSpPr>
        <p:spPr>
          <a:xfrm>
            <a:off x="5404104" y="308152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3D Vision</a:t>
            </a:r>
            <a:endParaRPr lang="en-US" sz="735" dirty="0"/>
          </a:p>
        </p:txBody>
      </p:sp>
      <p:sp>
        <p:nvSpPr>
          <p:cNvPr id="47" name="Text 45"/>
          <p:cNvSpPr/>
          <p:nvPr/>
        </p:nvSpPr>
        <p:spPr>
          <a:xfrm>
            <a:off x="4992624" y="3493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L16</a:t>
            </a:r>
            <a:endParaRPr lang="en-US" sz="770" dirty="0"/>
          </a:p>
        </p:txBody>
      </p:sp>
      <p:sp>
        <p:nvSpPr>
          <p:cNvPr id="48" name="Text 46"/>
          <p:cNvSpPr/>
          <p:nvPr/>
        </p:nvSpPr>
        <p:spPr>
          <a:xfrm>
            <a:off x="5404104" y="348386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Multi-Modal Foundation Models</a:t>
            </a:r>
            <a:endParaRPr lang="en-US" sz="735" dirty="0"/>
          </a:p>
        </p:txBody>
      </p:sp>
      <p:sp>
        <p:nvSpPr>
          <p:cNvPr id="49" name="Text 47"/>
          <p:cNvSpPr/>
          <p:nvPr/>
        </p:nvSpPr>
        <p:spPr>
          <a:xfrm>
            <a:off x="4992624" y="38953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L17</a:t>
            </a:r>
            <a:endParaRPr lang="en-US" sz="770" dirty="0"/>
          </a:p>
        </p:txBody>
      </p:sp>
      <p:sp>
        <p:nvSpPr>
          <p:cNvPr id="50" name="Text 48"/>
          <p:cNvSpPr/>
          <p:nvPr/>
        </p:nvSpPr>
        <p:spPr>
          <a:xfrm>
            <a:off x="5404104" y="388620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 Learning</a:t>
            </a:r>
            <a:endParaRPr lang="en-US" sz="735" dirty="0"/>
          </a:p>
        </p:txBody>
      </p:sp>
      <p:sp>
        <p:nvSpPr>
          <p:cNvPr id="51" name="Text 49"/>
          <p:cNvSpPr/>
          <p:nvPr/>
        </p:nvSpPr>
        <p:spPr>
          <a:xfrm>
            <a:off x="4992624" y="429768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L18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5404104" y="428853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D24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Human-Centered Artificial Intelligence</a:t>
            </a:r>
            <a:endParaRPr lang="en-US" sz="735" dirty="0"/>
          </a:p>
        </p:txBody>
      </p:sp>
      <p:sp>
        <p:nvSpPr>
          <p:cNvPr id="53" name="Shape 51"/>
          <p:cNvSpPr/>
          <p:nvPr/>
        </p:nvSpPr>
        <p:spPr>
          <a:xfrm>
            <a:off x="7251192" y="4453128"/>
            <a:ext cx="1033272" cy="256032"/>
          </a:xfrm>
          <a:prstGeom prst="roundRect">
            <a:avLst/>
          </a:prstGeom>
          <a:solidFill>
            <a:srgbClr val="B43A34"/>
          </a:solidFill>
          <a:ln w="12700">
            <a:solidFill>
              <a:srgbClr val="B43A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7287768" y="4494276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5 / 18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6537960" y="486460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8993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Stanford CS231n · Spring 2025</a:t>
            </a:r>
            <a:endParaRPr lang="en-US" sz="66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C4148E-35BC-9ADA-1401-6D340A337469}"/>
              </a:ext>
            </a:extLst>
          </p:cNvPr>
          <p:cNvSpPr txBox="1"/>
          <p:nvPr/>
        </p:nvSpPr>
        <p:spPr>
          <a:xfrm>
            <a:off x="3442364" y="1481328"/>
            <a:ext cx="7716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4</a:t>
            </a:r>
            <a:r>
              <a:rPr lang="ko-KR" altLang="en-US" sz="1500" dirty="0"/>
              <a:t>주차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59A75A-1F13-1998-D1BB-9D8E0438E17E}"/>
              </a:ext>
            </a:extLst>
          </p:cNvPr>
          <p:cNvSpPr txBox="1"/>
          <p:nvPr/>
        </p:nvSpPr>
        <p:spPr>
          <a:xfrm>
            <a:off x="3437441" y="1849982"/>
            <a:ext cx="7716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4</a:t>
            </a:r>
            <a:r>
              <a:rPr lang="ko-KR" altLang="en-US" sz="1500" dirty="0"/>
              <a:t>주차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E9B24E-C6CA-D8CA-5F3A-A5D872EA3045}"/>
              </a:ext>
            </a:extLst>
          </p:cNvPr>
          <p:cNvSpPr txBox="1"/>
          <p:nvPr/>
        </p:nvSpPr>
        <p:spPr>
          <a:xfrm>
            <a:off x="3442364" y="2267712"/>
            <a:ext cx="7716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5</a:t>
            </a:r>
            <a:r>
              <a:rPr lang="ko-KR" altLang="en-US" sz="1500" dirty="0"/>
              <a:t>주차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438914-FB7D-4C6D-4B8D-EBB9AB2DA92D}"/>
              </a:ext>
            </a:extLst>
          </p:cNvPr>
          <p:cNvSpPr txBox="1"/>
          <p:nvPr/>
        </p:nvSpPr>
        <p:spPr>
          <a:xfrm>
            <a:off x="3442364" y="2698926"/>
            <a:ext cx="7716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5</a:t>
            </a:r>
            <a:r>
              <a:rPr lang="ko-KR" altLang="en-US" sz="1500" dirty="0"/>
              <a:t>주차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73152" y="4169664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CUAI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280160" y="1325880"/>
            <a:ext cx="6720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감사합니다</a:t>
            </a:r>
            <a:r>
              <a:rPr lang="en-US" altLang="ko-KR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931920" y="3974123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Q&amp;A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730</Words>
  <Application>Microsoft Office PowerPoint</Application>
  <PresentationFormat>화면 슬라이드 쇼(16:9)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CUAI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CUAI CS231n 스터디 발표</dc:title>
  <dc:subject>CS231n Study Course Introduction</dc:subject>
  <dc:creator>OpenAI</dc:creator>
  <cp:lastModifiedBy>경환 이</cp:lastModifiedBy>
  <cp:revision>5</cp:revision>
  <dcterms:created xsi:type="dcterms:W3CDTF">2026-09-29T08:19:28Z</dcterms:created>
  <dcterms:modified xsi:type="dcterms:W3CDTF">2026-09-29T08:53:02Z</dcterms:modified>
</cp:coreProperties>
</file>