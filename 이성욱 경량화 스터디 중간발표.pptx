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1" r:id="rId6"/>
    <p:sldId id="262" r:id="rId7"/>
    <p:sldId id="263" r:id="rId8"/>
    <p:sldId id="260" r:id="rId9"/>
  </p:sldIdLst>
  <p:sldSz cx="9144000" cy="5143500" type="screen16x9"/>
  <p:notesSz cx="6858000" cy="9144000"/>
  <p:embeddedFontLst>
    <p:embeddedFont>
      <p:font typeface="Nanum Gothic" panose="020B0600000101010101" charset="-127"/>
      <p:regular r:id="rId11"/>
      <p:bold r:id="rId12"/>
    </p:embeddedFont>
    <p:embeddedFont>
      <p:font typeface="NanumGothicExtraBold" panose="020D0904000000000000" pitchFamily="50" charset="-127"/>
      <p:bold r:id="rId13"/>
    </p:embeddedFont>
    <p:embeddedFont>
      <p:font typeface="맑은 고딕" panose="020B0503020000020004" pitchFamily="50" charset="-127"/>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3BD68A-E33B-4F95-950C-DD8897B8DC6C}" v="5" dt="2026-09-29T05:43:44.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2" y="16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 Sunguk" userId="10bb31493ff3d52f" providerId="LiveId" clId="{CD738285-0188-4738-9309-8D43DC90EAD9}"/>
    <pc:docChg chg="custSel modSld">
      <pc:chgData name="Lee Sunguk" userId="10bb31493ff3d52f" providerId="LiveId" clId="{CD738285-0188-4738-9309-8D43DC90EAD9}" dt="2026-09-29T05:44:16.926" v="303" actId="20577"/>
      <pc:docMkLst>
        <pc:docMk/>
      </pc:docMkLst>
      <pc:sldChg chg="modSp mod">
        <pc:chgData name="Lee Sunguk" userId="10bb31493ff3d52f" providerId="LiveId" clId="{CD738285-0188-4738-9309-8D43DC90EAD9}" dt="2026-09-29T05:41:28.352" v="8" actId="20577"/>
        <pc:sldMkLst>
          <pc:docMk/>
          <pc:sldMk cId="0" sldId="258"/>
        </pc:sldMkLst>
        <pc:spChg chg="mod">
          <ac:chgData name="Lee Sunguk" userId="10bb31493ff3d52f" providerId="LiveId" clId="{CD738285-0188-4738-9309-8D43DC90EAD9}" dt="2026-09-29T05:41:28.352" v="8" actId="20577"/>
          <ac:spMkLst>
            <pc:docMk/>
            <pc:sldMk cId="0" sldId="258"/>
            <ac:spMk id="4" creationId="{2BF00F95-E86A-621E-9C71-A355D9C74BCC}"/>
          </ac:spMkLst>
        </pc:spChg>
      </pc:sldChg>
      <pc:sldChg chg="modSp mod">
        <pc:chgData name="Lee Sunguk" userId="10bb31493ff3d52f" providerId="LiveId" clId="{CD738285-0188-4738-9309-8D43DC90EAD9}" dt="2026-09-29T05:42:41.360" v="150" actId="20577"/>
        <pc:sldMkLst>
          <pc:docMk/>
          <pc:sldMk cId="0" sldId="259"/>
        </pc:sldMkLst>
        <pc:spChg chg="mod">
          <ac:chgData name="Lee Sunguk" userId="10bb31493ff3d52f" providerId="LiveId" clId="{CD738285-0188-4738-9309-8D43DC90EAD9}" dt="2026-09-29T05:42:41.360" v="150" actId="20577"/>
          <ac:spMkLst>
            <pc:docMk/>
            <pc:sldMk cId="0" sldId="259"/>
            <ac:spMk id="3" creationId="{89A62292-123C-1E9C-A469-3E88A3B301A1}"/>
          </ac:spMkLst>
        </pc:spChg>
      </pc:sldChg>
      <pc:sldChg chg="modSp mod">
        <pc:chgData name="Lee Sunguk" userId="10bb31493ff3d52f" providerId="LiveId" clId="{CD738285-0188-4738-9309-8D43DC90EAD9}" dt="2026-09-29T05:43:22.772" v="260" actId="20577"/>
        <pc:sldMkLst>
          <pc:docMk/>
          <pc:sldMk cId="3315291121" sldId="261"/>
        </pc:sldMkLst>
        <pc:spChg chg="mod">
          <ac:chgData name="Lee Sunguk" userId="10bb31493ff3d52f" providerId="LiveId" clId="{CD738285-0188-4738-9309-8D43DC90EAD9}" dt="2026-09-29T05:43:22.772" v="260" actId="20577"/>
          <ac:spMkLst>
            <pc:docMk/>
            <pc:sldMk cId="3315291121" sldId="261"/>
            <ac:spMk id="3" creationId="{3DCAAAB4-F378-D6D5-8DF5-65C67D014C41}"/>
          </ac:spMkLst>
        </pc:spChg>
      </pc:sldChg>
      <pc:sldChg chg="modSp mod">
        <pc:chgData name="Lee Sunguk" userId="10bb31493ff3d52f" providerId="LiveId" clId="{CD738285-0188-4738-9309-8D43DC90EAD9}" dt="2026-09-29T05:43:46.540" v="262" actId="20577"/>
        <pc:sldMkLst>
          <pc:docMk/>
          <pc:sldMk cId="2229709065" sldId="262"/>
        </pc:sldMkLst>
        <pc:spChg chg="mod">
          <ac:chgData name="Lee Sunguk" userId="10bb31493ff3d52f" providerId="LiveId" clId="{CD738285-0188-4738-9309-8D43DC90EAD9}" dt="2026-09-29T05:43:46.540" v="262" actId="20577"/>
          <ac:spMkLst>
            <pc:docMk/>
            <pc:sldMk cId="2229709065" sldId="262"/>
            <ac:spMk id="3" creationId="{5F25CE40-D385-B98A-88F4-3AFC99F54678}"/>
          </ac:spMkLst>
        </pc:spChg>
      </pc:sldChg>
      <pc:sldChg chg="modSp mod">
        <pc:chgData name="Lee Sunguk" userId="10bb31493ff3d52f" providerId="LiveId" clId="{CD738285-0188-4738-9309-8D43DC90EAD9}" dt="2026-09-29T05:44:16.926" v="303" actId="20577"/>
        <pc:sldMkLst>
          <pc:docMk/>
          <pc:sldMk cId="792389134" sldId="263"/>
        </pc:sldMkLst>
        <pc:spChg chg="mod">
          <ac:chgData name="Lee Sunguk" userId="10bb31493ff3d52f" providerId="LiveId" clId="{CD738285-0188-4738-9309-8D43DC90EAD9}" dt="2026-09-29T05:44:16.926" v="303" actId="20577"/>
          <ac:spMkLst>
            <pc:docMk/>
            <pc:sldMk cId="792389134" sldId="263"/>
            <ac:spMk id="92" creationId="{26A4C3BA-BE98-C873-F5ED-2CA8C4CC2F4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6accca8d1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6accca8d1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여기부터는 스터디 발표에 쓰이는 PPT 슬라이드입니다!</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6accca8d1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6accca8d1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이렇게 스터디원들을 만나 공부하신 사진을 넣어주시고 만남 인증을 해주세요!</a:t>
            </a:r>
            <a:endParaRPr/>
          </a:p>
          <a:p>
            <a:pPr marL="0" lvl="0" indent="0" algn="l" rtl="0">
              <a:spcBef>
                <a:spcPts val="0"/>
              </a:spcBef>
              <a:spcAft>
                <a:spcPts val="0"/>
              </a:spcAft>
              <a:buNone/>
            </a:pPr>
            <a:r>
              <a:rPr lang="ko"/>
              <a:t>비대면일 경우 화면 캡처를 이용해주시면 됩니다</a:t>
            </a:r>
            <a:endParaRPr/>
          </a:p>
          <a:p>
            <a:pPr marL="0" lvl="0" indent="0" algn="l" rtl="0">
              <a:spcBef>
                <a:spcPts val="0"/>
              </a:spcBef>
              <a:spcAft>
                <a:spcPts val="0"/>
              </a:spcAft>
              <a:buNone/>
            </a:pPr>
            <a:r>
              <a:rPr lang="ko"/>
              <a:t>지난 기수에서는 이걸 많이 까먹고 안올리셔서 전반적으로 스터디 참여가 저조했던 면이 있었는데, 스터디의 원활한 유지를 위해 꼭 잊지말고 첨부해주시면 감사하겠습니다!</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6accca8d1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6accca8d1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6accca8d11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6accca8d1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17F3A5C-C90A-8921-DF08-8021E3AD454F}"/>
            </a:ext>
          </a:extLst>
        </p:cNvPr>
        <p:cNvGrpSpPr/>
        <p:nvPr/>
      </p:nvGrpSpPr>
      <p:grpSpPr>
        <a:xfrm>
          <a:off x="0" y="0"/>
          <a:ext cx="0" cy="0"/>
          <a:chOff x="0" y="0"/>
          <a:chExt cx="0" cy="0"/>
        </a:xfrm>
      </p:grpSpPr>
      <p:sp>
        <p:nvSpPr>
          <p:cNvPr id="86" name="Google Shape;86;g26accca8d11_0_23:notes">
            <a:extLst>
              <a:ext uri="{FF2B5EF4-FFF2-40B4-BE49-F238E27FC236}">
                <a16:creationId xmlns:a16="http://schemas.microsoft.com/office/drawing/2014/main" id="{2F7F4654-9B9C-4278-9B53-7F12073E9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6accca8d11_0_23:notes">
            <a:extLst>
              <a:ext uri="{FF2B5EF4-FFF2-40B4-BE49-F238E27FC236}">
                <a16:creationId xmlns:a16="http://schemas.microsoft.com/office/drawing/2014/main" id="{51611607-1AE0-8B63-2CCF-30A199C5A9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4366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9EF35D9-8704-9ADA-2BF8-187D6C0657C1}"/>
            </a:ext>
          </a:extLst>
        </p:cNvPr>
        <p:cNvGrpSpPr/>
        <p:nvPr/>
      </p:nvGrpSpPr>
      <p:grpSpPr>
        <a:xfrm>
          <a:off x="0" y="0"/>
          <a:ext cx="0" cy="0"/>
          <a:chOff x="0" y="0"/>
          <a:chExt cx="0" cy="0"/>
        </a:xfrm>
      </p:grpSpPr>
      <p:sp>
        <p:nvSpPr>
          <p:cNvPr id="86" name="Google Shape;86;g26accca8d11_0_23:notes">
            <a:extLst>
              <a:ext uri="{FF2B5EF4-FFF2-40B4-BE49-F238E27FC236}">
                <a16:creationId xmlns:a16="http://schemas.microsoft.com/office/drawing/2014/main" id="{D08359A9-5ED2-770A-5D25-4B7E325FD5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6accca8d11_0_23:notes">
            <a:extLst>
              <a:ext uri="{FF2B5EF4-FFF2-40B4-BE49-F238E27FC236}">
                <a16:creationId xmlns:a16="http://schemas.microsoft.com/office/drawing/2014/main" id="{C31A1C1A-7EBF-9E34-D3DE-7C9CB19A83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22694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5E07797-DF47-B8AE-DCA1-79AEA92C24F2}"/>
            </a:ext>
          </a:extLst>
        </p:cNvPr>
        <p:cNvGrpSpPr/>
        <p:nvPr/>
      </p:nvGrpSpPr>
      <p:grpSpPr>
        <a:xfrm>
          <a:off x="0" y="0"/>
          <a:ext cx="0" cy="0"/>
          <a:chOff x="0" y="0"/>
          <a:chExt cx="0" cy="0"/>
        </a:xfrm>
      </p:grpSpPr>
      <p:sp>
        <p:nvSpPr>
          <p:cNvPr id="86" name="Google Shape;86;g26accca8d11_0_23:notes">
            <a:extLst>
              <a:ext uri="{FF2B5EF4-FFF2-40B4-BE49-F238E27FC236}">
                <a16:creationId xmlns:a16="http://schemas.microsoft.com/office/drawing/2014/main" id="{6666017F-0C73-9C5B-B0F6-B9D07F0CE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6accca8d11_0_23:notes">
            <a:extLst>
              <a:ext uri="{FF2B5EF4-FFF2-40B4-BE49-F238E27FC236}">
                <a16:creationId xmlns:a16="http://schemas.microsoft.com/office/drawing/2014/main" id="{23293301-6915-A898-1B07-21DF5FCC1D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8223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176d744966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176d744966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
        <p:nvSpPr>
          <p:cNvPr id="44" name="Google Shape;44;p10"/>
          <p:cNvSpPr/>
          <p:nvPr/>
        </p:nvSpPr>
        <p:spPr>
          <a:xfrm>
            <a:off x="-8275" y="-84750"/>
            <a:ext cx="9254700" cy="5231400"/>
          </a:xfrm>
          <a:prstGeom prst="rect">
            <a:avLst/>
          </a:prstGeom>
          <a:solidFill>
            <a:srgbClr val="19264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 name="Google Shape;45;p10"/>
          <p:cNvPicPr preferRelativeResize="0"/>
          <p:nvPr/>
        </p:nvPicPr>
        <p:blipFill>
          <a:blip r:embed="rId2">
            <a:alphaModFix/>
          </a:blip>
          <a:stretch>
            <a:fillRect/>
          </a:stretch>
        </p:blipFill>
        <p:spPr>
          <a:xfrm rot="5400000">
            <a:off x="-1049750" y="3137425"/>
            <a:ext cx="3038475" cy="1181100"/>
          </a:xfrm>
          <a:prstGeom prst="rect">
            <a:avLst/>
          </a:prstGeom>
          <a:noFill/>
          <a:ln>
            <a:noFill/>
          </a:ln>
        </p:spPr>
      </p:pic>
      <p:sp>
        <p:nvSpPr>
          <p:cNvPr id="46" name="Google Shape;46;p10"/>
          <p:cNvSpPr/>
          <p:nvPr/>
        </p:nvSpPr>
        <p:spPr>
          <a:xfrm>
            <a:off x="8685225" y="135475"/>
            <a:ext cx="335700" cy="335700"/>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0"/>
          <p:cNvSpPr/>
          <p:nvPr/>
        </p:nvSpPr>
        <p:spPr>
          <a:xfrm>
            <a:off x="8685225" y="616375"/>
            <a:ext cx="335700" cy="335700"/>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0"/>
          <p:cNvSpPr/>
          <p:nvPr/>
        </p:nvSpPr>
        <p:spPr>
          <a:xfrm>
            <a:off x="8685225" y="1097275"/>
            <a:ext cx="335700" cy="335700"/>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 name="Google Shape;49;p10"/>
          <p:cNvCxnSpPr/>
          <p:nvPr/>
        </p:nvCxnSpPr>
        <p:spPr>
          <a:xfrm rot="10800000">
            <a:off x="146900" y="0"/>
            <a:ext cx="0" cy="2152500"/>
          </a:xfrm>
          <a:prstGeom prst="straightConnector1">
            <a:avLst/>
          </a:prstGeom>
          <a:noFill/>
          <a:ln w="28575" cap="flat" cmpd="sng">
            <a:solidFill>
              <a:schemeClr val="lt1"/>
            </a:solidFill>
            <a:prstDash val="solid"/>
            <a:round/>
            <a:headEnd type="none" w="med" len="med"/>
            <a:tailEnd type="none" w="med" len="med"/>
          </a:ln>
        </p:spPr>
      </p:cxnSp>
      <p:sp>
        <p:nvSpPr>
          <p:cNvPr id="50" name="Google Shape;50;p10"/>
          <p:cNvSpPr/>
          <p:nvPr/>
        </p:nvSpPr>
        <p:spPr>
          <a:xfrm>
            <a:off x="1060050" y="211800"/>
            <a:ext cx="7420500" cy="471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0"/>
          <p:cNvSpPr txBox="1"/>
          <p:nvPr/>
        </p:nvSpPr>
        <p:spPr>
          <a:xfrm>
            <a:off x="1469575" y="510025"/>
            <a:ext cx="147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2" name="Google Shape;52;p10"/>
          <p:cNvSpPr txBox="1"/>
          <p:nvPr/>
        </p:nvSpPr>
        <p:spPr>
          <a:xfrm>
            <a:off x="146888" y="59400"/>
            <a:ext cx="1129500" cy="17856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ko" sz="800">
                <a:solidFill>
                  <a:srgbClr val="9E9E9E"/>
                </a:solidFill>
                <a:latin typeface="Nanum Gothic"/>
                <a:ea typeface="Nanum Gothic"/>
                <a:cs typeface="Nanum Gothic"/>
                <a:sym typeface="Nanum Gothic"/>
              </a:rPr>
              <a:t>8기 활동 소개</a:t>
            </a:r>
            <a:endParaRPr sz="800">
              <a:solidFill>
                <a:srgbClr val="9E9E9E"/>
              </a:solidFill>
              <a:latin typeface="Nanum Gothic"/>
              <a:ea typeface="Nanum Gothic"/>
              <a:cs typeface="Nanum Gothic"/>
              <a:sym typeface="Nanum Gothic"/>
            </a:endParaRPr>
          </a:p>
          <a:p>
            <a:pPr marL="0" lvl="0" indent="0" algn="l" rtl="0">
              <a:lnSpc>
                <a:spcPct val="150000"/>
              </a:lnSpc>
              <a:spcBef>
                <a:spcPts val="0"/>
              </a:spcBef>
              <a:spcAft>
                <a:spcPts val="0"/>
              </a:spcAft>
              <a:buClr>
                <a:schemeClr val="dk1"/>
              </a:buClr>
              <a:buSzPts val="1100"/>
              <a:buFont typeface="Arial"/>
              <a:buNone/>
            </a:pPr>
            <a:r>
              <a:rPr lang="ko" sz="800" b="1">
                <a:solidFill>
                  <a:srgbClr val="777777"/>
                </a:solidFill>
                <a:latin typeface="Nanum Gothic"/>
                <a:ea typeface="Nanum Gothic"/>
                <a:cs typeface="Nanum Gothic"/>
                <a:sym typeface="Nanum Gothic"/>
              </a:rPr>
              <a:t>9기 활동 안내</a:t>
            </a:r>
            <a:endParaRPr sz="800">
              <a:solidFill>
                <a:srgbClr val="9E9E9E"/>
              </a:solidFill>
              <a:latin typeface="Nanum Gothic"/>
              <a:ea typeface="Nanum Gothic"/>
              <a:cs typeface="Nanum Gothic"/>
              <a:sym typeface="Nanum Gothic"/>
            </a:endParaRPr>
          </a:p>
          <a:p>
            <a:pPr marL="0" lvl="0" indent="0" algn="l" rtl="0">
              <a:lnSpc>
                <a:spcPct val="150000"/>
              </a:lnSpc>
              <a:spcBef>
                <a:spcPts val="0"/>
              </a:spcBef>
              <a:spcAft>
                <a:spcPts val="0"/>
              </a:spcAft>
              <a:buClr>
                <a:schemeClr val="dk1"/>
              </a:buClr>
              <a:buSzPts val="1100"/>
              <a:buFont typeface="Arial"/>
              <a:buNone/>
            </a:pPr>
            <a:r>
              <a:rPr lang="ko" sz="800">
                <a:solidFill>
                  <a:srgbClr val="9E9E9E"/>
                </a:solidFill>
                <a:latin typeface="Nanum Gothic"/>
                <a:ea typeface="Nanum Gothic"/>
                <a:cs typeface="Nanum Gothic"/>
                <a:sym typeface="Nanum Gothic"/>
              </a:rPr>
              <a:t>정기세션</a:t>
            </a:r>
            <a:endParaRPr sz="800">
              <a:solidFill>
                <a:srgbClr val="9E9E9E"/>
              </a:solidFill>
              <a:latin typeface="Nanum Gothic"/>
              <a:ea typeface="Nanum Gothic"/>
              <a:cs typeface="Nanum Gothic"/>
              <a:sym typeface="Nanum Gothic"/>
            </a:endParaRPr>
          </a:p>
          <a:p>
            <a:pPr marL="0" lvl="0" indent="0" algn="l" rtl="0">
              <a:lnSpc>
                <a:spcPct val="150000"/>
              </a:lnSpc>
              <a:spcBef>
                <a:spcPts val="0"/>
              </a:spcBef>
              <a:spcAft>
                <a:spcPts val="0"/>
              </a:spcAft>
              <a:buNone/>
            </a:pPr>
            <a:r>
              <a:rPr lang="ko" sz="800">
                <a:solidFill>
                  <a:srgbClr val="999999"/>
                </a:solidFill>
                <a:latin typeface="Nanum Gothic"/>
                <a:ea typeface="Nanum Gothic"/>
                <a:cs typeface="Nanum Gothic"/>
                <a:sym typeface="Nanum Gothic"/>
              </a:rPr>
              <a:t>CUAI Github</a:t>
            </a:r>
            <a:endParaRPr sz="800">
              <a:solidFill>
                <a:srgbClr val="999999"/>
              </a:solidFill>
              <a:latin typeface="Nanum Gothic"/>
              <a:ea typeface="Nanum Gothic"/>
              <a:cs typeface="Nanum Gothic"/>
              <a:sym typeface="Nanum Gothic"/>
            </a:endParaRPr>
          </a:p>
          <a:p>
            <a:pPr marL="0" lvl="0" indent="0" algn="l" rtl="0">
              <a:lnSpc>
                <a:spcPct val="150000"/>
              </a:lnSpc>
              <a:spcBef>
                <a:spcPts val="0"/>
              </a:spcBef>
              <a:spcAft>
                <a:spcPts val="0"/>
              </a:spcAft>
              <a:buNone/>
            </a:pPr>
            <a:r>
              <a:rPr lang="ko" sz="800">
                <a:solidFill>
                  <a:srgbClr val="9E9E9E"/>
                </a:solidFill>
                <a:latin typeface="Nanum Gothic"/>
                <a:ea typeface="Nanum Gothic"/>
                <a:cs typeface="Nanum Gothic"/>
                <a:sym typeface="Nanum Gothic"/>
              </a:rPr>
              <a:t>Basic Track</a:t>
            </a:r>
            <a:endParaRPr sz="800">
              <a:solidFill>
                <a:srgbClr val="9E9E9E"/>
              </a:solidFill>
              <a:latin typeface="Nanum Gothic"/>
              <a:ea typeface="Nanum Gothic"/>
              <a:cs typeface="Nanum Gothic"/>
              <a:sym typeface="Nanum Gothic"/>
            </a:endParaRPr>
          </a:p>
          <a:p>
            <a:pPr marL="0" lvl="0" indent="0" algn="l" rtl="0">
              <a:lnSpc>
                <a:spcPct val="150000"/>
              </a:lnSpc>
              <a:spcBef>
                <a:spcPts val="0"/>
              </a:spcBef>
              <a:spcAft>
                <a:spcPts val="0"/>
              </a:spcAft>
              <a:buNone/>
            </a:pPr>
            <a:r>
              <a:rPr lang="ko" sz="800">
                <a:solidFill>
                  <a:srgbClr val="9E9E9E"/>
                </a:solidFill>
                <a:latin typeface="Nanum Gothic"/>
                <a:ea typeface="Nanum Gothic"/>
                <a:cs typeface="Nanum Gothic"/>
                <a:sym typeface="Nanum Gothic"/>
              </a:rPr>
              <a:t>Advanced Track</a:t>
            </a:r>
            <a:endParaRPr sz="800">
              <a:solidFill>
                <a:srgbClr val="9E9E9E"/>
              </a:solidFill>
              <a:latin typeface="Nanum Gothic"/>
              <a:ea typeface="Nanum Gothic"/>
              <a:cs typeface="Nanum Gothic"/>
              <a:sym typeface="Nanum Gothic"/>
            </a:endParaRPr>
          </a:p>
          <a:p>
            <a:pPr marL="0" lvl="0" indent="0" algn="l" rtl="0">
              <a:lnSpc>
                <a:spcPct val="150000"/>
              </a:lnSpc>
              <a:spcBef>
                <a:spcPts val="0"/>
              </a:spcBef>
              <a:spcAft>
                <a:spcPts val="0"/>
              </a:spcAft>
              <a:buNone/>
            </a:pPr>
            <a:r>
              <a:rPr lang="ko" sz="800" b="1">
                <a:solidFill>
                  <a:srgbClr val="9E9E9E"/>
                </a:solidFill>
                <a:latin typeface="Nanum Gothic"/>
                <a:ea typeface="Nanum Gothic"/>
                <a:cs typeface="Nanum Gothic"/>
                <a:sym typeface="Nanum Gothic"/>
              </a:rPr>
              <a:t>스터디 소개</a:t>
            </a:r>
            <a:endParaRPr sz="800" b="1">
              <a:solidFill>
                <a:srgbClr val="9E9E9E"/>
              </a:solidFill>
              <a:latin typeface="Nanum Gothic"/>
              <a:ea typeface="Nanum Gothic"/>
              <a:cs typeface="Nanum Gothic"/>
              <a:sym typeface="Nanum Gothic"/>
            </a:endParaRPr>
          </a:p>
          <a:p>
            <a:pPr marL="0" lvl="0" indent="0" algn="l" rtl="0">
              <a:lnSpc>
                <a:spcPct val="150000"/>
              </a:lnSpc>
              <a:spcBef>
                <a:spcPts val="0"/>
              </a:spcBef>
              <a:spcAft>
                <a:spcPts val="0"/>
              </a:spcAft>
              <a:buNone/>
            </a:pPr>
            <a:r>
              <a:rPr lang="ko" sz="800" b="1">
                <a:solidFill>
                  <a:srgbClr val="9E9E9E"/>
                </a:solidFill>
                <a:latin typeface="Nanum Gothic"/>
                <a:ea typeface="Nanum Gothic"/>
                <a:cs typeface="Nanum Gothic"/>
                <a:sym typeface="Nanum Gothic"/>
              </a:rPr>
              <a:t>AI 세미나 소개</a:t>
            </a:r>
            <a:endParaRPr sz="800">
              <a:solidFill>
                <a:srgbClr val="999999"/>
              </a:solidFill>
              <a:latin typeface="Nanum Gothic"/>
              <a:ea typeface="Nanum Gothic"/>
              <a:cs typeface="Nanum Gothic"/>
              <a:sym typeface="Nanum Gothic"/>
            </a:endParaRPr>
          </a:p>
          <a:p>
            <a:pPr marL="0" lvl="0" indent="0" algn="l" rtl="0">
              <a:lnSpc>
                <a:spcPct val="150000"/>
              </a:lnSpc>
              <a:spcBef>
                <a:spcPts val="0"/>
              </a:spcBef>
              <a:spcAft>
                <a:spcPts val="0"/>
              </a:spcAft>
              <a:buNone/>
            </a:pPr>
            <a:r>
              <a:rPr lang="ko" sz="800">
                <a:solidFill>
                  <a:srgbClr val="999999"/>
                </a:solidFill>
                <a:latin typeface="Nanum Gothic"/>
                <a:ea typeface="Nanum Gothic"/>
                <a:cs typeface="Nanum Gothic"/>
                <a:sym typeface="Nanum Gothic"/>
              </a:rPr>
              <a:t>CUAI 장학금</a:t>
            </a:r>
            <a:endParaRPr sz="800">
              <a:solidFill>
                <a:srgbClr val="999999"/>
              </a:solidFill>
              <a:latin typeface="Nanum Gothic"/>
              <a:ea typeface="Nanum Gothic"/>
              <a:cs typeface="Nanum Gothic"/>
              <a:sym typeface="Nanum Gothic"/>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5" name="Google Shape;55;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p:nvPr/>
        </p:nvSpPr>
        <p:spPr>
          <a:xfrm>
            <a:off x="0" y="-37950"/>
            <a:ext cx="1181100" cy="5219400"/>
          </a:xfrm>
          <a:prstGeom prst="rect">
            <a:avLst/>
          </a:prstGeom>
          <a:solidFill>
            <a:srgbClr val="1926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3"/>
          <p:cNvSpPr txBox="1"/>
          <p:nvPr/>
        </p:nvSpPr>
        <p:spPr>
          <a:xfrm>
            <a:off x="1339750" y="2710050"/>
            <a:ext cx="4979400" cy="156501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ko" sz="2500" b="1" dirty="0">
                <a:solidFill>
                  <a:srgbClr val="19264B"/>
                </a:solidFill>
              </a:rPr>
              <a:t>CUAI </a:t>
            </a:r>
            <a:r>
              <a:rPr lang="ko-KR" altLang="en-US" sz="2500" b="1" dirty="0">
                <a:solidFill>
                  <a:srgbClr val="19264B"/>
                </a:solidFill>
              </a:rPr>
              <a:t>이성욱 경량화 </a:t>
            </a:r>
            <a:r>
              <a:rPr lang="ko" sz="2500" b="1" dirty="0">
                <a:solidFill>
                  <a:srgbClr val="19264B"/>
                </a:solidFill>
              </a:rPr>
              <a:t>팀</a:t>
            </a:r>
            <a:endParaRPr sz="2500" b="1" dirty="0">
              <a:solidFill>
                <a:srgbClr val="19264B"/>
              </a:solidFill>
            </a:endParaRPr>
          </a:p>
          <a:p>
            <a:pPr marL="0" lvl="0" indent="0" algn="l" rtl="0">
              <a:lnSpc>
                <a:spcPct val="115000"/>
              </a:lnSpc>
              <a:spcBef>
                <a:spcPts val="0"/>
              </a:spcBef>
              <a:spcAft>
                <a:spcPts val="0"/>
              </a:spcAft>
              <a:buNone/>
            </a:pPr>
            <a:r>
              <a:rPr lang="ko" dirty="0">
                <a:solidFill>
                  <a:srgbClr val="19264B"/>
                </a:solidFill>
              </a:rPr>
              <a:t>202</a:t>
            </a:r>
            <a:r>
              <a:rPr lang="en-US" altLang="ko" dirty="0">
                <a:solidFill>
                  <a:srgbClr val="19264B"/>
                </a:solidFill>
              </a:rPr>
              <a:t>6</a:t>
            </a:r>
            <a:r>
              <a:rPr lang="ko" dirty="0">
                <a:solidFill>
                  <a:srgbClr val="19264B"/>
                </a:solidFill>
              </a:rPr>
              <a:t>.0</a:t>
            </a:r>
            <a:r>
              <a:rPr lang="en-US" altLang="ko" dirty="0">
                <a:solidFill>
                  <a:srgbClr val="19264B"/>
                </a:solidFill>
              </a:rPr>
              <a:t>9</a:t>
            </a:r>
            <a:r>
              <a:rPr lang="ko" dirty="0">
                <a:solidFill>
                  <a:srgbClr val="19264B"/>
                </a:solidFill>
              </a:rPr>
              <a:t>.</a:t>
            </a:r>
            <a:r>
              <a:rPr lang="en-US" altLang="ko" dirty="0">
                <a:solidFill>
                  <a:srgbClr val="19264B"/>
                </a:solidFill>
              </a:rPr>
              <a:t>29</a:t>
            </a:r>
            <a:endParaRPr dirty="0">
              <a:solidFill>
                <a:srgbClr val="19264B"/>
              </a:solidFill>
            </a:endParaRPr>
          </a:p>
          <a:p>
            <a:pPr marL="0" lvl="0" indent="0" algn="l" rtl="0">
              <a:lnSpc>
                <a:spcPct val="115000"/>
              </a:lnSpc>
              <a:spcBef>
                <a:spcPts val="0"/>
              </a:spcBef>
              <a:spcAft>
                <a:spcPts val="0"/>
              </a:spcAft>
              <a:buNone/>
            </a:pPr>
            <a:endParaRPr dirty="0">
              <a:solidFill>
                <a:srgbClr val="19264B"/>
              </a:solidFill>
            </a:endParaRPr>
          </a:p>
          <a:p>
            <a:pPr marL="0" lvl="0" indent="0" algn="l" rtl="0">
              <a:lnSpc>
                <a:spcPct val="115000"/>
              </a:lnSpc>
              <a:spcBef>
                <a:spcPts val="0"/>
              </a:spcBef>
              <a:spcAft>
                <a:spcPts val="0"/>
              </a:spcAft>
              <a:buNone/>
            </a:pPr>
            <a:endParaRPr dirty="0">
              <a:solidFill>
                <a:srgbClr val="19264B"/>
              </a:solidFill>
            </a:endParaRPr>
          </a:p>
          <a:p>
            <a:pPr marL="0" lvl="0" indent="0" algn="l" rtl="0">
              <a:lnSpc>
                <a:spcPct val="115000"/>
              </a:lnSpc>
              <a:spcBef>
                <a:spcPts val="0"/>
              </a:spcBef>
              <a:spcAft>
                <a:spcPts val="0"/>
              </a:spcAft>
              <a:buNone/>
            </a:pPr>
            <a:r>
              <a:rPr lang="ko" sz="1100" dirty="0">
                <a:solidFill>
                  <a:srgbClr val="19264B"/>
                </a:solidFill>
              </a:rPr>
              <a:t>발표자: </a:t>
            </a:r>
            <a:r>
              <a:rPr lang="ko-KR" altLang="en-US" sz="1100" dirty="0">
                <a:solidFill>
                  <a:srgbClr val="19264B"/>
                </a:solidFill>
              </a:rPr>
              <a:t>이성욱</a:t>
            </a:r>
            <a:endParaRPr sz="1100" dirty="0">
              <a:solidFill>
                <a:srgbClr val="19264B"/>
              </a:solidFill>
            </a:endParaRPr>
          </a:p>
        </p:txBody>
      </p:sp>
      <p:cxnSp>
        <p:nvCxnSpPr>
          <p:cNvPr id="65" name="Google Shape;65;p13"/>
          <p:cNvCxnSpPr/>
          <p:nvPr/>
        </p:nvCxnSpPr>
        <p:spPr>
          <a:xfrm>
            <a:off x="172875" y="-37950"/>
            <a:ext cx="0" cy="2187000"/>
          </a:xfrm>
          <a:prstGeom prst="straightConnector1">
            <a:avLst/>
          </a:prstGeom>
          <a:noFill/>
          <a:ln w="38100" cap="flat" cmpd="sng">
            <a:solidFill>
              <a:schemeClr val="lt1"/>
            </a:solidFill>
            <a:prstDash val="solid"/>
            <a:round/>
            <a:headEnd type="none" w="med" len="med"/>
            <a:tailEnd type="none" w="med" len="med"/>
          </a:ln>
        </p:spPr>
      </p:cxnSp>
      <p:pic>
        <p:nvPicPr>
          <p:cNvPr id="66" name="Google Shape;66;p13"/>
          <p:cNvPicPr preferRelativeResize="0"/>
          <p:nvPr/>
        </p:nvPicPr>
        <p:blipFill>
          <a:blip r:embed="rId3">
            <a:alphaModFix/>
          </a:blip>
          <a:stretch>
            <a:fillRect/>
          </a:stretch>
        </p:blipFill>
        <p:spPr>
          <a:xfrm rot="5400000">
            <a:off x="-928700" y="3071650"/>
            <a:ext cx="3038475" cy="1181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p:nvPr/>
        </p:nvSpPr>
        <p:spPr>
          <a:xfrm>
            <a:off x="0" y="-37950"/>
            <a:ext cx="1181100" cy="5219400"/>
          </a:xfrm>
          <a:prstGeom prst="rect">
            <a:avLst/>
          </a:prstGeom>
          <a:solidFill>
            <a:srgbClr val="1926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14"/>
          <p:cNvCxnSpPr/>
          <p:nvPr/>
        </p:nvCxnSpPr>
        <p:spPr>
          <a:xfrm>
            <a:off x="172875" y="-37950"/>
            <a:ext cx="0" cy="2187000"/>
          </a:xfrm>
          <a:prstGeom prst="straightConnector1">
            <a:avLst/>
          </a:prstGeom>
          <a:noFill/>
          <a:ln w="38100" cap="flat" cmpd="sng">
            <a:solidFill>
              <a:schemeClr val="lt1"/>
            </a:solidFill>
            <a:prstDash val="solid"/>
            <a:round/>
            <a:headEnd type="none" w="med" len="med"/>
            <a:tailEnd type="none" w="med" len="med"/>
          </a:ln>
        </p:spPr>
      </p:cxnSp>
      <p:pic>
        <p:nvPicPr>
          <p:cNvPr id="73" name="Google Shape;73;p14"/>
          <p:cNvPicPr preferRelativeResize="0"/>
          <p:nvPr/>
        </p:nvPicPr>
        <p:blipFill>
          <a:blip r:embed="rId3">
            <a:alphaModFix/>
          </a:blip>
          <a:stretch>
            <a:fillRect/>
          </a:stretch>
        </p:blipFill>
        <p:spPr>
          <a:xfrm rot="5400000">
            <a:off x="-928700" y="3071650"/>
            <a:ext cx="3038475" cy="1181100"/>
          </a:xfrm>
          <a:prstGeom prst="rect">
            <a:avLst/>
          </a:prstGeom>
          <a:noFill/>
          <a:ln>
            <a:noFill/>
          </a:ln>
        </p:spPr>
      </p:pic>
      <p:sp>
        <p:nvSpPr>
          <p:cNvPr id="74" name="Google Shape;74;p14"/>
          <p:cNvSpPr/>
          <p:nvPr/>
        </p:nvSpPr>
        <p:spPr>
          <a:xfrm>
            <a:off x="1599250" y="1262100"/>
            <a:ext cx="4287600" cy="3414600"/>
          </a:xfrm>
          <a:prstGeom prst="rect">
            <a:avLst/>
          </a:prstGeom>
          <a:solidFill>
            <a:srgbClr val="EFEFEF"/>
          </a:solidFill>
          <a:ln w="38100" cap="flat" cmpd="sng">
            <a:solidFill>
              <a:srgbClr val="19264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t>활동 사진이 있다면 사진을 넣어주세요.</a:t>
            </a:r>
            <a:endParaRPr sz="1200"/>
          </a:p>
          <a:p>
            <a:pPr marL="0" lvl="0" indent="0" algn="ctr" rtl="0">
              <a:spcBef>
                <a:spcPts val="0"/>
              </a:spcBef>
              <a:spcAft>
                <a:spcPts val="0"/>
              </a:spcAft>
              <a:buNone/>
            </a:pPr>
            <a:r>
              <a:rPr lang="ko" sz="1200"/>
              <a:t>(카카오톡 대화 화면 캡쳐 이용 가능)</a:t>
            </a:r>
            <a:endParaRPr sz="1200"/>
          </a:p>
        </p:txBody>
      </p:sp>
      <p:sp>
        <p:nvSpPr>
          <p:cNvPr id="75" name="Google Shape;75;p14"/>
          <p:cNvSpPr txBox="1"/>
          <p:nvPr/>
        </p:nvSpPr>
        <p:spPr>
          <a:xfrm>
            <a:off x="1408975" y="306875"/>
            <a:ext cx="4979400" cy="49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ko" sz="2000">
                <a:solidFill>
                  <a:srgbClr val="19264B"/>
                </a:solidFill>
                <a:latin typeface="NanumGothicExtraBold"/>
                <a:ea typeface="NanumGothicExtraBold"/>
                <a:cs typeface="NanumGothicExtraBold"/>
                <a:sym typeface="NanumGothicExtraBold"/>
              </a:rPr>
              <a:t>스터디원 소개 및 만남 인증</a:t>
            </a:r>
            <a:endParaRPr sz="2000">
              <a:solidFill>
                <a:srgbClr val="19264B"/>
              </a:solidFill>
              <a:latin typeface="NanumGothicExtraBold"/>
              <a:ea typeface="NanumGothicExtraBold"/>
              <a:cs typeface="NanumGothicExtraBold"/>
              <a:sym typeface="NanumGothicExtraBold"/>
            </a:endParaRPr>
          </a:p>
        </p:txBody>
      </p:sp>
      <p:sp>
        <p:nvSpPr>
          <p:cNvPr id="76" name="Google Shape;76;p14"/>
          <p:cNvSpPr txBox="1"/>
          <p:nvPr/>
        </p:nvSpPr>
        <p:spPr>
          <a:xfrm>
            <a:off x="6137600" y="1820125"/>
            <a:ext cx="2282100" cy="233907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dirty="0"/>
              <a:t>스터디원 1: </a:t>
            </a:r>
            <a:r>
              <a:rPr lang="ko-KR" altLang="en-US" dirty="0"/>
              <a:t>이성욱</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스터디원 2: </a:t>
            </a:r>
            <a:r>
              <a:rPr lang="ko-KR" altLang="en-US" dirty="0" err="1"/>
              <a:t>양희원</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스터디원 3: </a:t>
            </a:r>
            <a:r>
              <a:rPr lang="ko-KR" altLang="en-US" dirty="0"/>
              <a:t>강태혁</a:t>
            </a:r>
            <a:endParaRPr lang="en-US" altLang="ko" dirty="0"/>
          </a:p>
          <a:p>
            <a:pPr marL="0" lvl="0" indent="0" algn="l" rtl="0">
              <a:spcBef>
                <a:spcPts val="0"/>
              </a:spcBef>
              <a:spcAft>
                <a:spcPts val="0"/>
              </a:spcAft>
              <a:buNone/>
            </a:pPr>
            <a:endParaRPr lang="en-US" dirty="0"/>
          </a:p>
          <a:p>
            <a:r>
              <a:rPr lang="ko-KR" altLang="en-US" dirty="0" err="1"/>
              <a:t>스터디원</a:t>
            </a:r>
            <a:r>
              <a:rPr lang="ko-KR" altLang="en-US" dirty="0"/>
              <a:t> </a:t>
            </a:r>
            <a:r>
              <a:rPr lang="en-US" altLang="ko-KR" dirty="0"/>
              <a:t>4: </a:t>
            </a:r>
            <a:r>
              <a:rPr lang="ko-KR" altLang="en-US" dirty="0" err="1"/>
              <a:t>송현민</a:t>
            </a:r>
            <a:endParaRPr lang="en-US" altLang="ko-KR" dirty="0"/>
          </a:p>
          <a:p>
            <a:pPr marL="0" lvl="0" indent="0" algn="l" rtl="0">
              <a:spcBef>
                <a:spcPts val="0"/>
              </a:spcBef>
              <a:spcAft>
                <a:spcPts val="0"/>
              </a:spcAft>
              <a:buNone/>
            </a:pPr>
            <a:endParaRPr lang="en-US" dirty="0"/>
          </a:p>
          <a:p>
            <a:r>
              <a:rPr lang="ko-KR" altLang="en-US" dirty="0" err="1"/>
              <a:t>스터디원</a:t>
            </a:r>
            <a:r>
              <a:rPr lang="ko-KR" altLang="en-US" dirty="0"/>
              <a:t> </a:t>
            </a:r>
            <a:r>
              <a:rPr lang="en-US" altLang="ko-KR" dirty="0"/>
              <a:t>5: </a:t>
            </a:r>
            <a:r>
              <a:rPr lang="ko-KR" altLang="en-US" dirty="0"/>
              <a:t>조민지</a:t>
            </a:r>
            <a:endParaRPr lang="en-US" altLang="ko-KR" dirty="0"/>
          </a:p>
          <a:p>
            <a:pPr marL="0" lvl="0" indent="0" algn="l" rtl="0">
              <a:spcBef>
                <a:spcPts val="0"/>
              </a:spcBef>
              <a:spcAft>
                <a:spcPts val="0"/>
              </a:spcAft>
              <a:buNone/>
            </a:pPr>
            <a:endParaRPr dirty="0"/>
          </a:p>
        </p:txBody>
      </p:sp>
      <p:pic>
        <p:nvPicPr>
          <p:cNvPr id="3" name="그림 2" descr="Four people are seated around a large table in an office, each using a laptop, with a large monitor displaying a presentation in the background.&#10;&#10;AI 생성 콘텐츠는 정확하지 않을 수 있습니다.">
            <a:extLst>
              <a:ext uri="{FF2B5EF4-FFF2-40B4-BE49-F238E27FC236}">
                <a16:creationId xmlns:a16="http://schemas.microsoft.com/office/drawing/2014/main" id="{6EDE839A-8A64-9592-F3A3-51608D54FC0E}"/>
              </a:ext>
            </a:extLst>
          </p:cNvPr>
          <p:cNvPicPr>
            <a:picLocks noChangeAspect="1"/>
          </p:cNvPicPr>
          <p:nvPr/>
        </p:nvPicPr>
        <p:blipFill>
          <a:blip r:embed="rId4"/>
          <a:stretch>
            <a:fillRect/>
          </a:stretch>
        </p:blipFill>
        <p:spPr>
          <a:xfrm>
            <a:off x="1599238" y="1262099"/>
            <a:ext cx="4282872" cy="34145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5"/>
          <p:cNvSpPr/>
          <p:nvPr/>
        </p:nvSpPr>
        <p:spPr>
          <a:xfrm>
            <a:off x="0" y="-37950"/>
            <a:ext cx="1181100" cy="5219400"/>
          </a:xfrm>
          <a:prstGeom prst="rect">
            <a:avLst/>
          </a:prstGeom>
          <a:solidFill>
            <a:srgbClr val="1926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15"/>
          <p:cNvCxnSpPr/>
          <p:nvPr/>
        </p:nvCxnSpPr>
        <p:spPr>
          <a:xfrm>
            <a:off x="172875" y="-37950"/>
            <a:ext cx="0" cy="2187000"/>
          </a:xfrm>
          <a:prstGeom prst="straightConnector1">
            <a:avLst/>
          </a:prstGeom>
          <a:noFill/>
          <a:ln w="38100" cap="flat" cmpd="sng">
            <a:solidFill>
              <a:schemeClr val="lt1"/>
            </a:solidFill>
            <a:prstDash val="solid"/>
            <a:round/>
            <a:headEnd type="none" w="med" len="med"/>
            <a:tailEnd type="none" w="med" len="med"/>
          </a:ln>
        </p:spPr>
      </p:cxnSp>
      <p:pic>
        <p:nvPicPr>
          <p:cNvPr id="83" name="Google Shape;83;p15"/>
          <p:cNvPicPr preferRelativeResize="0"/>
          <p:nvPr/>
        </p:nvPicPr>
        <p:blipFill>
          <a:blip r:embed="rId3">
            <a:alphaModFix/>
          </a:blip>
          <a:stretch>
            <a:fillRect/>
          </a:stretch>
        </p:blipFill>
        <p:spPr>
          <a:xfrm rot="5400000">
            <a:off x="-928700" y="3071650"/>
            <a:ext cx="3038475" cy="1181100"/>
          </a:xfrm>
          <a:prstGeom prst="rect">
            <a:avLst/>
          </a:prstGeom>
          <a:noFill/>
          <a:ln>
            <a:noFill/>
          </a:ln>
        </p:spPr>
      </p:pic>
      <p:sp>
        <p:nvSpPr>
          <p:cNvPr id="84" name="Google Shape;84;p15"/>
          <p:cNvSpPr txBox="1"/>
          <p:nvPr/>
        </p:nvSpPr>
        <p:spPr>
          <a:xfrm>
            <a:off x="1408975" y="306875"/>
            <a:ext cx="4979400" cy="53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ko-KR" altLang="en-US" sz="2000" dirty="0">
                <a:solidFill>
                  <a:srgbClr val="19264B"/>
                </a:solidFill>
                <a:latin typeface="NanumGothicExtraBold"/>
                <a:ea typeface="NanumGothicExtraBold"/>
                <a:cs typeface="NanumGothicExtraBold"/>
                <a:sym typeface="NanumGothicExtraBold"/>
              </a:rPr>
              <a:t>스터디 진행 방식</a:t>
            </a:r>
            <a:endParaRPr sz="2000" dirty="0">
              <a:solidFill>
                <a:srgbClr val="19264B"/>
              </a:solidFill>
              <a:latin typeface="NanumGothicExtraBold"/>
              <a:ea typeface="NanumGothicExtraBold"/>
              <a:cs typeface="NanumGothicExtraBold"/>
              <a:sym typeface="NanumGothicExtraBold"/>
            </a:endParaRPr>
          </a:p>
        </p:txBody>
      </p:sp>
      <p:sp>
        <p:nvSpPr>
          <p:cNvPr id="4" name="Google Shape;84;p15">
            <a:extLst>
              <a:ext uri="{FF2B5EF4-FFF2-40B4-BE49-F238E27FC236}">
                <a16:creationId xmlns:a16="http://schemas.microsoft.com/office/drawing/2014/main" id="{2BF00F95-E86A-621E-9C71-A355D9C74BCC}"/>
              </a:ext>
            </a:extLst>
          </p:cNvPr>
          <p:cNvSpPr txBox="1"/>
          <p:nvPr/>
        </p:nvSpPr>
        <p:spPr>
          <a:xfrm>
            <a:off x="1408975" y="1168723"/>
            <a:ext cx="4979400" cy="195435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ko-KR" altLang="en-US" sz="2000" dirty="0">
                <a:solidFill>
                  <a:srgbClr val="19264B"/>
                </a:solidFill>
                <a:latin typeface="+mj-ea"/>
                <a:ea typeface="+mj-ea"/>
                <a:cs typeface="NanumGothicExtraBold"/>
                <a:sym typeface="NanumGothicExtraBold"/>
              </a:rPr>
              <a:t>매주 논문 리뷰 </a:t>
            </a:r>
            <a:r>
              <a:rPr lang="en-US" altLang="ko-KR" sz="2000" dirty="0">
                <a:solidFill>
                  <a:srgbClr val="19264B"/>
                </a:solidFill>
                <a:latin typeface="+mj-ea"/>
                <a:ea typeface="+mj-ea"/>
                <a:cs typeface="NanumGothicExtraBold"/>
                <a:sym typeface="NanumGothicExtraBold"/>
              </a:rPr>
              <a:t>&amp; </a:t>
            </a:r>
            <a:r>
              <a:rPr lang="ko-KR" altLang="en-US" sz="2000" dirty="0">
                <a:solidFill>
                  <a:srgbClr val="19264B"/>
                </a:solidFill>
                <a:latin typeface="+mj-ea"/>
                <a:ea typeface="+mj-ea"/>
                <a:cs typeface="NanumGothicExtraBold"/>
                <a:sym typeface="NanumGothicExtraBold"/>
              </a:rPr>
              <a:t>주제 발표 진행</a:t>
            </a:r>
            <a:endParaRPr lang="en-US" altLang="ko-KR" sz="2000" dirty="0">
              <a:solidFill>
                <a:srgbClr val="19264B"/>
              </a:solidFill>
              <a:latin typeface="+mj-ea"/>
              <a:ea typeface="+mj-ea"/>
              <a:cs typeface="NanumGothicExtraBold"/>
              <a:sym typeface="NanumGothicExtraBold"/>
            </a:endParaRPr>
          </a:p>
          <a:p>
            <a:pPr marL="0" lvl="0" indent="0" algn="l" rtl="0">
              <a:lnSpc>
                <a:spcPct val="115000"/>
              </a:lnSpc>
              <a:spcBef>
                <a:spcPts val="0"/>
              </a:spcBef>
              <a:spcAft>
                <a:spcPts val="0"/>
              </a:spcAft>
              <a:buNone/>
            </a:pPr>
            <a:endParaRPr lang="en-US" sz="2000" dirty="0">
              <a:solidFill>
                <a:srgbClr val="19264B"/>
              </a:solidFill>
              <a:latin typeface="+mj-ea"/>
              <a:ea typeface="+mj-ea"/>
              <a:cs typeface="NanumGothicExtraBold"/>
              <a:sym typeface="NanumGothicExtraBold"/>
            </a:endParaRPr>
          </a:p>
          <a:p>
            <a:pPr marL="0" lvl="0" indent="0" algn="l" rtl="0">
              <a:lnSpc>
                <a:spcPct val="115000"/>
              </a:lnSpc>
              <a:spcBef>
                <a:spcPts val="0"/>
              </a:spcBef>
              <a:spcAft>
                <a:spcPts val="0"/>
              </a:spcAft>
              <a:buNone/>
            </a:pPr>
            <a:r>
              <a:rPr lang="ko-KR" altLang="en-US" sz="2000" dirty="0">
                <a:solidFill>
                  <a:srgbClr val="19264B"/>
                </a:solidFill>
                <a:latin typeface="+mj-ea"/>
                <a:ea typeface="+mj-ea"/>
                <a:cs typeface="NanumGothicExtraBold"/>
                <a:sym typeface="NanumGothicExtraBold"/>
              </a:rPr>
              <a:t>스터디 전 논문 리딩 및 주제 발표 준비</a:t>
            </a:r>
            <a:endParaRPr lang="en-US" altLang="ko-KR" sz="2000" dirty="0">
              <a:solidFill>
                <a:srgbClr val="19264B"/>
              </a:solidFill>
              <a:latin typeface="+mj-ea"/>
              <a:ea typeface="+mj-ea"/>
              <a:cs typeface="NanumGothicExtraBold"/>
              <a:sym typeface="NanumGothicExtraBold"/>
            </a:endParaRPr>
          </a:p>
          <a:p>
            <a:pPr marL="0" lvl="0" indent="0" algn="l" rtl="0">
              <a:lnSpc>
                <a:spcPct val="115000"/>
              </a:lnSpc>
              <a:spcBef>
                <a:spcPts val="0"/>
              </a:spcBef>
              <a:spcAft>
                <a:spcPts val="0"/>
              </a:spcAft>
              <a:buNone/>
            </a:pPr>
            <a:endParaRPr lang="en-US" sz="2000" dirty="0">
              <a:solidFill>
                <a:srgbClr val="19264B"/>
              </a:solidFill>
              <a:latin typeface="+mj-ea"/>
              <a:ea typeface="+mj-ea"/>
              <a:cs typeface="NanumGothicExtraBold"/>
              <a:sym typeface="NanumGothicExtraBold"/>
            </a:endParaRPr>
          </a:p>
          <a:p>
            <a:pPr marL="0" lvl="0" indent="0" algn="l" rtl="0">
              <a:lnSpc>
                <a:spcPct val="115000"/>
              </a:lnSpc>
              <a:spcBef>
                <a:spcPts val="0"/>
              </a:spcBef>
              <a:spcAft>
                <a:spcPts val="0"/>
              </a:spcAft>
              <a:buNone/>
            </a:pPr>
            <a:r>
              <a:rPr lang="ko-KR" altLang="en-US" sz="2000" dirty="0">
                <a:solidFill>
                  <a:srgbClr val="19264B"/>
                </a:solidFill>
                <a:latin typeface="+mj-ea"/>
                <a:ea typeface="+mj-ea"/>
                <a:cs typeface="NanumGothicExtraBold"/>
                <a:sym typeface="NanumGothicExtraBold"/>
              </a:rPr>
              <a:t>매주 대면 스터디 진행</a:t>
            </a:r>
            <a:endParaRPr sz="2000" dirty="0">
              <a:solidFill>
                <a:srgbClr val="19264B"/>
              </a:solidFill>
              <a:latin typeface="+mj-ea"/>
              <a:ea typeface="+mj-ea"/>
              <a:cs typeface="NanumGothicExtraBold"/>
              <a:sym typeface="NanumGothicExtraBold"/>
            </a:endParaRPr>
          </a:p>
        </p:txBody>
      </p:sp>
      <p:pic>
        <p:nvPicPr>
          <p:cNvPr id="6" name="그림 5" descr="Economic Quantity Adjustment Study.&#10;&#10;AI 생성 콘텐츠는 정확하지 않을 수 있습니다.">
            <a:extLst>
              <a:ext uri="{FF2B5EF4-FFF2-40B4-BE49-F238E27FC236}">
                <a16:creationId xmlns:a16="http://schemas.microsoft.com/office/drawing/2014/main" id="{13DF2229-71DD-EA90-1B83-9F423FFD531E}"/>
              </a:ext>
            </a:extLst>
          </p:cNvPr>
          <p:cNvPicPr>
            <a:picLocks noChangeAspect="1"/>
          </p:cNvPicPr>
          <p:nvPr/>
        </p:nvPicPr>
        <p:blipFill>
          <a:blip r:embed="rId4"/>
          <a:stretch>
            <a:fillRect/>
          </a:stretch>
        </p:blipFill>
        <p:spPr>
          <a:xfrm>
            <a:off x="7375371" y="306875"/>
            <a:ext cx="1595754" cy="44111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p:nvPr/>
        </p:nvSpPr>
        <p:spPr>
          <a:xfrm>
            <a:off x="0" y="-37950"/>
            <a:ext cx="1181100" cy="5219400"/>
          </a:xfrm>
          <a:prstGeom prst="rect">
            <a:avLst/>
          </a:prstGeom>
          <a:solidFill>
            <a:srgbClr val="1926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 name="Google Shape;90;p16"/>
          <p:cNvCxnSpPr/>
          <p:nvPr/>
        </p:nvCxnSpPr>
        <p:spPr>
          <a:xfrm>
            <a:off x="172875" y="-37950"/>
            <a:ext cx="0" cy="2187000"/>
          </a:xfrm>
          <a:prstGeom prst="straightConnector1">
            <a:avLst/>
          </a:prstGeom>
          <a:noFill/>
          <a:ln w="38100" cap="flat" cmpd="sng">
            <a:solidFill>
              <a:schemeClr val="lt1"/>
            </a:solidFill>
            <a:prstDash val="solid"/>
            <a:round/>
            <a:headEnd type="none" w="med" len="med"/>
            <a:tailEnd type="none" w="med" len="med"/>
          </a:ln>
        </p:spPr>
      </p:cxnSp>
      <p:pic>
        <p:nvPicPr>
          <p:cNvPr id="91" name="Google Shape;91;p16"/>
          <p:cNvPicPr preferRelativeResize="0"/>
          <p:nvPr/>
        </p:nvPicPr>
        <p:blipFill>
          <a:blip r:embed="rId3">
            <a:alphaModFix/>
          </a:blip>
          <a:stretch>
            <a:fillRect/>
          </a:stretch>
        </p:blipFill>
        <p:spPr>
          <a:xfrm rot="5400000">
            <a:off x="-928700" y="3071650"/>
            <a:ext cx="3038475" cy="1181100"/>
          </a:xfrm>
          <a:prstGeom prst="rect">
            <a:avLst/>
          </a:prstGeom>
          <a:noFill/>
          <a:ln>
            <a:noFill/>
          </a:ln>
        </p:spPr>
      </p:pic>
      <p:sp>
        <p:nvSpPr>
          <p:cNvPr id="92" name="Google Shape;92;p16"/>
          <p:cNvSpPr txBox="1"/>
          <p:nvPr/>
        </p:nvSpPr>
        <p:spPr>
          <a:xfrm>
            <a:off x="1408975" y="306875"/>
            <a:ext cx="4979400" cy="53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000" dirty="0">
                <a:solidFill>
                  <a:srgbClr val="19264B"/>
                </a:solidFill>
                <a:latin typeface="NanumGothicExtraBold"/>
                <a:ea typeface="NanumGothicExtraBold"/>
                <a:cs typeface="NanumGothicExtraBold"/>
                <a:sym typeface="NanumGothicExtraBold"/>
              </a:rPr>
              <a:t>Pruning</a:t>
            </a:r>
            <a:endParaRPr sz="2000" dirty="0">
              <a:solidFill>
                <a:srgbClr val="19264B"/>
              </a:solidFill>
              <a:latin typeface="NanumGothicExtraBold"/>
              <a:ea typeface="NanumGothicExtraBold"/>
              <a:cs typeface="NanumGothicExtraBold"/>
              <a:sym typeface="NanumGothicExtraBold"/>
            </a:endParaRPr>
          </a:p>
        </p:txBody>
      </p:sp>
      <p:sp>
        <p:nvSpPr>
          <p:cNvPr id="3" name="Google Shape;84;p15">
            <a:extLst>
              <a:ext uri="{FF2B5EF4-FFF2-40B4-BE49-F238E27FC236}">
                <a16:creationId xmlns:a16="http://schemas.microsoft.com/office/drawing/2014/main" id="{89A62292-123C-1E9C-A469-3E88A3B301A1}"/>
              </a:ext>
            </a:extLst>
          </p:cNvPr>
          <p:cNvSpPr txBox="1"/>
          <p:nvPr/>
        </p:nvSpPr>
        <p:spPr>
          <a:xfrm>
            <a:off x="1408975" y="1168723"/>
            <a:ext cx="4979400" cy="89252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ko-KR" altLang="en-US" sz="2000" dirty="0">
                <a:solidFill>
                  <a:srgbClr val="19264B"/>
                </a:solidFill>
                <a:latin typeface="+mj-ea"/>
                <a:ea typeface="+mj-ea"/>
                <a:cs typeface="NanumGothicExtraBold"/>
                <a:sym typeface="NanumGothicExtraBold"/>
              </a:rPr>
              <a:t>중요도가 낮은 파라미터를 제거하여 모델을 </a:t>
            </a:r>
            <a:r>
              <a:rPr lang="ko-KR" altLang="en-US" sz="2000" dirty="0" err="1">
                <a:solidFill>
                  <a:srgbClr val="19264B"/>
                </a:solidFill>
                <a:latin typeface="+mj-ea"/>
                <a:ea typeface="+mj-ea"/>
                <a:cs typeface="NanumGothicExtraBold"/>
                <a:sym typeface="NanumGothicExtraBold"/>
              </a:rPr>
              <a:t>경량화하는</a:t>
            </a:r>
            <a:r>
              <a:rPr lang="ko-KR" altLang="en-US" sz="2000" dirty="0">
                <a:solidFill>
                  <a:srgbClr val="19264B"/>
                </a:solidFill>
                <a:latin typeface="+mj-ea"/>
                <a:ea typeface="+mj-ea"/>
                <a:cs typeface="NanumGothicExtraBold"/>
                <a:sym typeface="NanumGothicExtraBold"/>
              </a:rPr>
              <a:t> 기법</a:t>
            </a:r>
            <a:endParaRPr lang="en-US" altLang="ko-KR" sz="2000" dirty="0">
              <a:solidFill>
                <a:srgbClr val="19264B"/>
              </a:solidFill>
              <a:latin typeface="+mj-ea"/>
              <a:ea typeface="+mj-ea"/>
              <a:cs typeface="NanumGothicExtraBold"/>
              <a:sym typeface="NanumGothicExtraBold"/>
            </a:endParaRPr>
          </a:p>
        </p:txBody>
      </p:sp>
      <p:pic>
        <p:nvPicPr>
          <p:cNvPr id="5" name="그림 4" descr="DynamicViT: Efficient Vision Transformers with Dynamic Token Sparsification&#10;&#10;AI 생성 콘텐츠는 정확하지 않을 수 있습니다.">
            <a:extLst>
              <a:ext uri="{FF2B5EF4-FFF2-40B4-BE49-F238E27FC236}">
                <a16:creationId xmlns:a16="http://schemas.microsoft.com/office/drawing/2014/main" id="{778FDDBE-7633-1E5B-9F29-67025CBE48A2}"/>
              </a:ext>
            </a:extLst>
          </p:cNvPr>
          <p:cNvPicPr>
            <a:picLocks noChangeAspect="1"/>
          </p:cNvPicPr>
          <p:nvPr/>
        </p:nvPicPr>
        <p:blipFill>
          <a:blip r:embed="rId4"/>
          <a:stretch>
            <a:fillRect/>
          </a:stretch>
        </p:blipFill>
        <p:spPr>
          <a:xfrm>
            <a:off x="6595058" y="845454"/>
            <a:ext cx="2376067" cy="30822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71E2CBBE-44C4-0C93-6F9B-B58088BF73B6}"/>
            </a:ext>
          </a:extLst>
        </p:cNvPr>
        <p:cNvGrpSpPr/>
        <p:nvPr/>
      </p:nvGrpSpPr>
      <p:grpSpPr>
        <a:xfrm>
          <a:off x="0" y="0"/>
          <a:ext cx="0" cy="0"/>
          <a:chOff x="0" y="0"/>
          <a:chExt cx="0" cy="0"/>
        </a:xfrm>
      </p:grpSpPr>
      <p:sp>
        <p:nvSpPr>
          <p:cNvPr id="89" name="Google Shape;89;p16">
            <a:extLst>
              <a:ext uri="{FF2B5EF4-FFF2-40B4-BE49-F238E27FC236}">
                <a16:creationId xmlns:a16="http://schemas.microsoft.com/office/drawing/2014/main" id="{0E1E7097-95E6-3C03-2ABC-490DDC247ECD}"/>
              </a:ext>
            </a:extLst>
          </p:cNvPr>
          <p:cNvSpPr/>
          <p:nvPr/>
        </p:nvSpPr>
        <p:spPr>
          <a:xfrm>
            <a:off x="0" y="-37950"/>
            <a:ext cx="1181100" cy="5219400"/>
          </a:xfrm>
          <a:prstGeom prst="rect">
            <a:avLst/>
          </a:prstGeom>
          <a:solidFill>
            <a:srgbClr val="1926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 name="Google Shape;90;p16">
            <a:extLst>
              <a:ext uri="{FF2B5EF4-FFF2-40B4-BE49-F238E27FC236}">
                <a16:creationId xmlns:a16="http://schemas.microsoft.com/office/drawing/2014/main" id="{1F810363-6945-A4D8-850F-31570498B99B}"/>
              </a:ext>
            </a:extLst>
          </p:cNvPr>
          <p:cNvCxnSpPr/>
          <p:nvPr/>
        </p:nvCxnSpPr>
        <p:spPr>
          <a:xfrm>
            <a:off x="172875" y="-37950"/>
            <a:ext cx="0" cy="2187000"/>
          </a:xfrm>
          <a:prstGeom prst="straightConnector1">
            <a:avLst/>
          </a:prstGeom>
          <a:noFill/>
          <a:ln w="38100" cap="flat" cmpd="sng">
            <a:solidFill>
              <a:schemeClr val="lt1"/>
            </a:solidFill>
            <a:prstDash val="solid"/>
            <a:round/>
            <a:headEnd type="none" w="med" len="med"/>
            <a:tailEnd type="none" w="med" len="med"/>
          </a:ln>
        </p:spPr>
      </p:cxnSp>
      <p:pic>
        <p:nvPicPr>
          <p:cNvPr id="91" name="Google Shape;91;p16">
            <a:extLst>
              <a:ext uri="{FF2B5EF4-FFF2-40B4-BE49-F238E27FC236}">
                <a16:creationId xmlns:a16="http://schemas.microsoft.com/office/drawing/2014/main" id="{8CE68DB8-8262-45F8-C011-2583BEE446E7}"/>
              </a:ext>
            </a:extLst>
          </p:cNvPr>
          <p:cNvPicPr preferRelativeResize="0"/>
          <p:nvPr/>
        </p:nvPicPr>
        <p:blipFill>
          <a:blip r:embed="rId3">
            <a:alphaModFix/>
          </a:blip>
          <a:stretch>
            <a:fillRect/>
          </a:stretch>
        </p:blipFill>
        <p:spPr>
          <a:xfrm rot="5400000">
            <a:off x="-928700" y="3071650"/>
            <a:ext cx="3038475" cy="1181100"/>
          </a:xfrm>
          <a:prstGeom prst="rect">
            <a:avLst/>
          </a:prstGeom>
          <a:noFill/>
          <a:ln>
            <a:noFill/>
          </a:ln>
        </p:spPr>
      </p:pic>
      <p:sp>
        <p:nvSpPr>
          <p:cNvPr id="92" name="Google Shape;92;p16">
            <a:extLst>
              <a:ext uri="{FF2B5EF4-FFF2-40B4-BE49-F238E27FC236}">
                <a16:creationId xmlns:a16="http://schemas.microsoft.com/office/drawing/2014/main" id="{A5724E82-71E5-A967-6664-5E8FF4036B57}"/>
              </a:ext>
            </a:extLst>
          </p:cNvPr>
          <p:cNvSpPr txBox="1"/>
          <p:nvPr/>
        </p:nvSpPr>
        <p:spPr>
          <a:xfrm>
            <a:off x="1408975" y="306875"/>
            <a:ext cx="4979400" cy="53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000" dirty="0">
                <a:solidFill>
                  <a:srgbClr val="19264B"/>
                </a:solidFill>
                <a:latin typeface="NanumGothicExtraBold"/>
                <a:ea typeface="NanumGothicExtraBold"/>
                <a:cs typeface="NanumGothicExtraBold"/>
                <a:sym typeface="NanumGothicExtraBold"/>
              </a:rPr>
              <a:t>Quantization</a:t>
            </a:r>
            <a:endParaRPr sz="2000" dirty="0">
              <a:solidFill>
                <a:srgbClr val="19264B"/>
              </a:solidFill>
              <a:latin typeface="NanumGothicExtraBold"/>
              <a:ea typeface="NanumGothicExtraBold"/>
              <a:cs typeface="NanumGothicExtraBold"/>
              <a:sym typeface="NanumGothicExtraBold"/>
            </a:endParaRPr>
          </a:p>
        </p:txBody>
      </p:sp>
      <p:sp>
        <p:nvSpPr>
          <p:cNvPr id="3" name="Google Shape;84;p15">
            <a:extLst>
              <a:ext uri="{FF2B5EF4-FFF2-40B4-BE49-F238E27FC236}">
                <a16:creationId xmlns:a16="http://schemas.microsoft.com/office/drawing/2014/main" id="{3DCAAAB4-F378-D6D5-8DF5-65C67D014C41}"/>
              </a:ext>
            </a:extLst>
          </p:cNvPr>
          <p:cNvSpPr txBox="1"/>
          <p:nvPr/>
        </p:nvSpPr>
        <p:spPr>
          <a:xfrm>
            <a:off x="1408975" y="1168723"/>
            <a:ext cx="4979400" cy="89252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ko-KR" altLang="en-US" sz="2000" dirty="0">
                <a:solidFill>
                  <a:srgbClr val="19264B"/>
                </a:solidFill>
                <a:latin typeface="+mj-ea"/>
                <a:ea typeface="+mj-ea"/>
                <a:cs typeface="NanumGothicExtraBold"/>
                <a:sym typeface="NanumGothicExtraBold"/>
              </a:rPr>
              <a:t>수치 정밀도를 낮춰 모델의 메모리 사용량과 연산 비용을 줄이는 기법</a:t>
            </a:r>
            <a:endParaRPr sz="2000" dirty="0">
              <a:solidFill>
                <a:srgbClr val="19264B"/>
              </a:solidFill>
              <a:latin typeface="+mj-ea"/>
              <a:ea typeface="+mj-ea"/>
              <a:cs typeface="NanumGothicExtraBold"/>
              <a:sym typeface="NanumGothicExtraBold"/>
            </a:endParaRPr>
          </a:p>
        </p:txBody>
      </p:sp>
      <p:pic>
        <p:nvPicPr>
          <p:cNvPr id="5" name="그림 4" descr="KVzip: Query-Agnostic KV Cache Compression with Context Reconstruction&#10;&#10;AI 생성 콘텐츠는 정확하지 않을 수 있습니다.">
            <a:extLst>
              <a:ext uri="{FF2B5EF4-FFF2-40B4-BE49-F238E27FC236}">
                <a16:creationId xmlns:a16="http://schemas.microsoft.com/office/drawing/2014/main" id="{0C3A6B9A-59B6-6BD2-DBF2-13C0E52DB1CC}"/>
              </a:ext>
            </a:extLst>
          </p:cNvPr>
          <p:cNvPicPr>
            <a:picLocks noChangeAspect="1"/>
          </p:cNvPicPr>
          <p:nvPr/>
        </p:nvPicPr>
        <p:blipFill>
          <a:blip r:embed="rId4"/>
          <a:stretch>
            <a:fillRect/>
          </a:stretch>
        </p:blipFill>
        <p:spPr>
          <a:xfrm>
            <a:off x="6388375" y="845454"/>
            <a:ext cx="2536352" cy="3291418"/>
          </a:xfrm>
          <a:prstGeom prst="rect">
            <a:avLst/>
          </a:prstGeom>
        </p:spPr>
      </p:pic>
    </p:spTree>
    <p:extLst>
      <p:ext uri="{BB962C8B-B14F-4D97-AF65-F5344CB8AC3E}">
        <p14:creationId xmlns:p14="http://schemas.microsoft.com/office/powerpoint/2010/main" val="3315291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1D1CE04F-268F-AFBF-8DF9-1FC7D874D79B}"/>
            </a:ext>
          </a:extLst>
        </p:cNvPr>
        <p:cNvGrpSpPr/>
        <p:nvPr/>
      </p:nvGrpSpPr>
      <p:grpSpPr>
        <a:xfrm>
          <a:off x="0" y="0"/>
          <a:ext cx="0" cy="0"/>
          <a:chOff x="0" y="0"/>
          <a:chExt cx="0" cy="0"/>
        </a:xfrm>
      </p:grpSpPr>
      <p:sp>
        <p:nvSpPr>
          <p:cNvPr id="89" name="Google Shape;89;p16">
            <a:extLst>
              <a:ext uri="{FF2B5EF4-FFF2-40B4-BE49-F238E27FC236}">
                <a16:creationId xmlns:a16="http://schemas.microsoft.com/office/drawing/2014/main" id="{C9EC41F3-E416-F487-02CF-6BEED36031F7}"/>
              </a:ext>
            </a:extLst>
          </p:cNvPr>
          <p:cNvSpPr/>
          <p:nvPr/>
        </p:nvSpPr>
        <p:spPr>
          <a:xfrm>
            <a:off x="0" y="-37950"/>
            <a:ext cx="1181100" cy="5219400"/>
          </a:xfrm>
          <a:prstGeom prst="rect">
            <a:avLst/>
          </a:prstGeom>
          <a:solidFill>
            <a:srgbClr val="1926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 name="Google Shape;90;p16">
            <a:extLst>
              <a:ext uri="{FF2B5EF4-FFF2-40B4-BE49-F238E27FC236}">
                <a16:creationId xmlns:a16="http://schemas.microsoft.com/office/drawing/2014/main" id="{214AF779-C2C6-40B7-1EAE-4ECD1144B3C1}"/>
              </a:ext>
            </a:extLst>
          </p:cNvPr>
          <p:cNvCxnSpPr/>
          <p:nvPr/>
        </p:nvCxnSpPr>
        <p:spPr>
          <a:xfrm>
            <a:off x="172875" y="-37950"/>
            <a:ext cx="0" cy="2187000"/>
          </a:xfrm>
          <a:prstGeom prst="straightConnector1">
            <a:avLst/>
          </a:prstGeom>
          <a:noFill/>
          <a:ln w="38100" cap="flat" cmpd="sng">
            <a:solidFill>
              <a:schemeClr val="lt1"/>
            </a:solidFill>
            <a:prstDash val="solid"/>
            <a:round/>
            <a:headEnd type="none" w="med" len="med"/>
            <a:tailEnd type="none" w="med" len="med"/>
          </a:ln>
        </p:spPr>
      </p:cxnSp>
      <p:pic>
        <p:nvPicPr>
          <p:cNvPr id="91" name="Google Shape;91;p16">
            <a:extLst>
              <a:ext uri="{FF2B5EF4-FFF2-40B4-BE49-F238E27FC236}">
                <a16:creationId xmlns:a16="http://schemas.microsoft.com/office/drawing/2014/main" id="{BC5E3021-A3AB-403B-D369-B9CBFC39755D}"/>
              </a:ext>
            </a:extLst>
          </p:cNvPr>
          <p:cNvPicPr preferRelativeResize="0"/>
          <p:nvPr/>
        </p:nvPicPr>
        <p:blipFill>
          <a:blip r:embed="rId3">
            <a:alphaModFix/>
          </a:blip>
          <a:stretch>
            <a:fillRect/>
          </a:stretch>
        </p:blipFill>
        <p:spPr>
          <a:xfrm rot="5400000">
            <a:off x="-928700" y="3071650"/>
            <a:ext cx="3038475" cy="1181100"/>
          </a:xfrm>
          <a:prstGeom prst="rect">
            <a:avLst/>
          </a:prstGeom>
          <a:noFill/>
          <a:ln>
            <a:noFill/>
          </a:ln>
        </p:spPr>
      </p:pic>
      <p:sp>
        <p:nvSpPr>
          <p:cNvPr id="92" name="Google Shape;92;p16">
            <a:extLst>
              <a:ext uri="{FF2B5EF4-FFF2-40B4-BE49-F238E27FC236}">
                <a16:creationId xmlns:a16="http://schemas.microsoft.com/office/drawing/2014/main" id="{EDD49AB6-3FE0-8FA2-D362-DBB517228466}"/>
              </a:ext>
            </a:extLst>
          </p:cNvPr>
          <p:cNvSpPr txBox="1"/>
          <p:nvPr/>
        </p:nvSpPr>
        <p:spPr>
          <a:xfrm>
            <a:off x="1408975" y="306875"/>
            <a:ext cx="4979400" cy="53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000" dirty="0">
                <a:solidFill>
                  <a:srgbClr val="19264B"/>
                </a:solidFill>
                <a:latin typeface="NanumGothicExtraBold"/>
                <a:ea typeface="NanumGothicExtraBold"/>
                <a:cs typeface="NanumGothicExtraBold"/>
                <a:sym typeface="NanumGothicExtraBold"/>
              </a:rPr>
              <a:t>Knowledge Distillation</a:t>
            </a:r>
            <a:endParaRPr sz="2000" dirty="0">
              <a:solidFill>
                <a:srgbClr val="19264B"/>
              </a:solidFill>
              <a:latin typeface="NanumGothicExtraBold"/>
              <a:ea typeface="NanumGothicExtraBold"/>
              <a:cs typeface="NanumGothicExtraBold"/>
              <a:sym typeface="NanumGothicExtraBold"/>
            </a:endParaRPr>
          </a:p>
        </p:txBody>
      </p:sp>
      <p:sp>
        <p:nvSpPr>
          <p:cNvPr id="3" name="Google Shape;84;p15">
            <a:extLst>
              <a:ext uri="{FF2B5EF4-FFF2-40B4-BE49-F238E27FC236}">
                <a16:creationId xmlns:a16="http://schemas.microsoft.com/office/drawing/2014/main" id="{5F25CE40-D385-B98A-88F4-3AFC99F54678}"/>
              </a:ext>
            </a:extLst>
          </p:cNvPr>
          <p:cNvSpPr txBox="1"/>
          <p:nvPr/>
        </p:nvSpPr>
        <p:spPr>
          <a:xfrm>
            <a:off x="1408975" y="1168723"/>
            <a:ext cx="4979400" cy="1107965"/>
          </a:xfrm>
          <a:prstGeom prst="rect">
            <a:avLst/>
          </a:prstGeom>
          <a:noFill/>
          <a:ln>
            <a:noFill/>
          </a:ln>
        </p:spPr>
        <p:txBody>
          <a:bodyPr spcFirstLastPara="1" wrap="square" lIns="91425" tIns="91425" rIns="91425" bIns="91425" anchor="t" anchorCtr="0">
            <a:spAutoFit/>
          </a:bodyPr>
          <a:lstStyle/>
          <a:p>
            <a:pPr lvl="0"/>
            <a:r>
              <a:rPr lang="ko-KR" altLang="ko-KR" sz="2000" dirty="0"/>
              <a:t>모델(</a:t>
            </a:r>
            <a:r>
              <a:rPr lang="ko-KR" altLang="ko-KR" sz="2000" dirty="0" err="1"/>
              <a:t>Teacher</a:t>
            </a:r>
            <a:r>
              <a:rPr lang="ko-KR" altLang="ko-KR" sz="2000" dirty="0"/>
              <a:t>)의 지식을 작은 모델(</a:t>
            </a:r>
            <a:r>
              <a:rPr lang="ko-KR" altLang="ko-KR" sz="2000" dirty="0" err="1"/>
              <a:t>Student</a:t>
            </a:r>
            <a:r>
              <a:rPr lang="ko-KR" altLang="ko-KR" sz="2000" dirty="0"/>
              <a:t>)에 전달하여 성능을 유지하면서 모델을 </a:t>
            </a:r>
            <a:r>
              <a:rPr lang="ko-KR" altLang="ko-KR" sz="2000" dirty="0" err="1"/>
              <a:t>경량화하는</a:t>
            </a:r>
            <a:r>
              <a:rPr lang="ko-KR" altLang="ko-KR" sz="2000" dirty="0"/>
              <a:t> 기법</a:t>
            </a:r>
            <a:endParaRPr sz="2000" dirty="0">
              <a:solidFill>
                <a:srgbClr val="19264B"/>
              </a:solidFill>
              <a:latin typeface="+mj-ea"/>
              <a:ea typeface="+mj-ea"/>
              <a:cs typeface="NanumGothicExtraBold"/>
              <a:sym typeface="NanumGothicExtraBold"/>
            </a:endParaRPr>
          </a:p>
        </p:txBody>
      </p:sp>
      <p:pic>
        <p:nvPicPr>
          <p:cNvPr id="5" name="그림 4" descr="Decoupled Knowledge Distillation,&#10;&#10;AI 생성 콘텐츠는 정확하지 않을 수 있습니다.">
            <a:extLst>
              <a:ext uri="{FF2B5EF4-FFF2-40B4-BE49-F238E27FC236}">
                <a16:creationId xmlns:a16="http://schemas.microsoft.com/office/drawing/2014/main" id="{60A361FD-88D1-A130-B6FE-463C930982FB}"/>
              </a:ext>
            </a:extLst>
          </p:cNvPr>
          <p:cNvPicPr>
            <a:picLocks noChangeAspect="1"/>
          </p:cNvPicPr>
          <p:nvPr/>
        </p:nvPicPr>
        <p:blipFill>
          <a:blip r:embed="rId4"/>
          <a:stretch>
            <a:fillRect/>
          </a:stretch>
        </p:blipFill>
        <p:spPr>
          <a:xfrm>
            <a:off x="6362980" y="576164"/>
            <a:ext cx="2608145" cy="3377762"/>
          </a:xfrm>
          <a:prstGeom prst="rect">
            <a:avLst/>
          </a:prstGeom>
        </p:spPr>
      </p:pic>
    </p:spTree>
    <p:extLst>
      <p:ext uri="{BB962C8B-B14F-4D97-AF65-F5344CB8AC3E}">
        <p14:creationId xmlns:p14="http://schemas.microsoft.com/office/powerpoint/2010/main" val="2229709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AEA93401-E71A-67D8-826F-4FB334386F4F}"/>
            </a:ext>
          </a:extLst>
        </p:cNvPr>
        <p:cNvGrpSpPr/>
        <p:nvPr/>
      </p:nvGrpSpPr>
      <p:grpSpPr>
        <a:xfrm>
          <a:off x="0" y="0"/>
          <a:ext cx="0" cy="0"/>
          <a:chOff x="0" y="0"/>
          <a:chExt cx="0" cy="0"/>
        </a:xfrm>
      </p:grpSpPr>
      <p:sp>
        <p:nvSpPr>
          <p:cNvPr id="89" name="Google Shape;89;p16">
            <a:extLst>
              <a:ext uri="{FF2B5EF4-FFF2-40B4-BE49-F238E27FC236}">
                <a16:creationId xmlns:a16="http://schemas.microsoft.com/office/drawing/2014/main" id="{FEAA32E3-43EF-1FD3-8581-A816B885B07E}"/>
              </a:ext>
            </a:extLst>
          </p:cNvPr>
          <p:cNvSpPr/>
          <p:nvPr/>
        </p:nvSpPr>
        <p:spPr>
          <a:xfrm>
            <a:off x="0" y="-37950"/>
            <a:ext cx="1181100" cy="5219400"/>
          </a:xfrm>
          <a:prstGeom prst="rect">
            <a:avLst/>
          </a:prstGeom>
          <a:solidFill>
            <a:srgbClr val="1926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 name="Google Shape;90;p16">
            <a:extLst>
              <a:ext uri="{FF2B5EF4-FFF2-40B4-BE49-F238E27FC236}">
                <a16:creationId xmlns:a16="http://schemas.microsoft.com/office/drawing/2014/main" id="{74CCE46A-F6DB-BDF6-8AE6-D515B53811C4}"/>
              </a:ext>
            </a:extLst>
          </p:cNvPr>
          <p:cNvCxnSpPr/>
          <p:nvPr/>
        </p:nvCxnSpPr>
        <p:spPr>
          <a:xfrm>
            <a:off x="172875" y="-37950"/>
            <a:ext cx="0" cy="2187000"/>
          </a:xfrm>
          <a:prstGeom prst="straightConnector1">
            <a:avLst/>
          </a:prstGeom>
          <a:noFill/>
          <a:ln w="38100" cap="flat" cmpd="sng">
            <a:solidFill>
              <a:schemeClr val="lt1"/>
            </a:solidFill>
            <a:prstDash val="solid"/>
            <a:round/>
            <a:headEnd type="none" w="med" len="med"/>
            <a:tailEnd type="none" w="med" len="med"/>
          </a:ln>
        </p:spPr>
      </p:cxnSp>
      <p:pic>
        <p:nvPicPr>
          <p:cNvPr id="91" name="Google Shape;91;p16">
            <a:extLst>
              <a:ext uri="{FF2B5EF4-FFF2-40B4-BE49-F238E27FC236}">
                <a16:creationId xmlns:a16="http://schemas.microsoft.com/office/drawing/2014/main" id="{59B75583-984F-410C-6DEC-C0AD4F917942}"/>
              </a:ext>
            </a:extLst>
          </p:cNvPr>
          <p:cNvPicPr preferRelativeResize="0"/>
          <p:nvPr/>
        </p:nvPicPr>
        <p:blipFill>
          <a:blip r:embed="rId3">
            <a:alphaModFix/>
          </a:blip>
          <a:stretch>
            <a:fillRect/>
          </a:stretch>
        </p:blipFill>
        <p:spPr>
          <a:xfrm rot="5400000">
            <a:off x="-928700" y="3071650"/>
            <a:ext cx="3038475" cy="1181100"/>
          </a:xfrm>
          <a:prstGeom prst="rect">
            <a:avLst/>
          </a:prstGeom>
          <a:noFill/>
          <a:ln>
            <a:noFill/>
          </a:ln>
        </p:spPr>
      </p:pic>
      <p:sp>
        <p:nvSpPr>
          <p:cNvPr id="92" name="Google Shape;92;p16">
            <a:extLst>
              <a:ext uri="{FF2B5EF4-FFF2-40B4-BE49-F238E27FC236}">
                <a16:creationId xmlns:a16="http://schemas.microsoft.com/office/drawing/2014/main" id="{26A4C3BA-BE98-C873-F5ED-2CA8C4CC2F47}"/>
              </a:ext>
            </a:extLst>
          </p:cNvPr>
          <p:cNvSpPr txBox="1"/>
          <p:nvPr/>
        </p:nvSpPr>
        <p:spPr>
          <a:xfrm>
            <a:off x="1408975" y="306875"/>
            <a:ext cx="4979400" cy="53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ko-KR" altLang="en-US" sz="2000" dirty="0">
                <a:solidFill>
                  <a:srgbClr val="19264B"/>
                </a:solidFill>
                <a:latin typeface="NanumGothicExtraBold"/>
                <a:ea typeface="NanumGothicExtraBold"/>
                <a:cs typeface="NanumGothicExtraBold"/>
                <a:sym typeface="NanumGothicExtraBold"/>
              </a:rPr>
              <a:t>기타 경량화 및 효율화 기법</a:t>
            </a:r>
            <a:endParaRPr sz="2000" dirty="0">
              <a:solidFill>
                <a:srgbClr val="19264B"/>
              </a:solidFill>
              <a:latin typeface="NanumGothicExtraBold"/>
              <a:ea typeface="NanumGothicExtraBold"/>
              <a:cs typeface="NanumGothicExtraBold"/>
              <a:sym typeface="NanumGothicExtraBold"/>
            </a:endParaRPr>
          </a:p>
        </p:txBody>
      </p:sp>
      <p:sp>
        <p:nvSpPr>
          <p:cNvPr id="3" name="Google Shape;84;p15">
            <a:extLst>
              <a:ext uri="{FF2B5EF4-FFF2-40B4-BE49-F238E27FC236}">
                <a16:creationId xmlns:a16="http://schemas.microsoft.com/office/drawing/2014/main" id="{7812AC8A-AE4A-2577-3B21-F84305FF1606}"/>
              </a:ext>
            </a:extLst>
          </p:cNvPr>
          <p:cNvSpPr txBox="1"/>
          <p:nvPr/>
        </p:nvSpPr>
        <p:spPr>
          <a:xfrm>
            <a:off x="1408975" y="1168723"/>
            <a:ext cx="4979400" cy="53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altLang="ko-KR" sz="2000" dirty="0">
                <a:solidFill>
                  <a:srgbClr val="19264B"/>
                </a:solidFill>
                <a:latin typeface="+mj-ea"/>
                <a:ea typeface="+mj-ea"/>
                <a:cs typeface="NanumGothicExtraBold"/>
                <a:sym typeface="NanumGothicExtraBold"/>
              </a:rPr>
              <a:t>Flash Attention, Token Merging, …</a:t>
            </a:r>
            <a:endParaRPr sz="2000" dirty="0">
              <a:solidFill>
                <a:srgbClr val="19264B"/>
              </a:solidFill>
              <a:latin typeface="+mj-ea"/>
              <a:ea typeface="+mj-ea"/>
              <a:cs typeface="NanumGothicExtraBold"/>
              <a:sym typeface="NanumGothicExtraBold"/>
            </a:endParaRPr>
          </a:p>
        </p:txBody>
      </p:sp>
      <p:pic>
        <p:nvPicPr>
          <p:cNvPr id="4" name="그림 3" descr="The image depicts a research paper abstract discussing a method called Token Merging (ToMe), which enhances the throughput of ViT (Vision Transformer) models without additional training, improving processing speed for images, videos, and audio with minimal accuracy loss.&#10;&#10;AI 생성 콘텐츠는 정확하지 않을 수 있습니다.">
            <a:extLst>
              <a:ext uri="{FF2B5EF4-FFF2-40B4-BE49-F238E27FC236}">
                <a16:creationId xmlns:a16="http://schemas.microsoft.com/office/drawing/2014/main" id="{6D79266C-83E8-E91D-FA8D-69B667881672}"/>
              </a:ext>
            </a:extLst>
          </p:cNvPr>
          <p:cNvPicPr>
            <a:picLocks noChangeAspect="1"/>
          </p:cNvPicPr>
          <p:nvPr/>
        </p:nvPicPr>
        <p:blipFill>
          <a:blip r:embed="rId4"/>
          <a:stretch>
            <a:fillRect/>
          </a:stretch>
        </p:blipFill>
        <p:spPr>
          <a:xfrm>
            <a:off x="1612604" y="2250291"/>
            <a:ext cx="1993769" cy="2586334"/>
          </a:xfrm>
          <a:prstGeom prst="rect">
            <a:avLst/>
          </a:prstGeom>
        </p:spPr>
      </p:pic>
      <p:pic>
        <p:nvPicPr>
          <p:cNvPr id="6" name="그림 5" descr="The image depicts an academic paper abstract on an innovative attention algorithm called FLASHATTENTION, which is designed to be efficient in terms of memory and processing speed for handling long sequences in transformer models.&#10;&#10;AI 생성 콘텐츠는 정확하지 않을 수 있습니다.">
            <a:extLst>
              <a:ext uri="{FF2B5EF4-FFF2-40B4-BE49-F238E27FC236}">
                <a16:creationId xmlns:a16="http://schemas.microsoft.com/office/drawing/2014/main" id="{5874F349-DAC3-D274-3D7C-729F1E9E0367}"/>
              </a:ext>
            </a:extLst>
          </p:cNvPr>
          <p:cNvPicPr>
            <a:picLocks noChangeAspect="1"/>
          </p:cNvPicPr>
          <p:nvPr/>
        </p:nvPicPr>
        <p:blipFill>
          <a:blip r:embed="rId5"/>
          <a:stretch>
            <a:fillRect/>
          </a:stretch>
        </p:blipFill>
        <p:spPr>
          <a:xfrm>
            <a:off x="3782654" y="2030570"/>
            <a:ext cx="2167252" cy="2811377"/>
          </a:xfrm>
          <a:prstGeom prst="rect">
            <a:avLst/>
          </a:prstGeom>
        </p:spPr>
      </p:pic>
    </p:spTree>
    <p:extLst>
      <p:ext uri="{BB962C8B-B14F-4D97-AF65-F5344CB8AC3E}">
        <p14:creationId xmlns:p14="http://schemas.microsoft.com/office/powerpoint/2010/main" val="792389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264B"/>
        </a:solidFill>
        <a:effectLst/>
      </p:bgPr>
    </p:bg>
    <p:spTree>
      <p:nvGrpSpPr>
        <p:cNvPr id="1" name="Shape 96"/>
        <p:cNvGrpSpPr/>
        <p:nvPr/>
      </p:nvGrpSpPr>
      <p:grpSpPr>
        <a:xfrm>
          <a:off x="0" y="0"/>
          <a:ext cx="0" cy="0"/>
          <a:chOff x="0" y="0"/>
          <a:chExt cx="0" cy="0"/>
        </a:xfrm>
      </p:grpSpPr>
      <p:pic>
        <p:nvPicPr>
          <p:cNvPr id="97" name="Google Shape;97;p17"/>
          <p:cNvPicPr preferRelativeResize="0"/>
          <p:nvPr/>
        </p:nvPicPr>
        <p:blipFill>
          <a:blip r:embed="rId3">
            <a:alphaModFix/>
          </a:blip>
          <a:stretch>
            <a:fillRect/>
          </a:stretch>
        </p:blipFill>
        <p:spPr>
          <a:xfrm rot="5400000">
            <a:off x="-1049750" y="3137425"/>
            <a:ext cx="3038475" cy="1181100"/>
          </a:xfrm>
          <a:prstGeom prst="rect">
            <a:avLst/>
          </a:prstGeom>
          <a:noFill/>
          <a:ln>
            <a:noFill/>
          </a:ln>
        </p:spPr>
      </p:pic>
      <p:sp>
        <p:nvSpPr>
          <p:cNvPr id="98" name="Google Shape;98;p17"/>
          <p:cNvSpPr/>
          <p:nvPr/>
        </p:nvSpPr>
        <p:spPr>
          <a:xfrm>
            <a:off x="8685225" y="135475"/>
            <a:ext cx="335700" cy="335700"/>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7"/>
          <p:cNvSpPr/>
          <p:nvPr/>
        </p:nvSpPr>
        <p:spPr>
          <a:xfrm>
            <a:off x="8685225" y="616375"/>
            <a:ext cx="335700" cy="335700"/>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7"/>
          <p:cNvSpPr/>
          <p:nvPr/>
        </p:nvSpPr>
        <p:spPr>
          <a:xfrm>
            <a:off x="8685225" y="1097275"/>
            <a:ext cx="335700" cy="335700"/>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1" name="Google Shape;101;p17"/>
          <p:cNvCxnSpPr/>
          <p:nvPr/>
        </p:nvCxnSpPr>
        <p:spPr>
          <a:xfrm rot="10800000">
            <a:off x="146900" y="0"/>
            <a:ext cx="0" cy="2152500"/>
          </a:xfrm>
          <a:prstGeom prst="straightConnector1">
            <a:avLst/>
          </a:prstGeom>
          <a:noFill/>
          <a:ln w="28575" cap="flat" cmpd="sng">
            <a:solidFill>
              <a:schemeClr val="lt1"/>
            </a:solidFill>
            <a:prstDash val="solid"/>
            <a:round/>
            <a:headEnd type="none" w="med" len="med"/>
            <a:tailEnd type="none" w="med" len="med"/>
          </a:ln>
        </p:spPr>
      </p:cxnSp>
      <p:sp>
        <p:nvSpPr>
          <p:cNvPr id="102" name="Google Shape;102;p17"/>
          <p:cNvSpPr txBox="1"/>
          <p:nvPr/>
        </p:nvSpPr>
        <p:spPr>
          <a:xfrm>
            <a:off x="1469575" y="510025"/>
            <a:ext cx="147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03" name="Google Shape;103;p17"/>
          <p:cNvSpPr txBox="1"/>
          <p:nvPr/>
        </p:nvSpPr>
        <p:spPr>
          <a:xfrm>
            <a:off x="2082300" y="2110050"/>
            <a:ext cx="4979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4800">
              <a:solidFill>
                <a:schemeClr val="lt1"/>
              </a:solidFill>
              <a:latin typeface="NanumGothicExtraBold"/>
              <a:ea typeface="NanumGothicExtraBold"/>
              <a:cs typeface="NanumGothicExtraBold"/>
              <a:sym typeface="NanumGothicExtraBo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170</Words>
  <Application>Microsoft Office PowerPoint</Application>
  <PresentationFormat>화면 슬라이드 쇼(16:9)</PresentationFormat>
  <Paragraphs>35</Paragraphs>
  <Slides>8</Slides>
  <Notes>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8</vt:i4>
      </vt:variant>
    </vt:vector>
  </HeadingPairs>
  <TitlesOfParts>
    <vt:vector size="13" baseType="lpstr">
      <vt:lpstr>Arial</vt:lpstr>
      <vt:lpstr>맑은 고딕</vt:lpstr>
      <vt:lpstr>Nanum Gothic</vt:lpstr>
      <vt:lpstr>NanumGothicExtraBold</vt:lpstr>
      <vt:lpstr>Simple Light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Lee Sunguk</dc:creator>
  <cp:lastModifiedBy>Lee Sunguk</cp:lastModifiedBy>
  <cp:revision>1</cp:revision>
  <dcterms:modified xsi:type="dcterms:W3CDTF">2026-09-29T05:44:21Z</dcterms:modified>
</cp:coreProperties>
</file>