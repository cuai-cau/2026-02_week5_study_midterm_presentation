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71" r:id="rId4"/>
    <p:sldId id="258" r:id="rId5"/>
    <p:sldId id="261" r:id="rId6"/>
    <p:sldId id="265" r:id="rId7"/>
    <p:sldId id="266" r:id="rId8"/>
    <p:sldId id="267" r:id="rId9"/>
    <p:sldId id="264" r:id="rId10"/>
    <p:sldId id="262" r:id="rId11"/>
    <p:sldId id="263" r:id="rId12"/>
    <p:sldId id="259" r:id="rId13"/>
    <p:sldId id="260" r:id="rId14"/>
  </p:sldIdLst>
  <p:sldSz cx="9144000" cy="5143500" type="screen16x9"/>
  <p:notesSz cx="6858000" cy="9144000"/>
  <p:embeddedFontLst>
    <p:embeddedFont>
      <p:font typeface="Nanum Gothic" panose="020B0600000101010101" charset="-127"/>
      <p:regular r:id="rId16"/>
      <p:bold r:id="rId17"/>
    </p:embeddedFont>
    <p:embeddedFont>
      <p:font typeface="NanumGothicExtraBold" panose="020D0904000000000000" pitchFamily="50" charset="-127"/>
      <p:bold r:id="rId18"/>
    </p:embeddedFont>
    <p:embeddedFont>
      <p:font typeface="Microsoft GothicNeo" panose="020B0500000101010101" pitchFamily="50" charset="-127"/>
      <p:regular r:id="rId19"/>
      <p:bold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11"/>
    <p:restoredTop sz="76826"/>
  </p:normalViewPr>
  <p:slideViewPr>
    <p:cSldViewPr snapToGrid="0">
      <p:cViewPr varScale="1">
        <p:scale>
          <a:sx n="90" d="100"/>
          <a:sy n="90" d="100"/>
        </p:scale>
        <p:origin x="882" y="39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1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공격 성공률 </a:t>
            </a:r>
            <a:r>
              <a:rPr lang="en-US" altLang="ko-KR" sz="11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(</a:t>
            </a:r>
            <a:r>
              <a:rPr lang="en" sz="11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ASR, 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ASR (%)</c:v>
                </c:pt>
              </c:strCache>
            </c:strRef>
          </c:tx>
          <c:spPr>
            <a:solidFill>
              <a:srgbClr val="19264B"/>
            </a:solidFill>
          </c:spPr>
          <c:invertIfNegative val="1"/>
          <c:dPt>
            <c:idx val="2"/>
            <c:invertIfNegative val="1"/>
            <c:bubble3D val="0"/>
            <c:spPr>
              <a:solidFill>
                <a:srgbClr val="D94F2B"/>
              </a:solidFill>
            </c:spPr>
            <c:extLst>
              <c:ext xmlns:c16="http://schemas.microsoft.com/office/drawing/2014/chart" uri="{C3380CC4-5D6E-409C-BE32-E72D297353CC}">
                <c16:uniqueId val="{00000001-C7F6-7D41-8642-F2EF701AEE2C}"/>
              </c:ext>
            </c:extLst>
          </c:dPt>
          <c:dPt>
            <c:idx val="3"/>
            <c:invertIfNegative val="1"/>
            <c:bubble3D val="0"/>
            <c:spPr>
              <a:solidFill>
                <a:srgbClr val="D94F2B"/>
              </a:solidFill>
            </c:spPr>
            <c:extLst>
              <c:ext xmlns:c16="http://schemas.microsoft.com/office/drawing/2014/chart" uri="{C3380CC4-5D6E-409C-BE32-E72D297353CC}">
                <c16:uniqueId val="{00000003-C7F6-7D41-8642-F2EF701AEE2C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19264B"/>
                    </a:solidFill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Llama 2-chat 7B</c:v>
                </c:pt>
                <c:pt idx="1">
                  <c:v>Llama 3-Inst. 8B</c:v>
                </c:pt>
                <c:pt idx="2">
                  <c:v>Mistral 7B</c:v>
                </c:pt>
                <c:pt idx="3">
                  <c:v>Vicuna 7B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92</c:v>
                </c:pt>
                <c:pt idx="1">
                  <c:v>92</c:v>
                </c:pt>
                <c:pt idx="2">
                  <c:v>98</c:v>
                </c:pt>
                <c:pt idx="3">
                  <c:v>98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C7F6-7D41-8642-F2EF701AEE2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5CCDA"/>
            </a:solidFill>
          </a:ln>
        </c:spPr>
        <c:txPr>
          <a:bodyPr/>
          <a:lstStyle/>
          <a:p>
            <a:pPr>
              <a:defRPr sz="900">
                <a:solidFill>
                  <a:srgbClr val="19264B"/>
                </a:solidFill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>
          <c:spPr>
            <a:ln>
              <a:solidFill>
                <a:srgbClr val="DDE3EE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B6275"/>
                </a:solidFill>
              </a:defRPr>
            </a:pPr>
            <a:endParaRPr lang="ko-KR"/>
          </a:p>
        </c:txPr>
        <c:crossAx val="-2068027336"/>
        <c:crosses val="autoZero"/>
        <c:crossBetween val="between"/>
        <c:majorUnit val="25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6accca8d1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6accca8d1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DA7B0558-6BC6-30D6-1179-E68F2DD09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>
            <a:extLst>
              <a:ext uri="{FF2B5EF4-FFF2-40B4-BE49-F238E27FC236}">
                <a16:creationId xmlns:a16="http://schemas.microsoft.com/office/drawing/2014/main" id="{CEB77C8D-5F98-1398-C538-69D578FF05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>
            <a:extLst>
              <a:ext uri="{FF2B5EF4-FFF2-40B4-BE49-F238E27FC236}">
                <a16:creationId xmlns:a16="http://schemas.microsoft.com/office/drawing/2014/main" id="{562905DC-886D-46E6-F023-381808F225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422960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F1043BA3-0B8F-6C43-6B3F-7A56F3F6E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0289EDA3-21D8-93D5-F10A-2C09B0A9FB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91B1E9D4-B42D-2F2B-34B3-CC3993F617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355102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6accca8d11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6accca8d11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ko-KR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6accca8d11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6accca8d11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176d744966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176d744966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44" name="Google Shape;44;p10"/>
          <p:cNvSpPr/>
          <p:nvPr/>
        </p:nvSpPr>
        <p:spPr>
          <a:xfrm>
            <a:off x="-8275" y="-84750"/>
            <a:ext cx="9254700" cy="5231400"/>
          </a:xfrm>
          <a:prstGeom prst="rect">
            <a:avLst/>
          </a:prstGeom>
          <a:solidFill>
            <a:srgbClr val="19264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" name="Google Shape;45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1049750" y="3137425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0"/>
          <p:cNvSpPr/>
          <p:nvPr/>
        </p:nvSpPr>
        <p:spPr>
          <a:xfrm>
            <a:off x="8685225" y="1354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0"/>
          <p:cNvSpPr/>
          <p:nvPr/>
        </p:nvSpPr>
        <p:spPr>
          <a:xfrm>
            <a:off x="8685225" y="616375"/>
            <a:ext cx="335700" cy="335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10"/>
          <p:cNvSpPr/>
          <p:nvPr/>
        </p:nvSpPr>
        <p:spPr>
          <a:xfrm>
            <a:off x="8685225" y="10972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9" name="Google Shape;49;p10"/>
          <p:cNvCxnSpPr/>
          <p:nvPr/>
        </p:nvCxnSpPr>
        <p:spPr>
          <a:xfrm rot="10800000">
            <a:off x="146900" y="0"/>
            <a:ext cx="0" cy="21525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" name="Google Shape;50;p10"/>
          <p:cNvSpPr/>
          <p:nvPr/>
        </p:nvSpPr>
        <p:spPr>
          <a:xfrm>
            <a:off x="1060050" y="211800"/>
            <a:ext cx="7420500" cy="471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10"/>
          <p:cNvSpPr txBox="1"/>
          <p:nvPr/>
        </p:nvSpPr>
        <p:spPr>
          <a:xfrm>
            <a:off x="1469575" y="510025"/>
            <a:ext cx="14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0"/>
          <p:cNvSpPr txBox="1"/>
          <p:nvPr/>
        </p:nvSpPr>
        <p:spPr>
          <a:xfrm>
            <a:off x="146888" y="59400"/>
            <a:ext cx="1129500" cy="17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8기 활동 소개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 b="1">
                <a:solidFill>
                  <a:srgbClr val="777777"/>
                </a:solidFill>
                <a:latin typeface="Nanum Gothic"/>
                <a:ea typeface="Nanum Gothic"/>
                <a:cs typeface="Nanum Gothic"/>
                <a:sym typeface="Nanum Gothic"/>
              </a:rPr>
              <a:t>9기 활동 안내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정기세션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99999"/>
                </a:solidFill>
                <a:latin typeface="Nanum Gothic"/>
                <a:ea typeface="Nanum Gothic"/>
                <a:cs typeface="Nanum Gothic"/>
                <a:sym typeface="Nanum Gothic"/>
              </a:rPr>
              <a:t>CUAI Github</a:t>
            </a:r>
            <a:endParaRPr sz="800">
              <a:solidFill>
                <a:srgbClr val="999999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Basic Track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Advanced Track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스터디 소개</a:t>
            </a:r>
            <a:endParaRPr sz="800" b="1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AI 세미나 소개</a:t>
            </a:r>
            <a:endParaRPr sz="800">
              <a:solidFill>
                <a:srgbClr val="999999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99999"/>
                </a:solidFill>
                <a:latin typeface="Nanum Gothic"/>
                <a:ea typeface="Nanum Gothic"/>
                <a:cs typeface="Nanum Gothic"/>
                <a:sym typeface="Nanum Gothic"/>
              </a:rPr>
              <a:t>CUAI 장학금</a:t>
            </a:r>
            <a:endParaRPr sz="800">
              <a:solidFill>
                <a:srgbClr val="999999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4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3"/>
          <p:cNvSpPr txBox="1"/>
          <p:nvPr/>
        </p:nvSpPr>
        <p:spPr>
          <a:xfrm>
            <a:off x="1339750" y="2710050"/>
            <a:ext cx="7223760" cy="1565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9264B"/>
                </a:solidFill>
              </a:rPr>
              <a:t>NLP 논문 스터디 발표</a:t>
            </a:r>
            <a:endParaRPr sz="2500" b="1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dirty="0" err="1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대표</a:t>
            </a:r>
            <a:r>
              <a:rPr sz="1300" dirty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 </a:t>
            </a:r>
            <a:r>
              <a:rPr sz="1300" dirty="0" err="1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논문</a:t>
            </a:r>
            <a:r>
              <a:rPr sz="1300" dirty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 2편 </a:t>
            </a:r>
            <a:r>
              <a:rPr sz="1300" dirty="0" err="1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소개</a:t>
            </a:r>
            <a:r>
              <a:rPr sz="1300" dirty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  |  Rainbow Teaming · RLVR &amp; </a:t>
            </a:r>
            <a:r>
              <a:rPr sz="1300" dirty="0" err="1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CoT-Pass@K</a:t>
            </a: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solidFill>
                  <a:srgbClr val="19264B"/>
                </a:solidFill>
              </a:rPr>
              <a:t>2026.09.29</a:t>
            </a: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dirty="0">
                <a:solidFill>
                  <a:srgbClr val="19264B"/>
                </a:solidFill>
              </a:rPr>
              <a:t>발표자 : </a:t>
            </a:r>
            <a:r>
              <a:rPr lang="ko-KR" altLang="en-US" sz="1100" dirty="0">
                <a:solidFill>
                  <a:srgbClr val="19264B"/>
                </a:solidFill>
              </a:rPr>
              <a:t>엄지용</a:t>
            </a:r>
            <a:endParaRPr sz="1100" dirty="0">
              <a:solidFill>
                <a:srgbClr val="19264B"/>
              </a:solidFill>
            </a:endParaRPr>
          </a:p>
        </p:txBody>
      </p:sp>
      <p:cxnSp>
        <p:nvCxnSpPr>
          <p:cNvPr id="65" name="Google Shape;65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6" name="Google Shape;6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5EEF704E-5189-4803-2252-6DD6A3EBF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5A459719-E54E-3125-B6AD-D4B786FE59BC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3" name="Google Shape;63;p14">
            <a:extLst>
              <a:ext uri="{FF2B5EF4-FFF2-40B4-BE49-F238E27FC236}">
                <a16:creationId xmlns:a16="http://schemas.microsoft.com/office/drawing/2014/main" id="{AC0A6C07-C4E8-B2DF-D3C0-7020AE5829CF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>
            <a:extLst>
              <a:ext uri="{FF2B5EF4-FFF2-40B4-BE49-F238E27FC236}">
                <a16:creationId xmlns:a16="http://schemas.microsoft.com/office/drawing/2014/main" id="{9925F4B3-F915-8361-497C-FF0EDEDBC95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8C4D223B-391F-085A-64AA-FDA4B106B12D}"/>
              </a:ext>
            </a:extLst>
          </p:cNvPr>
          <p:cNvSpPr/>
          <p:nvPr/>
        </p:nvSpPr>
        <p:spPr>
          <a:xfrm>
            <a:off x="1599250" y="1262100"/>
            <a:ext cx="4287600" cy="3414600"/>
          </a:xfrm>
          <a:prstGeom prst="rect">
            <a:avLst/>
          </a:prstGeom>
          <a:solidFill>
            <a:srgbClr val="EFEFEF"/>
          </a:solidFill>
          <a:ln w="38100" cap="flat" cmpd="sng">
            <a:solidFill>
              <a:srgbClr val="1926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이곳에 만나서 찍은 사진을 넣어주세요.</a:t>
            </a:r>
            <a:endParaRPr sz="1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(비대면일 경우엔 화면 캡쳐 이용)</a:t>
            </a:r>
            <a:endParaRPr sz="1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얼굴이 나오게 찍어주셔야 합니다:D</a:t>
            </a:r>
            <a:endParaRPr sz="1200" dirty="0"/>
          </a:p>
        </p:txBody>
      </p:sp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A6AAD305-99FE-FD06-DEF4-69BBD61C3383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스터디원 소개 및 만남 인증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pic>
        <p:nvPicPr>
          <p:cNvPr id="5" name="그림 4" descr="￬ﾜﾠ￪ﾸﾈ￭ﾗﾌ,&#10;&#10;AI 생성 콘텐츠는 정확하지 않을 수 있습니다.">
            <a:extLst>
              <a:ext uri="{FF2B5EF4-FFF2-40B4-BE49-F238E27FC236}">
                <a16:creationId xmlns:a16="http://schemas.microsoft.com/office/drawing/2014/main" id="{B86CA72F-124D-7C9D-83BB-8B69C96490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7795" y="1509823"/>
            <a:ext cx="4090510" cy="283623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F7BBEA-EFAD-C2DE-1ABF-5A3087E06737}"/>
              </a:ext>
            </a:extLst>
          </p:cNvPr>
          <p:cNvSpPr txBox="1"/>
          <p:nvPr/>
        </p:nvSpPr>
        <p:spPr>
          <a:xfrm>
            <a:off x="6687173" y="2204666"/>
            <a:ext cx="171515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dirty="0" err="1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스터디원</a:t>
            </a:r>
            <a:endParaRPr lang="en-US" altLang="ko-KR" sz="22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r>
              <a:rPr lang="ko-KR" altLang="en-US" sz="2200" dirty="0" err="1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유금헌</a:t>
            </a:r>
            <a:endParaRPr lang="en-US" altLang="ko-KR" sz="22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r>
              <a:rPr lang="ko-KR" altLang="en-US" sz="2200" dirty="0" err="1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주찬진</a:t>
            </a:r>
            <a:endParaRPr lang="en-US" altLang="ko-KR" sz="22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r>
              <a:rPr lang="ko-KR" altLang="en-US" sz="22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엄지용</a:t>
            </a:r>
          </a:p>
        </p:txBody>
      </p:sp>
    </p:spTree>
    <p:extLst>
      <p:ext uri="{BB962C8B-B14F-4D97-AF65-F5344CB8AC3E}">
        <p14:creationId xmlns:p14="http://schemas.microsoft.com/office/powerpoint/2010/main" val="462305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B1CECD24-390F-17DC-738B-72566F785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ACB97B9F-4AF4-C181-B6A3-0AD20368FBCD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312D4E75-DE73-DED9-2EB7-DF6C646C74D7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7DB0BDBB-F667-DE78-06E3-01F78251A7B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E5ECC5B1-EB48-54EB-D169-2B792984EFD6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스터디 소개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23EADB-53FD-7DC4-C8BF-3A95B923937D}"/>
              </a:ext>
            </a:extLst>
          </p:cNvPr>
          <p:cNvSpPr txBox="1"/>
          <p:nvPr/>
        </p:nvSpPr>
        <p:spPr>
          <a:xfrm>
            <a:off x="1408975" y="1055550"/>
            <a:ext cx="7391492" cy="87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>
                <a:solidFill>
                  <a:schemeClr val="tx1"/>
                </a:solidFill>
              </a:rPr>
              <a:t>매주 월요일 </a:t>
            </a:r>
            <a:r>
              <a:rPr lang="en-US" altLang="ko-KR" sz="1800" dirty="0">
                <a:solidFill>
                  <a:schemeClr val="tx1"/>
                </a:solidFill>
              </a:rPr>
              <a:t>19</a:t>
            </a:r>
            <a:r>
              <a:rPr lang="ko-KR" altLang="en-US" sz="1800" dirty="0">
                <a:solidFill>
                  <a:schemeClr val="tx1"/>
                </a:solidFill>
              </a:rPr>
              <a:t>시</a:t>
            </a:r>
            <a:endParaRPr lang="en-US" altLang="ko-KR" sz="1800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>
                <a:solidFill>
                  <a:schemeClr val="tx1"/>
                </a:solidFill>
              </a:rPr>
              <a:t>NLP </a:t>
            </a:r>
            <a:r>
              <a:rPr lang="ko-KR" altLang="en-US" sz="1800" dirty="0">
                <a:solidFill>
                  <a:schemeClr val="tx1"/>
                </a:solidFill>
              </a:rPr>
              <a:t>분야의 논문을 한 편씩 읽고 대면에서 함께 리뷰</a:t>
            </a:r>
            <a:endParaRPr lang="en-US" altLang="ko-KR" sz="1800" dirty="0">
              <a:solidFill>
                <a:schemeClr val="tx1"/>
              </a:solidFill>
            </a:endParaRPr>
          </a:p>
        </p:txBody>
      </p:sp>
      <p:pic>
        <p:nvPicPr>
          <p:cNvPr id="4" name="그림 3" descr="The document is a citation for a research paper on the application of reinforcement learning with verifiable rewards in base LLMS.&#10;&#10;AI 생성 콘텐츠는 정확하지 않을 수 있습니다.">
            <a:extLst>
              <a:ext uri="{FF2B5EF4-FFF2-40B4-BE49-F238E27FC236}">
                <a16:creationId xmlns:a16="http://schemas.microsoft.com/office/drawing/2014/main" id="{EA8286C2-FDC8-6705-AFBD-5DA9C13175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5140" y="2062101"/>
            <a:ext cx="4082902" cy="1402784"/>
          </a:xfrm>
          <a:prstGeom prst="rect">
            <a:avLst/>
          </a:prstGeom>
        </p:spPr>
      </p:pic>
      <p:pic>
        <p:nvPicPr>
          <p:cNvPr id="6" name="그림 5" descr="The image is a citation or abstract for a research paper or article discussing a method for generating diverse adversarial prompts.&#10;&#10;AI 생성 콘텐츠는 정확하지 않을 수 있습니다.">
            <a:extLst>
              <a:ext uri="{FF2B5EF4-FFF2-40B4-BE49-F238E27FC236}">
                <a16:creationId xmlns:a16="http://schemas.microsoft.com/office/drawing/2014/main" id="{8F0BAB9A-A1F8-AB1A-188C-2BA795DCBD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5140" y="3464885"/>
            <a:ext cx="5409930" cy="1555644"/>
          </a:xfrm>
          <a:prstGeom prst="rect">
            <a:avLst/>
          </a:prstGeom>
        </p:spPr>
      </p:pic>
      <p:pic>
        <p:nvPicPr>
          <p:cNvPr id="8" name="그림 7" descr="Improving Language Understanding by Generative Pre-Training&#10;&#10;AI 생성 콘텐츠는 정확하지 않을 수 있습니다.">
            <a:extLst>
              <a:ext uri="{FF2B5EF4-FFF2-40B4-BE49-F238E27FC236}">
                <a16:creationId xmlns:a16="http://schemas.microsoft.com/office/drawing/2014/main" id="{A720F9E1-13ED-C514-462D-A04505FA17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9733" y="2460572"/>
            <a:ext cx="3790734" cy="1367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884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2" name="Google Shape;82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3" name="Google Shape;8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 txBox="1"/>
          <p:nvPr/>
        </p:nvSpPr>
        <p:spPr>
          <a:xfrm>
            <a:off x="1408975" y="306875"/>
            <a:ext cx="4979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목차</a:t>
            </a:r>
            <a:endParaRPr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85" name="Rounded Rectangle 84"/>
          <p:cNvSpPr/>
          <p:nvPr/>
        </p:nvSpPr>
        <p:spPr>
          <a:xfrm>
            <a:off x="1499616" y="1611092"/>
            <a:ext cx="7187184" cy="914400"/>
          </a:xfrm>
          <a:prstGeom prst="roundRect">
            <a:avLst>
              <a:gd name="adj" fmla="val 6000"/>
            </a:avLst>
          </a:prstGeom>
          <a:solidFill>
            <a:srgbClr val="ED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1773936" y="1611092"/>
            <a:ext cx="82296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 i="0">
                <a:solidFill>
                  <a:srgbClr val="D94F2B"/>
                </a:solidFill>
                <a:latin typeface="NanumGothicExtraBold"/>
                <a:ea typeface="NanumGothicExtraBold"/>
                <a:cs typeface="NanumGothicExtraBold"/>
              </a:rPr>
              <a:t>01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688336" y="1793972"/>
            <a:ext cx="5724144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600" b="1" i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Rainbow Teaming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Samvelyan et al., 2024 — 품질-다양성 탐색 기반 자동 레드티밍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499616" y="2891252"/>
            <a:ext cx="7187184" cy="914400"/>
          </a:xfrm>
          <a:prstGeom prst="roundRect">
            <a:avLst>
              <a:gd name="adj" fmla="val 6000"/>
            </a:avLst>
          </a:prstGeom>
          <a:solidFill>
            <a:srgbClr val="ED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1773936" y="2891252"/>
            <a:ext cx="82296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 i="0">
                <a:solidFill>
                  <a:srgbClr val="D94F2B"/>
                </a:solidFill>
                <a:latin typeface="NanumGothicExtraBold"/>
                <a:ea typeface="NanumGothicExtraBold"/>
                <a:cs typeface="NanumGothicExtraBold"/>
              </a:rPr>
              <a:t>02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688336" y="3074132"/>
            <a:ext cx="5724144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600" b="1" i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RLVR은 올바른 추론을 유도하는가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Wen et al., 2025 — CoT-Pass@K로 다시 본 강화학습의 효과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64B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049750" y="3137425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/>
          <p:nvPr/>
        </p:nvSpPr>
        <p:spPr>
          <a:xfrm>
            <a:off x="8685225" y="135475"/>
            <a:ext cx="335700" cy="3357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7"/>
          <p:cNvSpPr/>
          <p:nvPr/>
        </p:nvSpPr>
        <p:spPr>
          <a:xfrm>
            <a:off x="8685225" y="6163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7"/>
          <p:cNvSpPr/>
          <p:nvPr/>
        </p:nvSpPr>
        <p:spPr>
          <a:xfrm>
            <a:off x="8685225" y="10972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1" name="Google Shape;101;p17"/>
          <p:cNvCxnSpPr/>
          <p:nvPr/>
        </p:nvCxnSpPr>
        <p:spPr>
          <a:xfrm rot="10800000">
            <a:off x="146900" y="0"/>
            <a:ext cx="0" cy="21525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2" name="Google Shape;102;p17"/>
          <p:cNvSpPr txBox="1"/>
          <p:nvPr/>
        </p:nvSpPr>
        <p:spPr>
          <a:xfrm>
            <a:off x="1469575" y="510025"/>
            <a:ext cx="14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7"/>
          <p:cNvSpPr txBox="1"/>
          <p:nvPr/>
        </p:nvSpPr>
        <p:spPr>
          <a:xfrm>
            <a:off x="1600200" y="1900652"/>
            <a:ext cx="6858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800"/>
              </a:spcAft>
              <a:buNone/>
            </a:pPr>
            <a:r>
              <a:rPr sz="1400" b="0" i="0" dirty="0">
                <a:solidFill>
                  <a:srgbClr val="F2A07B"/>
                </a:solidFill>
                <a:latin typeface="NanumGothicExtraBold"/>
                <a:ea typeface="NanumGothicExtraBold"/>
                <a:cs typeface="NanumGothicExtraBold"/>
              </a:rPr>
              <a:t>PAPER 01</a:t>
            </a:r>
            <a:endParaRPr sz="4800" dirty="0">
              <a:solidFill>
                <a:schemeClr val="lt1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  <a:p>
            <a:pPr algn="ctr">
              <a:spcAft>
                <a:spcPts val="800"/>
              </a:spcAft>
            </a:pPr>
            <a:r>
              <a:rPr sz="3200" b="1" i="0" dirty="0">
                <a:solidFill>
                  <a:srgbClr val="FFFFFF"/>
                </a:solidFill>
                <a:latin typeface="NanumGothicExtraBold"/>
                <a:ea typeface="NanumGothicExtraBold"/>
                <a:cs typeface="NanumGothicExtraBold"/>
              </a:rPr>
              <a:t>Rainbow Teaming</a:t>
            </a:r>
          </a:p>
          <a:p>
            <a:pPr algn="ctr">
              <a:spcAft>
                <a:spcPts val="800"/>
              </a:spcAft>
            </a:pPr>
            <a:r>
              <a:rPr sz="1200" b="0" i="0" dirty="0">
                <a:solidFill>
                  <a:srgbClr val="C9D1E6"/>
                </a:solidFill>
                <a:latin typeface="Nanum Gothic"/>
                <a:ea typeface="Nanum Gothic"/>
                <a:cs typeface="Nanum Gothic"/>
              </a:rPr>
              <a:t>Open-Ended Generation of Diverse Adversarial Prompts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1408975" y="306875"/>
            <a:ext cx="7498079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배경: 효과적이면서 ‘다양한’ 공격 프롬프트를 자동으로</a:t>
            </a:r>
            <a:endParaRPr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1499616" y="786384"/>
            <a:ext cx="7187184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 dirty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PAPER 01  |  </a:t>
            </a:r>
            <a:r>
              <a:rPr sz="1000" b="0" i="0" dirty="0" err="1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Samvelyan</a:t>
            </a:r>
            <a:r>
              <a:rPr sz="1000" b="0" i="0" dirty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 et al., 2024 · Meta, UCL, University of Oxford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499616" y="1293227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기존 자동 레드티밍의 한계</a:t>
            </a:r>
          </a:p>
        </p:txBody>
      </p:sp>
      <p:sp>
        <p:nvSpPr>
          <p:cNvPr id="95" name="Oval 94"/>
          <p:cNvSpPr/>
          <p:nvPr/>
        </p:nvSpPr>
        <p:spPr>
          <a:xfrm>
            <a:off x="1499616" y="1704707"/>
            <a:ext cx="347472" cy="347472"/>
          </a:xfrm>
          <a:prstGeom prst="ellipse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NanumGothicExtraBold"/>
                <a:ea typeface="NanumGothicExtraBold"/>
                <a:cs typeface="NanumGothicExtraBold"/>
              </a:rP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002536" y="1658987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다양성 부족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단일 공격 전략에 치우치거나, 최적화 과정에서 다양성이 붕괴</a:t>
            </a:r>
          </a:p>
        </p:txBody>
      </p:sp>
      <p:sp>
        <p:nvSpPr>
          <p:cNvPr id="97" name="Oval 96"/>
          <p:cNvSpPr/>
          <p:nvPr/>
        </p:nvSpPr>
        <p:spPr>
          <a:xfrm>
            <a:off x="1499616" y="2417939"/>
            <a:ext cx="347472" cy="347472"/>
          </a:xfrm>
          <a:prstGeom prst="ellipse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NanumGothicExtraBold"/>
                <a:ea typeface="NanumGothicExtraBold"/>
                <a:cs typeface="NanumGothicExtraBold"/>
              </a:rPr>
              <a:t>2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002536" y="2372219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사람 의존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PAIR·TAP 등은 공격할 유해 행동을 사람이 하나씩 지정</a:t>
            </a:r>
          </a:p>
        </p:txBody>
      </p:sp>
      <p:sp>
        <p:nvSpPr>
          <p:cNvPr id="99" name="Oval 98"/>
          <p:cNvSpPr/>
          <p:nvPr/>
        </p:nvSpPr>
        <p:spPr>
          <a:xfrm>
            <a:off x="1499616" y="3131170"/>
            <a:ext cx="347472" cy="347472"/>
          </a:xfrm>
          <a:prstGeom prst="ellipse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NanumGothicExtraBold"/>
                <a:ea typeface="NanumGothicExtraBold"/>
                <a:cs typeface="NanumGothicExtraBold"/>
              </a:rPr>
              <a:t>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002536" y="3085451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접근 제약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화이트박스 접근이나 공격 모델 fine-tuning이 필요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499616" y="3899267"/>
            <a:ext cx="3840480" cy="685800"/>
          </a:xfrm>
          <a:prstGeom prst="roundRect">
            <a:avLst>
              <a:gd name="adj" fmla="val 6000"/>
            </a:avLst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1728216" y="3899267"/>
            <a:ext cx="338328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F2A07B"/>
                </a:solidFill>
                <a:latin typeface="NanumGothicExtraBold"/>
                <a:ea typeface="NanumGothicExtraBold"/>
                <a:cs typeface="NanumGothicExtraBold"/>
              </a:rPr>
              <a:t>해결  </a:t>
            </a:r>
            <a:r>
              <a:rPr sz="1200" b="1" i="0">
                <a:solidFill>
                  <a:srgbClr val="FFFFFF"/>
                </a:solidFill>
                <a:latin typeface="NanumGothicExtraBold"/>
                <a:ea typeface="NanumGothicExtraBold"/>
                <a:cs typeface="NanumGothicExtraBold"/>
              </a:rPr>
              <a:t>품질-다양성(QD) 탐색으로 재정의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C9D1E6"/>
                </a:solidFill>
                <a:latin typeface="Nanum Gothic"/>
                <a:ea typeface="Nanum Gothic"/>
                <a:cs typeface="Nanum Gothic"/>
              </a:rPr>
              <a:t>진화 알고리즘 MAP-Elites 기반, 블랙박스 방식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989320" y="1521827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6236208" y="1521827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6483096" y="1521827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6729983" y="1521827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6976872" y="1521827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7223760" y="1521827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7470648" y="1521827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7717536" y="1521827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7964424" y="1521827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8211312" y="1521827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5989320" y="1768715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6236208" y="1768715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6483096" y="1768715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6729983" y="1768715"/>
            <a:ext cx="219456" cy="219456"/>
          </a:xfrm>
          <a:prstGeom prst="rect">
            <a:avLst/>
          </a:prstGeom>
          <a:solidFill>
            <a:srgbClr val="6E7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6976872" y="1768715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7223760" y="1768715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7470648" y="1768715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7717536" y="1768715"/>
            <a:ext cx="219456" cy="219456"/>
          </a:xfrm>
          <a:prstGeom prst="rect">
            <a:avLst/>
          </a:prstGeom>
          <a:solidFill>
            <a:srgbClr val="D94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7964424" y="1768715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8211312" y="1768715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5989320" y="2015602"/>
            <a:ext cx="219456" cy="219456"/>
          </a:xfrm>
          <a:prstGeom prst="rect">
            <a:avLst/>
          </a:prstGeom>
          <a:solidFill>
            <a:srgbClr val="D94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6236208" y="2015602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6483096" y="2015602"/>
            <a:ext cx="219456" cy="219456"/>
          </a:xfrm>
          <a:prstGeom prst="rect">
            <a:avLst/>
          </a:prstGeom>
          <a:solidFill>
            <a:srgbClr val="A9B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6729983" y="2015602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6976872" y="2015602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7223760" y="2015602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7470648" y="2015602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7717536" y="2015602"/>
            <a:ext cx="219456" cy="219456"/>
          </a:xfrm>
          <a:prstGeom prst="rect">
            <a:avLst/>
          </a:prstGeom>
          <a:solidFill>
            <a:srgbClr val="6E7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7964424" y="2015602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8211312" y="2015602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5989320" y="2262491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6236208" y="2262491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5" name="Rectangle 134"/>
          <p:cNvSpPr/>
          <p:nvPr/>
        </p:nvSpPr>
        <p:spPr>
          <a:xfrm>
            <a:off x="6483096" y="2262491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6729983" y="2262491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6976872" y="2262491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7223760" y="2262491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7470648" y="2262491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7717536" y="2262491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7964424" y="2262491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8211312" y="2262491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3" name="Rectangle 142"/>
          <p:cNvSpPr/>
          <p:nvPr/>
        </p:nvSpPr>
        <p:spPr>
          <a:xfrm>
            <a:off x="5989320" y="2509379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4" name="Rectangle 143"/>
          <p:cNvSpPr/>
          <p:nvPr/>
        </p:nvSpPr>
        <p:spPr>
          <a:xfrm>
            <a:off x="6236208" y="2509379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5" name="Rectangle 144"/>
          <p:cNvSpPr/>
          <p:nvPr/>
        </p:nvSpPr>
        <p:spPr>
          <a:xfrm>
            <a:off x="6483096" y="2509379"/>
            <a:ext cx="219456" cy="219456"/>
          </a:xfrm>
          <a:prstGeom prst="rect">
            <a:avLst/>
          </a:prstGeom>
          <a:solidFill>
            <a:srgbClr val="6E7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6729983" y="2509379"/>
            <a:ext cx="219456" cy="219456"/>
          </a:xfrm>
          <a:prstGeom prst="rect">
            <a:avLst/>
          </a:prstGeom>
          <a:solidFill>
            <a:srgbClr val="6E7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7" name="Rectangle 146"/>
          <p:cNvSpPr/>
          <p:nvPr/>
        </p:nvSpPr>
        <p:spPr>
          <a:xfrm>
            <a:off x="6976872" y="2509379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7223760" y="2509379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7470648" y="2509379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7717536" y="2509379"/>
            <a:ext cx="219456" cy="219456"/>
          </a:xfrm>
          <a:prstGeom prst="rect">
            <a:avLst/>
          </a:prstGeom>
          <a:solidFill>
            <a:srgbClr val="A9B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7964424" y="2509379"/>
            <a:ext cx="219456" cy="219456"/>
          </a:xfrm>
          <a:prstGeom prst="rect">
            <a:avLst/>
          </a:prstGeom>
          <a:solidFill>
            <a:srgbClr val="6E7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8211312" y="2509379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3" name="Rectangle 152"/>
          <p:cNvSpPr/>
          <p:nvPr/>
        </p:nvSpPr>
        <p:spPr>
          <a:xfrm>
            <a:off x="5989320" y="2756267"/>
            <a:ext cx="219456" cy="219456"/>
          </a:xfrm>
          <a:prstGeom prst="rect">
            <a:avLst/>
          </a:prstGeom>
          <a:solidFill>
            <a:srgbClr val="D94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4" name="Rectangle 153"/>
          <p:cNvSpPr/>
          <p:nvPr/>
        </p:nvSpPr>
        <p:spPr>
          <a:xfrm>
            <a:off x="6236208" y="2756267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5" name="Rectangle 154"/>
          <p:cNvSpPr/>
          <p:nvPr/>
        </p:nvSpPr>
        <p:spPr>
          <a:xfrm>
            <a:off x="6483096" y="2756267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6729983" y="2756267"/>
            <a:ext cx="219456" cy="219456"/>
          </a:xfrm>
          <a:prstGeom prst="rect">
            <a:avLst/>
          </a:prstGeom>
          <a:solidFill>
            <a:srgbClr val="6E7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7" name="Rectangle 156"/>
          <p:cNvSpPr/>
          <p:nvPr/>
        </p:nvSpPr>
        <p:spPr>
          <a:xfrm>
            <a:off x="6976872" y="2756267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8" name="Rectangle 157"/>
          <p:cNvSpPr/>
          <p:nvPr/>
        </p:nvSpPr>
        <p:spPr>
          <a:xfrm>
            <a:off x="7223760" y="2756267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9" name="Rectangle 158"/>
          <p:cNvSpPr/>
          <p:nvPr/>
        </p:nvSpPr>
        <p:spPr>
          <a:xfrm>
            <a:off x="7470648" y="2756267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0" name="Rectangle 159"/>
          <p:cNvSpPr/>
          <p:nvPr/>
        </p:nvSpPr>
        <p:spPr>
          <a:xfrm>
            <a:off x="7717536" y="2756267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1" name="Rectangle 160"/>
          <p:cNvSpPr/>
          <p:nvPr/>
        </p:nvSpPr>
        <p:spPr>
          <a:xfrm>
            <a:off x="7964424" y="2756267"/>
            <a:ext cx="219456" cy="219456"/>
          </a:xfrm>
          <a:prstGeom prst="rect">
            <a:avLst/>
          </a:prstGeom>
          <a:solidFill>
            <a:srgbClr val="6E7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2" name="Rectangle 161"/>
          <p:cNvSpPr/>
          <p:nvPr/>
        </p:nvSpPr>
        <p:spPr>
          <a:xfrm>
            <a:off x="8211312" y="2756267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3" name="Rectangle 162"/>
          <p:cNvSpPr/>
          <p:nvPr/>
        </p:nvSpPr>
        <p:spPr>
          <a:xfrm>
            <a:off x="5989320" y="3003155"/>
            <a:ext cx="219456" cy="219456"/>
          </a:xfrm>
          <a:prstGeom prst="rect">
            <a:avLst/>
          </a:prstGeom>
          <a:solidFill>
            <a:srgbClr val="A9B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4" name="Rectangle 163"/>
          <p:cNvSpPr/>
          <p:nvPr/>
        </p:nvSpPr>
        <p:spPr>
          <a:xfrm>
            <a:off x="6236208" y="3003155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5" name="Rectangle 164"/>
          <p:cNvSpPr/>
          <p:nvPr/>
        </p:nvSpPr>
        <p:spPr>
          <a:xfrm>
            <a:off x="6483096" y="3003155"/>
            <a:ext cx="219456" cy="219456"/>
          </a:xfrm>
          <a:prstGeom prst="rect">
            <a:avLst/>
          </a:prstGeom>
          <a:solidFill>
            <a:srgbClr val="6E7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6729983" y="3003155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7" name="Rectangle 166"/>
          <p:cNvSpPr/>
          <p:nvPr/>
        </p:nvSpPr>
        <p:spPr>
          <a:xfrm>
            <a:off x="6976872" y="3003155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8" name="Rectangle 167"/>
          <p:cNvSpPr/>
          <p:nvPr/>
        </p:nvSpPr>
        <p:spPr>
          <a:xfrm>
            <a:off x="7223760" y="3003155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9" name="Rectangle 168"/>
          <p:cNvSpPr/>
          <p:nvPr/>
        </p:nvSpPr>
        <p:spPr>
          <a:xfrm>
            <a:off x="7470648" y="3003155"/>
            <a:ext cx="219456" cy="219456"/>
          </a:xfrm>
          <a:prstGeom prst="rect">
            <a:avLst/>
          </a:prstGeom>
          <a:solidFill>
            <a:srgbClr val="6E7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0" name="Rectangle 169"/>
          <p:cNvSpPr/>
          <p:nvPr/>
        </p:nvSpPr>
        <p:spPr>
          <a:xfrm>
            <a:off x="7717536" y="3003155"/>
            <a:ext cx="219456" cy="219456"/>
          </a:xfrm>
          <a:prstGeom prst="rect">
            <a:avLst/>
          </a:prstGeom>
          <a:solidFill>
            <a:srgbClr val="D94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1" name="Rectangle 170"/>
          <p:cNvSpPr/>
          <p:nvPr/>
        </p:nvSpPr>
        <p:spPr>
          <a:xfrm>
            <a:off x="7964424" y="3003155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2" name="Rectangle 171"/>
          <p:cNvSpPr/>
          <p:nvPr/>
        </p:nvSpPr>
        <p:spPr>
          <a:xfrm>
            <a:off x="8211312" y="3003155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3" name="Rectangle 172"/>
          <p:cNvSpPr/>
          <p:nvPr/>
        </p:nvSpPr>
        <p:spPr>
          <a:xfrm>
            <a:off x="5989320" y="3250043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" name="Rectangle 173"/>
          <p:cNvSpPr/>
          <p:nvPr/>
        </p:nvSpPr>
        <p:spPr>
          <a:xfrm>
            <a:off x="6236208" y="3250043"/>
            <a:ext cx="219456" cy="219456"/>
          </a:xfrm>
          <a:prstGeom prst="rect">
            <a:avLst/>
          </a:prstGeom>
          <a:solidFill>
            <a:srgbClr val="6E7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5" name="Rectangle 174"/>
          <p:cNvSpPr/>
          <p:nvPr/>
        </p:nvSpPr>
        <p:spPr>
          <a:xfrm>
            <a:off x="6483096" y="3250043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6" name="Rectangle 175"/>
          <p:cNvSpPr/>
          <p:nvPr/>
        </p:nvSpPr>
        <p:spPr>
          <a:xfrm>
            <a:off x="6729983" y="3250043"/>
            <a:ext cx="219456" cy="219456"/>
          </a:xfrm>
          <a:prstGeom prst="rect">
            <a:avLst/>
          </a:prstGeom>
          <a:solidFill>
            <a:srgbClr val="D94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7" name="Rectangle 176"/>
          <p:cNvSpPr/>
          <p:nvPr/>
        </p:nvSpPr>
        <p:spPr>
          <a:xfrm>
            <a:off x="6976872" y="3250043"/>
            <a:ext cx="219456" cy="219456"/>
          </a:xfrm>
          <a:prstGeom prst="rect">
            <a:avLst/>
          </a:prstGeom>
          <a:solidFill>
            <a:srgbClr val="6E7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8" name="Rectangle 177"/>
          <p:cNvSpPr/>
          <p:nvPr/>
        </p:nvSpPr>
        <p:spPr>
          <a:xfrm>
            <a:off x="7223760" y="3250043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9" name="Rectangle 178"/>
          <p:cNvSpPr/>
          <p:nvPr/>
        </p:nvSpPr>
        <p:spPr>
          <a:xfrm>
            <a:off x="7470648" y="3250043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0" name="Rectangle 179"/>
          <p:cNvSpPr/>
          <p:nvPr/>
        </p:nvSpPr>
        <p:spPr>
          <a:xfrm>
            <a:off x="7717536" y="3250043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1" name="Rectangle 180"/>
          <p:cNvSpPr/>
          <p:nvPr/>
        </p:nvSpPr>
        <p:spPr>
          <a:xfrm>
            <a:off x="7964424" y="3250043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2" name="Rectangle 181"/>
          <p:cNvSpPr/>
          <p:nvPr/>
        </p:nvSpPr>
        <p:spPr>
          <a:xfrm>
            <a:off x="8211312" y="3250043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3" name="Rectangle 182"/>
          <p:cNvSpPr/>
          <p:nvPr/>
        </p:nvSpPr>
        <p:spPr>
          <a:xfrm>
            <a:off x="5989320" y="3496931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4" name="Rectangle 183"/>
          <p:cNvSpPr/>
          <p:nvPr/>
        </p:nvSpPr>
        <p:spPr>
          <a:xfrm>
            <a:off x="6236208" y="3496931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5" name="Rectangle 184"/>
          <p:cNvSpPr/>
          <p:nvPr/>
        </p:nvSpPr>
        <p:spPr>
          <a:xfrm>
            <a:off x="6483096" y="3496931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6" name="Rectangle 185"/>
          <p:cNvSpPr/>
          <p:nvPr/>
        </p:nvSpPr>
        <p:spPr>
          <a:xfrm>
            <a:off x="6729983" y="3496931"/>
            <a:ext cx="219456" cy="219456"/>
          </a:xfrm>
          <a:prstGeom prst="rect">
            <a:avLst/>
          </a:prstGeom>
          <a:solidFill>
            <a:srgbClr val="6E7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7" name="Rectangle 186"/>
          <p:cNvSpPr/>
          <p:nvPr/>
        </p:nvSpPr>
        <p:spPr>
          <a:xfrm>
            <a:off x="6976872" y="3496931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8" name="Rectangle 187"/>
          <p:cNvSpPr/>
          <p:nvPr/>
        </p:nvSpPr>
        <p:spPr>
          <a:xfrm>
            <a:off x="7223760" y="3496931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9" name="Rectangle 188"/>
          <p:cNvSpPr/>
          <p:nvPr/>
        </p:nvSpPr>
        <p:spPr>
          <a:xfrm>
            <a:off x="7470648" y="3496931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0" name="Rectangle 189"/>
          <p:cNvSpPr/>
          <p:nvPr/>
        </p:nvSpPr>
        <p:spPr>
          <a:xfrm>
            <a:off x="7717536" y="3496931"/>
            <a:ext cx="219456" cy="219456"/>
          </a:xfrm>
          <a:prstGeom prst="rect">
            <a:avLst/>
          </a:prstGeom>
          <a:solidFill>
            <a:srgbClr val="A9B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1" name="Rectangle 190"/>
          <p:cNvSpPr/>
          <p:nvPr/>
        </p:nvSpPr>
        <p:spPr>
          <a:xfrm>
            <a:off x="7964424" y="3496931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2" name="Rectangle 191"/>
          <p:cNvSpPr/>
          <p:nvPr/>
        </p:nvSpPr>
        <p:spPr>
          <a:xfrm>
            <a:off x="8211312" y="3496931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3" name="Rectangle 192"/>
          <p:cNvSpPr/>
          <p:nvPr/>
        </p:nvSpPr>
        <p:spPr>
          <a:xfrm>
            <a:off x="5989320" y="3743819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4" name="Rectangle 193"/>
          <p:cNvSpPr/>
          <p:nvPr/>
        </p:nvSpPr>
        <p:spPr>
          <a:xfrm>
            <a:off x="6236208" y="3743819"/>
            <a:ext cx="219456" cy="219456"/>
          </a:xfrm>
          <a:prstGeom prst="rect">
            <a:avLst/>
          </a:prstGeom>
          <a:solidFill>
            <a:srgbClr val="A9B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5" name="Rectangle 194"/>
          <p:cNvSpPr/>
          <p:nvPr/>
        </p:nvSpPr>
        <p:spPr>
          <a:xfrm>
            <a:off x="6483096" y="3743819"/>
            <a:ext cx="219456" cy="219456"/>
          </a:xfrm>
          <a:prstGeom prst="rect">
            <a:avLst/>
          </a:prstGeom>
          <a:solidFill>
            <a:srgbClr val="6E7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6" name="Rectangle 195"/>
          <p:cNvSpPr/>
          <p:nvPr/>
        </p:nvSpPr>
        <p:spPr>
          <a:xfrm>
            <a:off x="6729983" y="3743819"/>
            <a:ext cx="219456" cy="219456"/>
          </a:xfrm>
          <a:prstGeom prst="rect">
            <a:avLst/>
          </a:prstGeom>
          <a:solidFill>
            <a:srgbClr val="A9B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7" name="Rectangle 196"/>
          <p:cNvSpPr/>
          <p:nvPr/>
        </p:nvSpPr>
        <p:spPr>
          <a:xfrm>
            <a:off x="6976872" y="3743819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8" name="Rectangle 197"/>
          <p:cNvSpPr/>
          <p:nvPr/>
        </p:nvSpPr>
        <p:spPr>
          <a:xfrm>
            <a:off x="7223760" y="3743819"/>
            <a:ext cx="219456" cy="219456"/>
          </a:xfrm>
          <a:prstGeom prst="rect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9" name="Rectangle 198"/>
          <p:cNvSpPr/>
          <p:nvPr/>
        </p:nvSpPr>
        <p:spPr>
          <a:xfrm>
            <a:off x="7470648" y="3743819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0" name="Rectangle 199"/>
          <p:cNvSpPr/>
          <p:nvPr/>
        </p:nvSpPr>
        <p:spPr>
          <a:xfrm>
            <a:off x="7717536" y="3743819"/>
            <a:ext cx="219456" cy="219456"/>
          </a:xfrm>
          <a:prstGeom prst="rect">
            <a:avLst/>
          </a:prstGeom>
          <a:solidFill>
            <a:srgbClr val="A9B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1" name="Rectangle 200"/>
          <p:cNvSpPr/>
          <p:nvPr/>
        </p:nvSpPr>
        <p:spPr>
          <a:xfrm>
            <a:off x="7964424" y="3743819"/>
            <a:ext cx="219456" cy="219456"/>
          </a:xfrm>
          <a:prstGeom prst="rect">
            <a:avLst/>
          </a:prstGeom>
          <a:solidFill>
            <a:srgbClr val="D94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2" name="Rectangle 201"/>
          <p:cNvSpPr/>
          <p:nvPr/>
        </p:nvSpPr>
        <p:spPr>
          <a:xfrm>
            <a:off x="8211312" y="3743819"/>
            <a:ext cx="219456" cy="219456"/>
          </a:xfrm>
          <a:prstGeom prst="rect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3" name="TextBox 202"/>
          <p:cNvSpPr txBox="1"/>
          <p:nvPr/>
        </p:nvSpPr>
        <p:spPr>
          <a:xfrm>
            <a:off x="5989320" y="4036427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공격 스타일 (Attack Style) →</a:t>
            </a:r>
          </a:p>
        </p:txBody>
      </p:sp>
      <p:sp>
        <p:nvSpPr>
          <p:cNvPr id="204" name="TextBox 203"/>
          <p:cNvSpPr txBox="1"/>
          <p:nvPr/>
        </p:nvSpPr>
        <p:spPr>
          <a:xfrm rot="16200000">
            <a:off x="4590288" y="2641967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← 위험 유형 (Risk Category)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5440680" y="4310747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개념도: 10×10 칸마다 가장 강한 프롬프트 1개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1408975" y="306875"/>
            <a:ext cx="7498079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방법: 선택 → 변형 → 평가 → 비교·갱신 루프</a:t>
            </a:r>
            <a:endParaRPr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1499616" y="786384"/>
            <a:ext cx="7187184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 dirty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PAPER 01  |  </a:t>
            </a:r>
            <a:r>
              <a:rPr sz="1000" b="0" i="0" dirty="0" err="1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모든</a:t>
            </a:r>
            <a:r>
              <a:rPr sz="1000" b="0" i="0" dirty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 </a:t>
            </a:r>
            <a:r>
              <a:rPr sz="1000" b="0" i="0" dirty="0" err="1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핵심</a:t>
            </a:r>
            <a:r>
              <a:rPr sz="1000" b="0" i="0" dirty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 </a:t>
            </a:r>
            <a:r>
              <a:rPr sz="1000" b="0" i="0" dirty="0" err="1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단계를</a:t>
            </a:r>
            <a:r>
              <a:rPr sz="1000" b="0" i="0" dirty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 </a:t>
            </a:r>
            <a:r>
              <a:rPr sz="1000" b="0" i="0" dirty="0" err="1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LLM이</a:t>
            </a:r>
            <a:r>
              <a:rPr sz="1000" b="0" i="0" dirty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 </a:t>
            </a:r>
            <a:r>
              <a:rPr sz="1000" b="0" i="0" dirty="0" err="1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수행</a:t>
            </a:r>
            <a:endParaRPr sz="1000" b="0" i="0" dirty="0">
              <a:solidFill>
                <a:srgbClr val="5B6275"/>
              </a:solidFill>
              <a:latin typeface="Nanum Gothic"/>
              <a:ea typeface="Nanum Gothic"/>
              <a:cs typeface="Nanum Gothic"/>
            </a:endParaRPr>
          </a:p>
        </p:txBody>
      </p:sp>
      <p:sp>
        <p:nvSpPr>
          <p:cNvPr id="94" name="Rounded Rectangle 93"/>
          <p:cNvSpPr/>
          <p:nvPr/>
        </p:nvSpPr>
        <p:spPr>
          <a:xfrm>
            <a:off x="1499616" y="1362895"/>
            <a:ext cx="1572768" cy="1874519"/>
          </a:xfrm>
          <a:prstGeom prst="roundRect">
            <a:avLst>
              <a:gd name="adj" fmla="val 6000"/>
            </a:avLst>
          </a:prstGeom>
          <a:solidFill>
            <a:srgbClr val="ED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5" name="Oval 94"/>
          <p:cNvSpPr/>
          <p:nvPr/>
        </p:nvSpPr>
        <p:spPr>
          <a:xfrm>
            <a:off x="1636775" y="1500055"/>
            <a:ext cx="329184" cy="329184"/>
          </a:xfrm>
          <a:prstGeom prst="ellipse">
            <a:avLst/>
          </a:prstGeom>
          <a:solidFill>
            <a:srgbClr val="D94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NanumGothicExtraBold"/>
                <a:ea typeface="NanumGothicExtraBold"/>
                <a:cs typeface="NanumGothicExtraBold"/>
              </a:rP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048255" y="1472623"/>
            <a:ext cx="932688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선택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636775" y="1911535"/>
            <a:ext cx="1298448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1" i="0">
                <a:solidFill>
                  <a:srgbClr val="5B6275"/>
                </a:solidFill>
                <a:latin typeface="NanumGothicExtraBold"/>
                <a:ea typeface="NanumGothicExtraBold"/>
                <a:cs typeface="NanumGothicExtraBold"/>
              </a:rPr>
              <a:t>Selection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636775" y="2185855"/>
            <a:ext cx="1298448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19264B"/>
                </a:solidFill>
                <a:latin typeface="Nanum Gothic"/>
                <a:ea typeface="Nanum Gothic"/>
                <a:cs typeface="Nanum Gothic"/>
              </a:rPr>
              <a:t>아카이브에서 부모 프롬프트와 새 목표 칸 z′를 샘플 (성능 낮은 칸 우선)</a:t>
            </a:r>
          </a:p>
        </p:txBody>
      </p:sp>
      <p:sp>
        <p:nvSpPr>
          <p:cNvPr id="99" name="Chevron 98"/>
          <p:cNvSpPr/>
          <p:nvPr/>
        </p:nvSpPr>
        <p:spPr>
          <a:xfrm>
            <a:off x="3148584" y="2181283"/>
            <a:ext cx="146304" cy="237744"/>
          </a:xfrm>
          <a:prstGeom prst="chevron">
            <a:avLst/>
          </a:prstGeom>
          <a:solidFill>
            <a:srgbClr val="D94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0" name="Rounded Rectangle 99"/>
          <p:cNvSpPr/>
          <p:nvPr/>
        </p:nvSpPr>
        <p:spPr>
          <a:xfrm>
            <a:off x="3371088" y="1362895"/>
            <a:ext cx="1572768" cy="1874519"/>
          </a:xfrm>
          <a:prstGeom prst="roundRect">
            <a:avLst>
              <a:gd name="adj" fmla="val 6000"/>
            </a:avLst>
          </a:prstGeom>
          <a:solidFill>
            <a:srgbClr val="ED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3508248" y="1500055"/>
            <a:ext cx="329184" cy="329184"/>
          </a:xfrm>
          <a:prstGeom prst="ellipse">
            <a:avLst/>
          </a:prstGeom>
          <a:solidFill>
            <a:srgbClr val="D94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NanumGothicExtraBold"/>
                <a:ea typeface="NanumGothicExtraBold"/>
                <a:cs typeface="NanumGothicExtraBold"/>
              </a:rPr>
              <a:t>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919727" y="1472623"/>
            <a:ext cx="932688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변형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508248" y="1911535"/>
            <a:ext cx="1298448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1" i="0">
                <a:solidFill>
                  <a:srgbClr val="5B6275"/>
                </a:solidFill>
                <a:latin typeface="NanumGothicExtraBold"/>
                <a:ea typeface="NanumGothicExtraBold"/>
                <a:cs typeface="NanumGothicExtraBold"/>
              </a:rPr>
              <a:t>Mutation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508248" y="2185855"/>
            <a:ext cx="1298448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19264B"/>
                </a:solidFill>
                <a:latin typeface="Nanum Gothic"/>
                <a:ea typeface="Nanum Gothic"/>
                <a:cs typeface="Nanum Gothic"/>
              </a:rPr>
              <a:t>Mutator LLM이 위험 유형 → 공격 스타일 순으로 변형, BLEU 필터로 유사 프롬프트 제거</a:t>
            </a:r>
          </a:p>
        </p:txBody>
      </p:sp>
      <p:sp>
        <p:nvSpPr>
          <p:cNvPr id="105" name="Chevron 104"/>
          <p:cNvSpPr/>
          <p:nvPr/>
        </p:nvSpPr>
        <p:spPr>
          <a:xfrm>
            <a:off x="5020055" y="2181283"/>
            <a:ext cx="146304" cy="237744"/>
          </a:xfrm>
          <a:prstGeom prst="chevron">
            <a:avLst/>
          </a:prstGeom>
          <a:solidFill>
            <a:srgbClr val="D94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6" name="Rounded Rectangle 105"/>
          <p:cNvSpPr/>
          <p:nvPr/>
        </p:nvSpPr>
        <p:spPr>
          <a:xfrm>
            <a:off x="5242560" y="1362895"/>
            <a:ext cx="1572768" cy="1874519"/>
          </a:xfrm>
          <a:prstGeom prst="roundRect">
            <a:avLst>
              <a:gd name="adj" fmla="val 6000"/>
            </a:avLst>
          </a:prstGeom>
          <a:solidFill>
            <a:srgbClr val="ED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5379720" y="1500055"/>
            <a:ext cx="329184" cy="329184"/>
          </a:xfrm>
          <a:prstGeom prst="ellipse">
            <a:avLst/>
          </a:prstGeom>
          <a:solidFill>
            <a:srgbClr val="D94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NanumGothicExtraBold"/>
                <a:ea typeface="NanumGothicExtraBold"/>
                <a:cs typeface="NanumGothicExtraBold"/>
              </a:rPr>
              <a:t>3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791200" y="1472623"/>
            <a:ext cx="932688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평가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379720" y="1911535"/>
            <a:ext cx="1298448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1" i="0">
                <a:solidFill>
                  <a:srgbClr val="5B6275"/>
                </a:solidFill>
                <a:latin typeface="NanumGothicExtraBold"/>
                <a:ea typeface="NanumGothicExtraBold"/>
                <a:cs typeface="NanumGothicExtraBold"/>
              </a:rPr>
              <a:t>Target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379720" y="2185855"/>
            <a:ext cx="1298448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19264B"/>
                </a:solidFill>
                <a:latin typeface="Nanum Gothic"/>
                <a:ea typeface="Nanum Gothic"/>
                <a:cs typeface="Nanum Gothic"/>
              </a:rPr>
              <a:t>변형된 프롬프트를 Target LLM에 입력해 응답 생성</a:t>
            </a:r>
          </a:p>
        </p:txBody>
      </p:sp>
      <p:sp>
        <p:nvSpPr>
          <p:cNvPr id="111" name="Chevron 110"/>
          <p:cNvSpPr/>
          <p:nvPr/>
        </p:nvSpPr>
        <p:spPr>
          <a:xfrm>
            <a:off x="6891528" y="2181283"/>
            <a:ext cx="146304" cy="237744"/>
          </a:xfrm>
          <a:prstGeom prst="chevron">
            <a:avLst/>
          </a:prstGeom>
          <a:solidFill>
            <a:srgbClr val="D94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2" name="Rounded Rectangle 111"/>
          <p:cNvSpPr/>
          <p:nvPr/>
        </p:nvSpPr>
        <p:spPr>
          <a:xfrm>
            <a:off x="7114032" y="1362895"/>
            <a:ext cx="1572768" cy="1874519"/>
          </a:xfrm>
          <a:prstGeom prst="roundRect">
            <a:avLst>
              <a:gd name="adj" fmla="val 6000"/>
            </a:avLst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7251192" y="1500055"/>
            <a:ext cx="329184" cy="329184"/>
          </a:xfrm>
          <a:prstGeom prst="ellipse">
            <a:avLst/>
          </a:prstGeom>
          <a:solidFill>
            <a:srgbClr val="D94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NanumGothicExtraBold"/>
                <a:ea typeface="NanumGothicExtraBold"/>
                <a:cs typeface="NanumGothicExtraBold"/>
              </a:rPr>
              <a:t>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662672" y="1472623"/>
            <a:ext cx="932688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NanumGothicExtraBold"/>
                <a:ea typeface="NanumGothicExtraBold"/>
                <a:cs typeface="NanumGothicExtraBold"/>
              </a:rPr>
              <a:t>비교·갱신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251192" y="1911535"/>
            <a:ext cx="1298448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1" i="0">
                <a:solidFill>
                  <a:srgbClr val="F2A07B"/>
                </a:solidFill>
                <a:latin typeface="NanumGothicExtraBold"/>
                <a:ea typeface="NanumGothicExtraBold"/>
                <a:cs typeface="NanumGothicExtraBold"/>
              </a:rPr>
              <a:t>Judge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251192" y="2185855"/>
            <a:ext cx="1298448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Judge LLM이 기존 elite와 쌍대 비교, 더 위험한 응답을 이끈 쪽을 저장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7900416" y="3237414"/>
            <a:ext cx="0" cy="201169"/>
          </a:xfrm>
          <a:prstGeom prst="line">
            <a:avLst/>
          </a:prstGeom>
          <a:ln w="15875">
            <a:solidFill>
              <a:srgbClr val="5B62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H="1">
            <a:off x="2286000" y="3438583"/>
            <a:ext cx="5614416" cy="0"/>
          </a:xfrm>
          <a:prstGeom prst="line">
            <a:avLst/>
          </a:prstGeom>
          <a:ln w="15875">
            <a:solidFill>
              <a:srgbClr val="5B62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2286000" y="3255702"/>
            <a:ext cx="0" cy="182881"/>
          </a:xfrm>
          <a:prstGeom prst="line">
            <a:avLst/>
          </a:prstGeom>
          <a:ln w="15875">
            <a:solidFill>
              <a:srgbClr val="5B627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3904488" y="3363690"/>
            <a:ext cx="2377440" cy="2286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t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00" b="0" i="0" dirty="0" err="1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반복</a:t>
            </a:r>
            <a:r>
              <a:rPr sz="900" b="0" i="0" dirty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 (</a:t>
            </a:r>
            <a:r>
              <a:rPr sz="900" b="0" i="0" dirty="0" err="1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약</a:t>
            </a:r>
            <a:r>
              <a:rPr sz="900" b="0" i="0" dirty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 2,000 iterations)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1499616" y="3786055"/>
            <a:ext cx="3433572" cy="896112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C5C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1682495" y="3859207"/>
            <a:ext cx="3067812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1" i="0">
                <a:solidFill>
                  <a:srgbClr val="D94F2B"/>
                </a:solidFill>
                <a:latin typeface="NanumGothicExtraBold"/>
                <a:ea typeface="NanumGothicExtraBold"/>
                <a:cs typeface="NanumGothicExtraBold"/>
              </a:rPr>
              <a:t>Q. </a:t>
            </a:r>
            <a:r>
              <a:rPr sz="1100" b="1" i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왜 점수 대신 쌍대 비교?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점수형 평가자는 최대치에 포화되면 갱신이 멈추고, 평가자를 속이는 reward hacking 위험이 있음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5253228" y="3786055"/>
            <a:ext cx="3433572" cy="896112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C5C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5436108" y="3859207"/>
            <a:ext cx="3067812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1" i="0">
                <a:solidFill>
                  <a:srgbClr val="D94F2B"/>
                </a:solidFill>
                <a:latin typeface="NanumGothicExtraBold"/>
                <a:ea typeface="NanumGothicExtraBold"/>
                <a:cs typeface="NanumGothicExtraBold"/>
              </a:rPr>
              <a:t>Q. </a:t>
            </a:r>
            <a:r>
              <a:rPr sz="1100" b="1" i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왜 목표 칸을 미리 지정?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분류기 오차를 피하고 Mutator의 편향을 줄여, 모든 칸을 고르게 탐색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1408975" y="306875"/>
            <a:ext cx="7498079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결과: 높은 공격 성공률, 그리고 안전성 향상 데이터로의 활용</a:t>
            </a:r>
            <a:endParaRPr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1499616" y="786384"/>
            <a:ext cx="7187184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PAPER 01  |  안전 도메인, 2,000 iterations, GPT-4 평가 기준</a:t>
            </a:r>
          </a:p>
        </p:txBody>
      </p:sp>
      <p:graphicFrame>
        <p:nvGraphicFramePr>
          <p:cNvPr id="94" name="Chart 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0945688"/>
              </p:ext>
            </p:extLst>
          </p:nvPr>
        </p:nvGraphicFramePr>
        <p:xfrm>
          <a:off x="1499616" y="1354186"/>
          <a:ext cx="365760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5" name="TextBox 94"/>
          <p:cNvSpPr txBox="1"/>
          <p:nvPr/>
        </p:nvSpPr>
        <p:spPr>
          <a:xfrm>
            <a:off x="1499616" y="444485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Llama 계열은 안전 정렬 모델임에도 약 92%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5477255" y="1354186"/>
            <a:ext cx="3209544" cy="960120"/>
          </a:xfrm>
          <a:prstGeom prst="roundRect">
            <a:avLst>
              <a:gd name="adj" fmla="val 6000"/>
            </a:avLst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678423" y="1478284"/>
            <a:ext cx="2807208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 i="0" dirty="0">
                <a:solidFill>
                  <a:srgbClr val="F2A07B"/>
                </a:solidFill>
                <a:latin typeface="NanumGothicExtraBold"/>
                <a:ea typeface="NanumGothicExtraBold"/>
                <a:cs typeface="NanumGothicExtraBold"/>
              </a:rPr>
              <a:t>92% → 0.3%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678423" y="1840994"/>
            <a:ext cx="2807208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 dirty="0" err="1">
                <a:solidFill>
                  <a:srgbClr val="C9D1E6"/>
                </a:solidFill>
                <a:latin typeface="Nanum Gothic"/>
                <a:ea typeface="Nanum Gothic"/>
                <a:cs typeface="Nanum Gothic"/>
              </a:rPr>
              <a:t>생성</a:t>
            </a:r>
            <a:r>
              <a:rPr sz="1000" b="0" i="0" dirty="0">
                <a:solidFill>
                  <a:srgbClr val="C9D1E6"/>
                </a:solidFill>
                <a:latin typeface="Nanum Gothic"/>
                <a:ea typeface="Nanum Gothic"/>
                <a:cs typeface="Nanum Gothic"/>
              </a:rPr>
              <a:t> </a:t>
            </a:r>
            <a:r>
              <a:rPr sz="1000" b="0" i="0" dirty="0" err="1">
                <a:solidFill>
                  <a:srgbClr val="C9D1E6"/>
                </a:solidFill>
                <a:latin typeface="Nanum Gothic"/>
                <a:ea typeface="Nanum Gothic"/>
                <a:cs typeface="Nanum Gothic"/>
              </a:rPr>
              <a:t>데이터로</a:t>
            </a:r>
            <a:r>
              <a:rPr sz="1000" b="0" i="0" dirty="0">
                <a:solidFill>
                  <a:srgbClr val="C9D1E6"/>
                </a:solidFill>
                <a:latin typeface="Nanum Gothic"/>
                <a:ea typeface="Nanum Gothic"/>
                <a:cs typeface="Nanum Gothic"/>
              </a:rPr>
              <a:t> SFT </a:t>
            </a:r>
            <a:r>
              <a:rPr sz="1000" b="0" i="0" dirty="0" err="1">
                <a:solidFill>
                  <a:srgbClr val="C9D1E6"/>
                </a:solidFill>
                <a:latin typeface="Nanum Gothic"/>
                <a:ea typeface="Nanum Gothic"/>
                <a:cs typeface="Nanum Gothic"/>
              </a:rPr>
              <a:t>후</a:t>
            </a:r>
            <a:r>
              <a:rPr sz="1000" b="0" i="0" dirty="0">
                <a:solidFill>
                  <a:srgbClr val="C9D1E6"/>
                </a:solidFill>
                <a:latin typeface="Nanum Gothic"/>
                <a:ea typeface="Nanum Gothic"/>
                <a:cs typeface="Nanum Gothic"/>
              </a:rPr>
              <a:t> </a:t>
            </a:r>
            <a:r>
              <a:rPr sz="1000" b="0" i="0" dirty="0" err="1">
                <a:solidFill>
                  <a:srgbClr val="C9D1E6"/>
                </a:solidFill>
                <a:latin typeface="Nanum Gothic"/>
                <a:ea typeface="Nanum Gothic"/>
                <a:cs typeface="Nanum Gothic"/>
              </a:rPr>
              <a:t>새</a:t>
            </a:r>
            <a:r>
              <a:rPr sz="1000" b="0" i="0" dirty="0">
                <a:solidFill>
                  <a:srgbClr val="C9D1E6"/>
                </a:solidFill>
                <a:latin typeface="Nanum Gothic"/>
                <a:ea typeface="Nanum Gothic"/>
                <a:cs typeface="Nanum Gothic"/>
              </a:rPr>
              <a:t> </a:t>
            </a:r>
            <a:r>
              <a:rPr sz="1000" b="0" i="0" dirty="0" err="1">
                <a:solidFill>
                  <a:srgbClr val="C9D1E6"/>
                </a:solidFill>
                <a:latin typeface="Nanum Gothic"/>
                <a:ea typeface="Nanum Gothic"/>
                <a:cs typeface="Nanum Gothic"/>
              </a:rPr>
              <a:t>공격</a:t>
            </a:r>
            <a:r>
              <a:rPr sz="1000" b="0" i="0" dirty="0">
                <a:solidFill>
                  <a:srgbClr val="C9D1E6"/>
                </a:solidFill>
                <a:latin typeface="Nanum Gothic"/>
                <a:ea typeface="Nanum Gothic"/>
                <a:cs typeface="Nanum Gothic"/>
              </a:rPr>
              <a:t> </a:t>
            </a:r>
            <a:r>
              <a:rPr sz="1000" b="0" i="0" dirty="0" err="1">
                <a:solidFill>
                  <a:srgbClr val="C9D1E6"/>
                </a:solidFill>
                <a:latin typeface="Nanum Gothic"/>
                <a:ea typeface="Nanum Gothic"/>
                <a:cs typeface="Nanum Gothic"/>
              </a:rPr>
              <a:t>프롬프트에</a:t>
            </a:r>
            <a:r>
              <a:rPr sz="1000" b="0" i="0" dirty="0">
                <a:solidFill>
                  <a:srgbClr val="C9D1E6"/>
                </a:solidFill>
                <a:latin typeface="Nanum Gothic"/>
                <a:ea typeface="Nanum Gothic"/>
                <a:cs typeface="Nanum Gothic"/>
              </a:rPr>
              <a:t> </a:t>
            </a:r>
            <a:r>
              <a:rPr sz="1000" b="0" i="0" dirty="0" err="1">
                <a:solidFill>
                  <a:srgbClr val="C9D1E6"/>
                </a:solidFill>
                <a:latin typeface="Nanum Gothic"/>
                <a:ea typeface="Nanum Gothic"/>
                <a:cs typeface="Nanum Gothic"/>
              </a:rPr>
              <a:t>대한</a:t>
            </a:r>
            <a:r>
              <a:rPr sz="1000" b="0" i="0" dirty="0">
                <a:solidFill>
                  <a:srgbClr val="C9D1E6"/>
                </a:solidFill>
                <a:latin typeface="Nanum Gothic"/>
                <a:ea typeface="Nanum Gothic"/>
                <a:cs typeface="Nanum Gothic"/>
              </a:rPr>
              <a:t> ASR (Llama 2-chat 7B)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5477255" y="2424034"/>
            <a:ext cx="3209544" cy="960120"/>
          </a:xfrm>
          <a:prstGeom prst="roundRect">
            <a:avLst>
              <a:gd name="adj" fmla="val 6000"/>
            </a:avLst>
          </a:prstGeom>
          <a:solidFill>
            <a:srgbClr val="ED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5678423" y="2602562"/>
            <a:ext cx="2807208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 i="0" dirty="0" err="1">
                <a:solidFill>
                  <a:srgbClr val="D94F2B"/>
                </a:solidFill>
                <a:latin typeface="NanumGothicExtraBold"/>
                <a:ea typeface="NanumGothicExtraBold"/>
                <a:cs typeface="NanumGothicExtraBold"/>
              </a:rPr>
              <a:t>성능</a:t>
            </a:r>
            <a:r>
              <a:rPr sz="2000" b="1" i="0" dirty="0">
                <a:solidFill>
                  <a:srgbClr val="D94F2B"/>
                </a:solidFill>
                <a:latin typeface="NanumGothicExtraBold"/>
                <a:ea typeface="NanumGothicExtraBold"/>
                <a:cs typeface="NanumGothicExtraBold"/>
              </a:rPr>
              <a:t> </a:t>
            </a:r>
            <a:r>
              <a:rPr sz="2000" b="1" i="0" dirty="0" err="1">
                <a:solidFill>
                  <a:srgbClr val="D94F2B"/>
                </a:solidFill>
                <a:latin typeface="NanumGothicExtraBold"/>
                <a:ea typeface="NanumGothicExtraBold"/>
                <a:cs typeface="NanumGothicExtraBold"/>
              </a:rPr>
              <a:t>유지</a:t>
            </a:r>
            <a:endParaRPr sz="2000" b="1" i="0" dirty="0">
              <a:solidFill>
                <a:srgbClr val="D94F2B"/>
              </a:solidFill>
              <a:latin typeface="NanumGothicExtraBold"/>
              <a:ea typeface="NanumGothicExtraBold"/>
              <a:cs typeface="NanumGothicExtraBold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5678423" y="3030588"/>
            <a:ext cx="2807208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GSM8K 0.224 → 0.219,  MMLU 0.412 → 0.405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5477255" y="3493881"/>
            <a:ext cx="3209544" cy="960120"/>
          </a:xfrm>
          <a:prstGeom prst="roundRect">
            <a:avLst>
              <a:gd name="adj" fmla="val 6000"/>
            </a:avLst>
          </a:prstGeom>
          <a:solidFill>
            <a:srgbClr val="ED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5678423" y="3661524"/>
            <a:ext cx="2807208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 i="0" dirty="0" err="1">
                <a:solidFill>
                  <a:srgbClr val="D94F2B"/>
                </a:solidFill>
                <a:latin typeface="NanumGothicExtraBold"/>
                <a:ea typeface="NanumGothicExtraBold"/>
                <a:cs typeface="NanumGothicExtraBold"/>
              </a:rPr>
              <a:t>평균</a:t>
            </a:r>
            <a:r>
              <a:rPr sz="2000" b="1" i="0" dirty="0">
                <a:solidFill>
                  <a:srgbClr val="D94F2B"/>
                </a:solidFill>
                <a:latin typeface="NanumGothicExtraBold"/>
                <a:ea typeface="NanumGothicExtraBold"/>
                <a:cs typeface="NanumGothicExtraBold"/>
              </a:rPr>
              <a:t> 50% </a:t>
            </a:r>
            <a:r>
              <a:rPr sz="2000" b="1" i="0" dirty="0" err="1">
                <a:solidFill>
                  <a:srgbClr val="D94F2B"/>
                </a:solidFill>
                <a:latin typeface="NanumGothicExtraBold"/>
                <a:ea typeface="NanumGothicExtraBold"/>
                <a:cs typeface="NanumGothicExtraBold"/>
              </a:rPr>
              <a:t>전이</a:t>
            </a:r>
            <a:endParaRPr sz="2000" b="1" i="0" dirty="0">
              <a:solidFill>
                <a:srgbClr val="D94F2B"/>
              </a:solidFill>
              <a:latin typeface="NanumGothicExtraBold"/>
              <a:ea typeface="NanumGothicExtraBold"/>
              <a:cs typeface="NanumGothicExtraBold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5678423" y="4067778"/>
            <a:ext cx="3008376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 dirty="0" err="1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다른</a:t>
            </a:r>
            <a:r>
              <a:rPr sz="1000" b="0" i="0" dirty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 </a:t>
            </a:r>
            <a:r>
              <a:rPr sz="1000" b="0" i="0" dirty="0" err="1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모델에도</a:t>
            </a:r>
            <a:r>
              <a:rPr sz="1000" b="0" i="0" dirty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 </a:t>
            </a:r>
            <a:r>
              <a:rPr sz="1000" b="0" i="0" dirty="0" err="1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공격이</a:t>
            </a:r>
            <a:r>
              <a:rPr sz="1000" b="0" i="0" dirty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 </a:t>
            </a:r>
            <a:r>
              <a:rPr sz="1000" b="0" i="0" dirty="0" err="1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전이</a:t>
            </a:r>
            <a:r>
              <a:rPr sz="1000" b="0" i="0" dirty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 (GPT-4o </a:t>
            </a:r>
            <a:r>
              <a:rPr sz="1000" b="0" i="0" dirty="0" err="1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대상</a:t>
            </a:r>
            <a:r>
              <a:rPr sz="1000" b="0" i="0" dirty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 </a:t>
            </a:r>
            <a:r>
              <a:rPr sz="1000" b="0" i="0" dirty="0" err="1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최대</a:t>
            </a:r>
            <a:r>
              <a:rPr sz="1000" b="0" i="0" dirty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 66%)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64B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049750" y="3137425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/>
          <p:nvPr/>
        </p:nvSpPr>
        <p:spPr>
          <a:xfrm>
            <a:off x="8685225" y="1354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7"/>
          <p:cNvSpPr/>
          <p:nvPr/>
        </p:nvSpPr>
        <p:spPr>
          <a:xfrm>
            <a:off x="8685225" y="616375"/>
            <a:ext cx="335700" cy="3357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7"/>
          <p:cNvSpPr/>
          <p:nvPr/>
        </p:nvSpPr>
        <p:spPr>
          <a:xfrm>
            <a:off x="8685225" y="10972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1" name="Google Shape;101;p17"/>
          <p:cNvCxnSpPr/>
          <p:nvPr/>
        </p:nvCxnSpPr>
        <p:spPr>
          <a:xfrm rot="10800000">
            <a:off x="146900" y="0"/>
            <a:ext cx="0" cy="21525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2" name="Google Shape;102;p17"/>
          <p:cNvSpPr txBox="1"/>
          <p:nvPr/>
        </p:nvSpPr>
        <p:spPr>
          <a:xfrm>
            <a:off x="1469575" y="510025"/>
            <a:ext cx="14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7"/>
          <p:cNvSpPr txBox="1"/>
          <p:nvPr/>
        </p:nvSpPr>
        <p:spPr>
          <a:xfrm>
            <a:off x="1600200" y="1743894"/>
            <a:ext cx="6858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800"/>
              </a:spcAft>
              <a:buNone/>
            </a:pPr>
            <a:r>
              <a:rPr sz="1400" b="0" i="0">
                <a:solidFill>
                  <a:srgbClr val="F2A07B"/>
                </a:solidFill>
                <a:latin typeface="NanumGothicExtraBold"/>
                <a:ea typeface="NanumGothicExtraBold"/>
                <a:cs typeface="NanumGothicExtraBold"/>
              </a:rPr>
              <a:t>PAPER 02</a:t>
            </a:r>
            <a:endParaRPr sz="4800">
              <a:solidFill>
                <a:schemeClr val="lt1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  <a:p>
            <a:pPr algn="ctr">
              <a:spcAft>
                <a:spcPts val="800"/>
              </a:spcAft>
            </a:pPr>
            <a:r>
              <a:rPr sz="3200" b="1" i="0">
                <a:solidFill>
                  <a:srgbClr val="FFFFFF"/>
                </a:solidFill>
                <a:latin typeface="NanumGothicExtraBold"/>
                <a:ea typeface="NanumGothicExtraBold"/>
                <a:cs typeface="NanumGothicExtraBold"/>
              </a:rPr>
              <a:t>RLVR &amp; CoT-Pass@K</a:t>
            </a:r>
          </a:p>
          <a:p>
            <a:pPr algn="ctr">
              <a:spcAft>
                <a:spcPts val="800"/>
              </a:spcAft>
            </a:pPr>
            <a:r>
              <a:rPr sz="1200" b="0" i="0">
                <a:solidFill>
                  <a:srgbClr val="C9D1E6"/>
                </a:solidFill>
                <a:latin typeface="Nanum Gothic"/>
                <a:ea typeface="Nanum Gothic"/>
                <a:cs typeface="Nanum Gothic"/>
              </a:rPr>
              <a:t>Reinforcement Learning with Verifiable Rewards Implicitly
Incentivizes Correct Reasoning in Base LLMs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1408975" y="306875"/>
            <a:ext cx="7498079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문제 제기: RLVR은 정말 새로운 추론을 가르칠까?</a:t>
            </a:r>
            <a:endParaRPr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1499616" y="786384"/>
            <a:ext cx="7187184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PAPER 02  |  Wen et al., 2025 · Microsoft Research Asia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499616" y="1408615"/>
            <a:ext cx="2103120" cy="2514600"/>
          </a:xfrm>
          <a:prstGeom prst="roundRect">
            <a:avLst>
              <a:gd name="adj" fmla="val 6000"/>
            </a:avLst>
          </a:prstGeom>
          <a:solidFill>
            <a:srgbClr val="ED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5" name="Oval 94"/>
          <p:cNvSpPr/>
          <p:nvPr/>
        </p:nvSpPr>
        <p:spPr>
          <a:xfrm>
            <a:off x="1682495" y="1609783"/>
            <a:ext cx="384048" cy="384048"/>
          </a:xfrm>
          <a:prstGeom prst="ellipse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NanumGothicExtraBold"/>
                <a:ea typeface="NanumGothicExtraBold"/>
                <a:cs typeface="NanumGothicExtraBold"/>
              </a:rP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682495" y="2140135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관찰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682495" y="2551615"/>
            <a:ext cx="17373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 i="0">
                <a:solidFill>
                  <a:srgbClr val="19264B"/>
                </a:solidFill>
                <a:latin typeface="Nanum Gothic"/>
                <a:ea typeface="Nanum Gothic"/>
                <a:cs typeface="Nanum Gothic"/>
              </a:rPr>
              <a:t>RLVR(정답 기반 보상 강화학습) 후 Pass@1은 크게 상승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1" i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하지만 K를 키우면 Base 모델이 Pass@K를 따라잡거나 역전</a:t>
            </a:r>
          </a:p>
        </p:txBody>
      </p:sp>
      <p:sp>
        <p:nvSpPr>
          <p:cNvPr id="98" name="Chevron 97"/>
          <p:cNvSpPr/>
          <p:nvPr/>
        </p:nvSpPr>
        <p:spPr>
          <a:xfrm>
            <a:off x="3721607" y="2519611"/>
            <a:ext cx="201168" cy="292608"/>
          </a:xfrm>
          <a:prstGeom prst="chevron">
            <a:avLst/>
          </a:prstGeom>
          <a:solidFill>
            <a:srgbClr val="D94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9" name="Rounded Rectangle 98"/>
          <p:cNvSpPr/>
          <p:nvPr/>
        </p:nvSpPr>
        <p:spPr>
          <a:xfrm>
            <a:off x="4041648" y="1408615"/>
            <a:ext cx="2103120" cy="2514600"/>
          </a:xfrm>
          <a:prstGeom prst="roundRect">
            <a:avLst>
              <a:gd name="adj" fmla="val 6000"/>
            </a:avLst>
          </a:prstGeom>
          <a:solidFill>
            <a:srgbClr val="ED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0" name="Oval 99"/>
          <p:cNvSpPr/>
          <p:nvPr/>
        </p:nvSpPr>
        <p:spPr>
          <a:xfrm>
            <a:off x="4224528" y="1609783"/>
            <a:ext cx="384048" cy="384048"/>
          </a:xfrm>
          <a:prstGeom prst="ellipse">
            <a:avLst/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NanumGothicExtraBold"/>
                <a:ea typeface="NanumGothicExtraBold"/>
                <a:cs typeface="NanumGothicExtraBold"/>
              </a:rP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224528" y="2140135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기존 가설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224528" y="2551615"/>
            <a:ext cx="17373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 i="0">
                <a:solidFill>
                  <a:srgbClr val="19264B"/>
                </a:solidFill>
                <a:latin typeface="Nanum Gothic"/>
                <a:ea typeface="Nanum Gothic"/>
                <a:cs typeface="Nanum Gothic"/>
              </a:rPr>
              <a:t>Yue et al. (2025): 정답 경로는 이미 Base 모델에 존재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1" i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RLVR은 경로 확률만 재조정할 뿐, 추론 다양성은 오히려 감소</a:t>
            </a:r>
          </a:p>
        </p:txBody>
      </p:sp>
      <p:sp>
        <p:nvSpPr>
          <p:cNvPr id="103" name="Chevron 102"/>
          <p:cNvSpPr/>
          <p:nvPr/>
        </p:nvSpPr>
        <p:spPr>
          <a:xfrm>
            <a:off x="6263640" y="2519611"/>
            <a:ext cx="201168" cy="292608"/>
          </a:xfrm>
          <a:prstGeom prst="chevron">
            <a:avLst/>
          </a:prstGeom>
          <a:solidFill>
            <a:srgbClr val="D94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4" name="Rounded Rectangle 103"/>
          <p:cNvSpPr/>
          <p:nvPr/>
        </p:nvSpPr>
        <p:spPr>
          <a:xfrm>
            <a:off x="6583679" y="1408615"/>
            <a:ext cx="2103120" cy="2514600"/>
          </a:xfrm>
          <a:prstGeom prst="roundRect">
            <a:avLst>
              <a:gd name="adj" fmla="val 6000"/>
            </a:avLst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6766559" y="1609783"/>
            <a:ext cx="384048" cy="384048"/>
          </a:xfrm>
          <a:prstGeom prst="ellipse">
            <a:avLst/>
          </a:prstGeom>
          <a:solidFill>
            <a:srgbClr val="D94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NanumGothicExtraBold"/>
                <a:ea typeface="NanumGothicExtraBold"/>
                <a:cs typeface="NanumGothicExtraBold"/>
              </a:rPr>
              <a:t>3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766559" y="2140135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NanumGothicExtraBold"/>
                <a:ea typeface="NanumGothicExtraBold"/>
                <a:cs typeface="NanumGothicExtraBold"/>
              </a:rPr>
              <a:t>이 논문의 질문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766559" y="2551615"/>
            <a:ext cx="17373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 i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RLVR은 정말 새로운 추론을 못 배우는가?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1" i="0">
                <a:solidFill>
                  <a:srgbClr val="FFFFFF"/>
                </a:solidFill>
                <a:latin typeface="NanumGothicExtraBold"/>
                <a:ea typeface="NanumGothicExtraBold"/>
                <a:cs typeface="NanumGothicExtraBold"/>
              </a:rPr>
              <a:t>그렇다면 왜 Pass@K는 오르지 않는가?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499616" y="4197535"/>
            <a:ext cx="7187184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D94F2B"/>
                </a:solidFill>
                <a:latin typeface="NanumGothicExtraBold"/>
                <a:ea typeface="NanumGothicExtraBold"/>
                <a:cs typeface="NanumGothicExtraBold"/>
              </a:rPr>
              <a:t>▶ 저자들의 관점:  </a:t>
            </a:r>
            <a:r>
              <a:rPr sz="1400" b="1" i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문제는 RLVR이 아니라 ‘Pass@K’라는 측정 지표일 수 있다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1408975" y="306875"/>
            <a:ext cx="7498079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핵심 아이디어: CoT-Pass@K와 GRPO의 암묵적 인센티브</a:t>
            </a:r>
            <a:endParaRPr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1499616" y="786384"/>
            <a:ext cx="7187184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PAPER 02  |  새로운 평가 지표 + 이론적 근거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508325" y="1362895"/>
            <a:ext cx="3063240" cy="132588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C5C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736925" y="1472623"/>
            <a:ext cx="2606040" cy="1143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기존  Pass@K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19264B"/>
                </a:solidFill>
                <a:latin typeface="Nanum Gothic"/>
                <a:ea typeface="Nanum Gothic"/>
                <a:cs typeface="Nanum Gothic"/>
              </a:rPr>
              <a:t>K개 샘플 중 최종 답이 하나라도 맞으면 성공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 i="0">
                <a:solidFill>
                  <a:srgbClr val="D94F2B"/>
                </a:solidFill>
                <a:latin typeface="NanumGothicExtraBold"/>
                <a:ea typeface="NanumGothicExtraBold"/>
                <a:cs typeface="NanumGothicExtraBold"/>
              </a:rPr>
              <a:t>틀린 풀이 + 우연한 정답도 성공으로 집계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1508325" y="2871655"/>
            <a:ext cx="3063240" cy="1600200"/>
          </a:xfrm>
          <a:prstGeom prst="roundRect">
            <a:avLst>
              <a:gd name="adj" fmla="val 6000"/>
            </a:avLst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1736925" y="2981383"/>
            <a:ext cx="2606040" cy="1417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NanumGothicExtraBold"/>
                <a:ea typeface="NanumGothicExtraBold"/>
                <a:cs typeface="NanumGothicExtraBold"/>
              </a:rPr>
              <a:t>제안  CoT-Pass@K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NanumGothicExtraBold"/>
                <a:ea typeface="NanumGothicExtraBold"/>
                <a:cs typeface="NanumGothicExtraBold"/>
              </a:rPr>
              <a:t>추론 과정(CoT)과 최종 답이 모두 맞아야 성공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C9D1E6"/>
                </a:solidFill>
                <a:latin typeface="Nanum Gothic"/>
                <a:ea typeface="Nanum Gothic"/>
                <a:cs typeface="Nanum Gothic"/>
              </a:rPr>
              <a:t>LLM-as-a-CoT-Judge: DeepSeek-R1-0528-Qwen3-8B가 CoT마다 3회 검증 (any / majority / all)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4891605" y="1362895"/>
            <a:ext cx="3803904" cy="3108960"/>
          </a:xfrm>
          <a:prstGeom prst="roundRect">
            <a:avLst>
              <a:gd name="adj" fmla="val 6000"/>
            </a:avLst>
          </a:prstGeom>
          <a:solidFill>
            <a:srgbClr val="ED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5120205" y="1472623"/>
            <a:ext cx="3346704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D94F2B"/>
                </a:solidFill>
                <a:latin typeface="NanumGothicExtraBold"/>
                <a:ea typeface="NanumGothicExtraBold"/>
                <a:cs typeface="NanumGothicExtraBold"/>
              </a:rPr>
              <a:t>Theorem 1</a:t>
            </a:r>
            <a:r>
              <a:rPr sz="1200" b="1" i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  GRPO의 암묵적 강화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120205" y="1911535"/>
            <a:ext cx="334670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 i="0">
                <a:solidFill>
                  <a:srgbClr val="5B6275"/>
                </a:solidFill>
                <a:latin typeface="NanumGothicExtraBold"/>
                <a:ea typeface="NanumGothicExtraBold"/>
                <a:cs typeface="NanumGothicExtraBold"/>
              </a:rPr>
              <a:t>가정 (Logical Coherence)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5120205" y="2185855"/>
            <a:ext cx="3346704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5120205" y="2185855"/>
            <a:ext cx="3346704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19264B"/>
                </a:solidFill>
                <a:latin typeface="Nanum Gothic"/>
                <a:ea typeface="Nanum Gothic"/>
                <a:cs typeface="Nanum Gothic"/>
              </a:rPr>
              <a:t>α = P(정답|올바른 CoT) </a:t>
            </a:r>
            <a:r>
              <a:rPr sz="1000" b="1" i="0">
                <a:solidFill>
                  <a:srgbClr val="D94F2B"/>
                </a:solidFill>
                <a:latin typeface="NanumGothicExtraBold"/>
                <a:ea typeface="NanumGothicExtraBold"/>
                <a:cs typeface="NanumGothicExtraBold"/>
              </a:rPr>
              <a:t>&gt;</a:t>
            </a:r>
            <a:r>
              <a:rPr sz="1000" b="0" i="0">
                <a:solidFill>
                  <a:srgbClr val="19264B"/>
                </a:solidFill>
                <a:latin typeface="Nanum Gothic"/>
                <a:ea typeface="Nanum Gothic"/>
                <a:cs typeface="Nanum Gothic"/>
              </a:rPr>
              <a:t> β = P(정답|틀린 CoT)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120205" y="2780215"/>
            <a:ext cx="334670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 i="0">
                <a:solidFill>
                  <a:srgbClr val="5B6275"/>
                </a:solidFill>
                <a:latin typeface="NanumGothicExtraBold"/>
                <a:ea typeface="NanumGothicExtraBold"/>
                <a:cs typeface="NanumGothicExtraBold"/>
              </a:rPr>
              <a:t>결과 (그룹 크기 G → ∞)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5120205" y="3054535"/>
            <a:ext cx="3346704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120205" y="3054535"/>
            <a:ext cx="3346704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19264B"/>
                </a:solidFill>
                <a:latin typeface="Nanum Gothic"/>
                <a:ea typeface="Nanum Gothic"/>
                <a:cs typeface="Nanum Gothic"/>
              </a:rPr>
              <a:t>E[Â | 올바른 CoT] → (1−p</a:t>
            </a:r>
            <a:r>
              <a:rPr sz="1100" b="0" i="0" baseline="-25000">
                <a:solidFill>
                  <a:srgbClr val="19264B"/>
                </a:solidFill>
                <a:latin typeface="Nanum Gothic"/>
                <a:ea typeface="Nanum Gothic"/>
                <a:cs typeface="Nanum Gothic"/>
              </a:rPr>
              <a:t>c</a:t>
            </a:r>
            <a:r>
              <a:rPr sz="1100" b="0" i="0">
                <a:solidFill>
                  <a:srgbClr val="19264B"/>
                </a:solidFill>
                <a:latin typeface="Nanum Gothic"/>
                <a:ea typeface="Nanum Gothic"/>
                <a:cs typeface="Nanum Gothic"/>
              </a:rPr>
              <a:t>)(α−β)/σ  </a:t>
            </a:r>
            <a:r>
              <a:rPr sz="1100" b="1" i="0">
                <a:solidFill>
                  <a:srgbClr val="D94F2B"/>
                </a:solidFill>
                <a:latin typeface="NanumGothicExtraBold"/>
                <a:ea typeface="NanumGothicExtraBold"/>
                <a:cs typeface="NanumGothicExtraBold"/>
              </a:rPr>
              <a:t>&gt; 0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19264B"/>
                </a:solidFill>
                <a:latin typeface="Nanum Gothic"/>
                <a:ea typeface="Nanum Gothic"/>
                <a:cs typeface="Nanum Gothic"/>
              </a:rPr>
              <a:t>E[Â | 틀린 CoT] → −p</a:t>
            </a:r>
            <a:r>
              <a:rPr sz="1100" b="0" i="0" baseline="-25000">
                <a:solidFill>
                  <a:srgbClr val="19264B"/>
                </a:solidFill>
                <a:latin typeface="Nanum Gothic"/>
                <a:ea typeface="Nanum Gothic"/>
                <a:cs typeface="Nanum Gothic"/>
              </a:rPr>
              <a:t>c</a:t>
            </a:r>
            <a:r>
              <a:rPr sz="1100" b="0" i="0">
                <a:solidFill>
                  <a:srgbClr val="19264B"/>
                </a:solidFill>
                <a:latin typeface="Nanum Gothic"/>
                <a:ea typeface="Nanum Gothic"/>
                <a:cs typeface="Nanum Gothic"/>
              </a:rPr>
              <a:t>(α−β)/σ  </a:t>
            </a:r>
            <a:r>
              <a:rPr sz="1100" b="1" i="0">
                <a:solidFill>
                  <a:srgbClr val="D94F2B"/>
                </a:solidFill>
                <a:latin typeface="NanumGothicExtraBold"/>
                <a:ea typeface="NanumGothicExtraBold"/>
                <a:cs typeface="NanumGothicExtraBold"/>
              </a:rPr>
              <a:t>&lt; 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120205" y="3895783"/>
            <a:ext cx="3346704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∴ 답만 보상해도 올바른 CoT 확률 p</a:t>
            </a:r>
            <a:r>
              <a:rPr sz="1200" b="1" i="0" baseline="-25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c</a:t>
            </a:r>
            <a:r>
              <a:rPr sz="1200" b="1" i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가 증가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1408975" y="306875"/>
            <a:ext cx="7498079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결과: CoT-Pass@K로 보면 RLVR의 효과가 뚜렷하다</a:t>
            </a:r>
            <a:endParaRPr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1499616" y="786384"/>
            <a:ext cx="7187184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PAPER 02  |  Qwen2.5-32B (Base)  vs  DAPO-Qwen-32B (RLVR)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499616" y="1345478"/>
            <a:ext cx="3246120" cy="1481328"/>
          </a:xfrm>
          <a:prstGeom prst="roundRect">
            <a:avLst>
              <a:gd name="adj" fmla="val 6000"/>
            </a:avLst>
          </a:prstGeom>
          <a:solidFill>
            <a:srgbClr val="ED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728216" y="1482638"/>
            <a:ext cx="2788920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>
                <a:solidFill>
                  <a:srgbClr val="D94F2B"/>
                </a:solidFill>
                <a:latin typeface="NanumGothicExtraBold"/>
                <a:ea typeface="NanumGothicExtraBold"/>
                <a:cs typeface="NanumGothicExtraBold"/>
              </a:rPr>
              <a:t>K = 1,024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728216" y="2095286"/>
            <a:ext cx="2788920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19264B"/>
                </a:solidFill>
                <a:latin typeface="Nanum Gothic"/>
                <a:ea typeface="Nanum Gothic"/>
                <a:cs typeface="Nanum Gothic"/>
              </a:rPr>
              <a:t>AIME 2024·2025에서 K를 1,024까지 늘려도 CoT-Pass@K 격차 유지 — Pass@K에서는 사라지던 차이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1499616" y="2991398"/>
            <a:ext cx="3246120" cy="1481328"/>
          </a:xfrm>
          <a:prstGeom prst="roundRect">
            <a:avLst>
              <a:gd name="adj" fmla="val 6000"/>
            </a:avLst>
          </a:prstGeom>
          <a:solidFill>
            <a:srgbClr val="ED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1728216" y="3128558"/>
            <a:ext cx="2788920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>
                <a:solidFill>
                  <a:srgbClr val="D94F2B"/>
                </a:solidFill>
                <a:latin typeface="NanumGothicExtraBold"/>
                <a:ea typeface="NanumGothicExtraBold"/>
                <a:cs typeface="NanumGothicExtraBold"/>
              </a:rPr>
              <a:t>~20 step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728216" y="3741206"/>
            <a:ext cx="2788920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19264B"/>
                </a:solidFill>
                <a:latin typeface="Nanum Gothic"/>
                <a:ea typeface="Nanum Gothic"/>
                <a:cs typeface="Nanum Gothic"/>
              </a:rPr>
              <a:t>학습 초반부터 올바른 추론 비율 P(CC|CA)가 상승하고, 처음 보는 문제로 일반화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065775" y="1345478"/>
            <a:ext cx="362102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벤치마크별 관찰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5065775" y="1692950"/>
            <a:ext cx="3621024" cy="713232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C5C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5230367" y="1958126"/>
            <a:ext cx="182880" cy="182880"/>
          </a:xfrm>
          <a:prstGeom prst="ellipse">
            <a:avLst/>
          </a:prstGeom>
          <a:solidFill>
            <a:srgbClr val="D94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5541263" y="1784390"/>
            <a:ext cx="2980944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AIME 2024 / 2025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격차 뚜렷, 특히 데이터 오염이 없는 AIME 2025에서 명확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5065775" y="2515910"/>
            <a:ext cx="3621024" cy="713232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C5C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5230367" y="2781086"/>
            <a:ext cx="182880" cy="182880"/>
          </a:xfrm>
          <a:prstGeom prst="ellipse">
            <a:avLst/>
          </a:prstGeom>
          <a:solidFill>
            <a:srgbClr val="C5C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5541263" y="2607350"/>
            <a:ext cx="2980944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Math-500 / AMC23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차이 작음 — 문제가 쉽거나 사전학습 데이터에 포함됐을 가능성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5065775" y="3338870"/>
            <a:ext cx="3621024" cy="713232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C5C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5230367" y="3604046"/>
            <a:ext cx="182880" cy="182880"/>
          </a:xfrm>
          <a:prstGeom prst="ellipse">
            <a:avLst/>
          </a:prstGeom>
          <a:solidFill>
            <a:srgbClr val="C5C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5541263" y="3430310"/>
            <a:ext cx="2980944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Minerva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5B6275"/>
                </a:solidFill>
                <a:latin typeface="Nanum Gothic"/>
                <a:ea typeface="Nanum Gothic"/>
                <a:cs typeface="Nanum Gothic"/>
              </a:rPr>
              <a:t>개선 없음 — 물리·서술형 답 위주로 학습 데이터(수학)와 도메인 불일치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5065775" y="4180118"/>
            <a:ext cx="3621024" cy="475488"/>
          </a:xfrm>
          <a:prstGeom prst="roundRect">
            <a:avLst>
              <a:gd name="adj" fmla="val 6000"/>
            </a:avLst>
          </a:prstGeom>
          <a:solidFill>
            <a:srgbClr val="192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5248655" y="4180118"/>
            <a:ext cx="3255264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 i="0">
                <a:solidFill>
                  <a:srgbClr val="F2A07B"/>
                </a:solidFill>
                <a:latin typeface="NanumGothicExtraBold"/>
                <a:ea typeface="NanumGothicExtraBold"/>
                <a:cs typeface="NanumGothicExtraBold"/>
              </a:rPr>
              <a:t>한계  </a:t>
            </a:r>
            <a:r>
              <a:rPr sz="1000" b="0" i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CoT 판정을 LLM에 의존 · 수학 도메인과 소수 모델에 한정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64B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049750" y="3137425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/>
          <p:nvPr/>
        </p:nvSpPr>
        <p:spPr>
          <a:xfrm>
            <a:off x="8685225" y="1354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7"/>
          <p:cNvSpPr/>
          <p:nvPr/>
        </p:nvSpPr>
        <p:spPr>
          <a:xfrm>
            <a:off x="8685225" y="6163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7"/>
          <p:cNvSpPr/>
          <p:nvPr/>
        </p:nvSpPr>
        <p:spPr>
          <a:xfrm>
            <a:off x="8685225" y="1097275"/>
            <a:ext cx="335700" cy="3357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1" name="Google Shape;101;p17"/>
          <p:cNvCxnSpPr/>
          <p:nvPr/>
        </p:nvCxnSpPr>
        <p:spPr>
          <a:xfrm rot="10800000">
            <a:off x="146900" y="0"/>
            <a:ext cx="0" cy="21525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2" name="Google Shape;102;p17"/>
          <p:cNvSpPr txBox="1"/>
          <p:nvPr/>
        </p:nvSpPr>
        <p:spPr>
          <a:xfrm>
            <a:off x="1469575" y="510025"/>
            <a:ext cx="14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7"/>
          <p:cNvSpPr txBox="1"/>
          <p:nvPr/>
        </p:nvSpPr>
        <p:spPr>
          <a:xfrm>
            <a:off x="1600200" y="1987732"/>
            <a:ext cx="6858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800"/>
              </a:spcAft>
              <a:buNone/>
            </a:pPr>
            <a:r>
              <a:rPr sz="1400" b="0" i="0" dirty="0">
                <a:solidFill>
                  <a:srgbClr val="F2A07B"/>
                </a:solidFill>
                <a:latin typeface="NanumGothicExtraBold"/>
                <a:ea typeface="NanumGothicExtraBold"/>
                <a:cs typeface="NanumGothicExtraBold"/>
              </a:rPr>
              <a:t>THANK YOU</a:t>
            </a:r>
            <a:endParaRPr sz="4800" dirty="0">
              <a:solidFill>
                <a:schemeClr val="lt1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  <a:p>
            <a:pPr algn="ctr">
              <a:spcAft>
                <a:spcPts val="800"/>
              </a:spcAft>
            </a:pPr>
            <a:r>
              <a:rPr sz="3200" b="1" i="0" dirty="0" err="1">
                <a:solidFill>
                  <a:srgbClr val="FFFFFF"/>
                </a:solidFill>
                <a:latin typeface="NanumGothicExtraBold"/>
                <a:ea typeface="NanumGothicExtraBold"/>
                <a:cs typeface="NanumGothicExtraBold"/>
              </a:rPr>
              <a:t>감사합니다</a:t>
            </a:r>
            <a:endParaRPr sz="3200" b="1" i="0" dirty="0">
              <a:solidFill>
                <a:srgbClr val="FFFFFF"/>
              </a:solidFill>
              <a:latin typeface="NanumGothicExtraBold"/>
              <a:ea typeface="NanumGothicExtraBold"/>
              <a:cs typeface="NanumGothicExtraBold"/>
            </a:endParaRPr>
          </a:p>
          <a:p>
            <a:pPr algn="ctr">
              <a:spcAft>
                <a:spcPts val="800"/>
              </a:spcAft>
            </a:pPr>
            <a:r>
              <a:rPr sz="1200" b="0" i="0" dirty="0">
                <a:solidFill>
                  <a:srgbClr val="C9D1E6"/>
                </a:solidFill>
                <a:latin typeface="Nanum Gothic"/>
                <a:ea typeface="Nanum Gothic"/>
                <a:cs typeface="Nanum Gothic"/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</TotalTime>
  <Words>856</Words>
  <Application>Microsoft Office PowerPoint</Application>
  <PresentationFormat>화면 슬라이드 쇼(16:9)</PresentationFormat>
  <Paragraphs>126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9" baseType="lpstr">
      <vt:lpstr>Nanum Gothic</vt:lpstr>
      <vt:lpstr>NanumGothic ExtraBold</vt:lpstr>
      <vt:lpstr>Arial</vt:lpstr>
      <vt:lpstr>NanumGothicExtraBold</vt:lpstr>
      <vt:lpstr>Microsoft GothicNeo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엄지용</cp:lastModifiedBy>
  <cp:revision>11</cp:revision>
  <dcterms:modified xsi:type="dcterms:W3CDTF">2026-09-29T08:36:29Z</dcterms:modified>
</cp:coreProperties>
</file>